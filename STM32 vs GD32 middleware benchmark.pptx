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2" r:id="rId2"/>
    <p:sldId id="302" r:id="rId3"/>
    <p:sldId id="289" r:id="rId4"/>
    <p:sldId id="306" r:id="rId5"/>
    <p:sldId id="307" r:id="rId6"/>
    <p:sldId id="308" r:id="rId7"/>
    <p:sldId id="305" r:id="rId8"/>
    <p:sldId id="304" r:id="rId9"/>
    <p:sldId id="293" r:id="rId10"/>
    <p:sldId id="294" r:id="rId11"/>
    <p:sldId id="291" r:id="rId12"/>
    <p:sldId id="295" r:id="rId13"/>
    <p:sldId id="297" r:id="rId14"/>
    <p:sldId id="296" r:id="rId15"/>
    <p:sldId id="298" r:id="rId16"/>
    <p:sldId id="309" r:id="rId17"/>
    <p:sldId id="310" r:id="rId18"/>
    <p:sldId id="299" r:id="rId19"/>
    <p:sldId id="301" r:id="rId20"/>
    <p:sldId id="300" r:id="rId21"/>
    <p:sldId id="292" r:id="rId22"/>
    <p:sldId id="2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302"/>
            <p14:sldId id="289"/>
            <p14:sldId id="306"/>
            <p14:sldId id="307"/>
            <p14:sldId id="308"/>
            <p14:sldId id="305"/>
          </p14:sldIdLst>
        </p14:section>
        <p14:section name="USB Stack" id="{222AD272-10F9-402A-B9DB-79589AF0D00C}">
          <p14:sldIdLst>
            <p14:sldId id="304"/>
            <p14:sldId id="293"/>
            <p14:sldId id="294"/>
          </p14:sldIdLst>
        </p14:section>
        <p14:section name="FreeRtos" id="{B960D756-B5A1-424A-9054-9CFA0C3AB64C}">
          <p14:sldIdLst>
            <p14:sldId id="291"/>
            <p14:sldId id="295"/>
          </p14:sldIdLst>
        </p14:section>
        <p14:section name="R &amp; D Tools" id="{94AE217D-DBBE-4975-93A1-0927C4E71B36}">
          <p14:sldIdLst>
            <p14:sldId id="297"/>
            <p14:sldId id="296"/>
            <p14:sldId id="298"/>
            <p14:sldId id="309"/>
            <p14:sldId id="310"/>
            <p14:sldId id="299"/>
            <p14:sldId id="301"/>
            <p14:sldId id="300"/>
            <p14:sldId id="292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59"/>
    <a:srgbClr val="2F8A8E"/>
    <a:srgbClr val="3AA80B"/>
    <a:srgbClr val="425A78"/>
    <a:srgbClr val="3CB4E6"/>
    <a:srgbClr val="E6007E"/>
    <a:srgbClr val="8C0078"/>
    <a:srgbClr val="04572F"/>
    <a:srgbClr val="EEEFF1"/>
    <a:srgbClr val="A6A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B37814-8D37-405E-8A7F-16A8139600FB}" v="48" dt="2026-05-22T15:16:15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FBCB-310F-4FF9-B6B3-0F52A2C594DA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4948-9E37-4D3F-916A-27F982D7AFC5}" type="datetime1">
              <a:rPr lang="en-US" smtClean="0"/>
              <a:t>6/7/2026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B2E4-93D4-432B-87D7-4422D29A0992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2F4D-BD4B-4701-95DF-0B35252241F0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B843EEA-4E1F-4EAA-A726-6FC25A6B9765}" type="datetime1">
              <a:rPr lang="en-US" smtClean="0"/>
              <a:t>6/7/2026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6CE14B71-08D0-4176-93EB-6C5C9503BFCC}" type="datetime1">
              <a:rPr lang="en-US" smtClean="0"/>
              <a:t>6/7/2026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18" Type="http://schemas.openxmlformats.org/officeDocument/2006/relationships/image" Target="../media/image42.png"/><Relationship Id="rId3" Type="http://schemas.openxmlformats.org/officeDocument/2006/relationships/image" Target="../media/image27.svg"/><Relationship Id="rId21" Type="http://schemas.openxmlformats.org/officeDocument/2006/relationships/image" Target="../media/image45.sv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17" Type="http://schemas.openxmlformats.org/officeDocument/2006/relationships/image" Target="../media/image41.svg"/><Relationship Id="rId25" Type="http://schemas.openxmlformats.org/officeDocument/2006/relationships/image" Target="../media/image18.sv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24" Type="http://schemas.openxmlformats.org/officeDocument/2006/relationships/image" Target="../media/image48.png"/><Relationship Id="rId5" Type="http://schemas.openxmlformats.org/officeDocument/2006/relationships/image" Target="../media/image29.svg"/><Relationship Id="rId15" Type="http://schemas.openxmlformats.org/officeDocument/2006/relationships/image" Target="../media/image39.svg"/><Relationship Id="rId23" Type="http://schemas.openxmlformats.org/officeDocument/2006/relationships/image" Target="../media/image47.svg"/><Relationship Id="rId10" Type="http://schemas.openxmlformats.org/officeDocument/2006/relationships/image" Target="../media/image34.png"/><Relationship Id="rId19" Type="http://schemas.openxmlformats.org/officeDocument/2006/relationships/image" Target="../media/image43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://www.st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E5AF9C-37A1-448D-9165-8F48D35B9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34" y="114694"/>
            <a:ext cx="5795963" cy="2702071"/>
          </a:xfrm>
        </p:spPr>
        <p:txBody>
          <a:bodyPr/>
          <a:lstStyle/>
          <a:p>
            <a:r>
              <a:rPr lang="en-US" dirty="0"/>
              <a:t>STM32 vs GD32 middleware benchmark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ubtitle 15">
                <a:extLst>
                  <a:ext uri="{FF2B5EF4-FFF2-40B4-BE49-F238E27FC236}">
                    <a16:creationId xmlns:a16="http://schemas.microsoft.com/office/drawing/2014/main" id="{12613E07-DCF2-4461-AFF5-7A705127F66B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76517" y="5113672"/>
                <a:ext cx="5795963" cy="1077764"/>
              </a:xfrm>
            </p:spPr>
            <p:txBody>
              <a:bodyPr/>
              <a:lstStyle/>
              <a:p>
                <a:r>
                  <a:rPr lang="en-US" b="1" dirty="0"/>
                  <a:t>Comparative evaluation of middleware efficiency on Cortex-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lang="en-US" b="1" dirty="0"/>
                  <a:t> platforms</a:t>
                </a:r>
              </a:p>
              <a:p>
                <a:br>
                  <a:rPr lang="en-US" b="1" dirty="0"/>
                </a:br>
                <a:r>
                  <a:rPr lang="en-US" dirty="0"/>
                  <a:t>DKHILI Fares</a:t>
                </a:r>
              </a:p>
            </p:txBody>
          </p:sp>
        </mc:Choice>
        <mc:Fallback xmlns="">
          <p:sp>
            <p:nvSpPr>
              <p:cNvPr id="16" name="Subtitle 15">
                <a:extLst>
                  <a:ext uri="{FF2B5EF4-FFF2-40B4-BE49-F238E27FC236}">
                    <a16:creationId xmlns:a16="http://schemas.microsoft.com/office/drawing/2014/main" id="{12613E07-DCF2-4461-AFF5-7A705127F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76517" y="5113672"/>
                <a:ext cx="5795963" cy="1077764"/>
              </a:xfrm>
              <a:blipFill>
                <a:blip r:embed="rId4"/>
                <a:stretch>
                  <a:fillRect l="-946" t="-3390" b="-310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0E176-FE55-0C64-3DAE-3CC932F9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117F54-FF2A-71EE-A06A-53830A5D0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2F8A8E"/>
                </a:solidFill>
              </a:rPr>
              <a:t>Presentation plan</a:t>
            </a:r>
          </a:p>
        </p:txBody>
      </p:sp>
      <p:sp>
        <p:nvSpPr>
          <p:cNvPr id="169" name="Freeform 2">
            <a:extLst>
              <a:ext uri="{FF2B5EF4-FFF2-40B4-BE49-F238E27FC236}">
                <a16:creationId xmlns:a16="http://schemas.microsoft.com/office/drawing/2014/main" id="{2FA90F83-5D02-0E65-CBAE-BB46915B2E2B}"/>
              </a:ext>
            </a:extLst>
          </p:cNvPr>
          <p:cNvSpPr/>
          <p:nvPr/>
        </p:nvSpPr>
        <p:spPr>
          <a:xfrm>
            <a:off x="964505" y="1716608"/>
            <a:ext cx="1926196" cy="779043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0" name="Freeform 3">
            <a:extLst>
              <a:ext uri="{FF2B5EF4-FFF2-40B4-BE49-F238E27FC236}">
                <a16:creationId xmlns:a16="http://schemas.microsoft.com/office/drawing/2014/main" id="{AB3E6C63-0041-E6A9-4D2C-D78D1E791E6A}"/>
              </a:ext>
            </a:extLst>
          </p:cNvPr>
          <p:cNvSpPr/>
          <p:nvPr/>
        </p:nvSpPr>
        <p:spPr>
          <a:xfrm>
            <a:off x="3020613" y="1716608"/>
            <a:ext cx="1926196" cy="779043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700" y="0"/>
                </a:lnTo>
                <a:lnTo>
                  <a:pt x="2470700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1" name="Freeform 4">
            <a:extLst>
              <a:ext uri="{FF2B5EF4-FFF2-40B4-BE49-F238E27FC236}">
                <a16:creationId xmlns:a16="http://schemas.microsoft.com/office/drawing/2014/main" id="{682CFD51-9EA8-3A46-C08C-BE5CD1934FBC}"/>
              </a:ext>
            </a:extLst>
          </p:cNvPr>
          <p:cNvSpPr/>
          <p:nvPr/>
        </p:nvSpPr>
        <p:spPr>
          <a:xfrm>
            <a:off x="5132902" y="1682581"/>
            <a:ext cx="1926196" cy="779043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700" y="0"/>
                </a:lnTo>
                <a:lnTo>
                  <a:pt x="2470700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2" name="Freeform 5">
            <a:extLst>
              <a:ext uri="{FF2B5EF4-FFF2-40B4-BE49-F238E27FC236}">
                <a16:creationId xmlns:a16="http://schemas.microsoft.com/office/drawing/2014/main" id="{CCE5312A-D597-91DA-CF5E-07610133E99B}"/>
              </a:ext>
            </a:extLst>
          </p:cNvPr>
          <p:cNvSpPr/>
          <p:nvPr/>
        </p:nvSpPr>
        <p:spPr>
          <a:xfrm>
            <a:off x="7130305" y="1682581"/>
            <a:ext cx="2111036" cy="779043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5" name="Group 28">
            <a:extLst>
              <a:ext uri="{FF2B5EF4-FFF2-40B4-BE49-F238E27FC236}">
                <a16:creationId xmlns:a16="http://schemas.microsoft.com/office/drawing/2014/main" id="{49E4768A-1736-B2FC-5463-5357DAE19055}"/>
              </a:ext>
            </a:extLst>
          </p:cNvPr>
          <p:cNvGrpSpPr/>
          <p:nvPr/>
        </p:nvGrpSpPr>
        <p:grpSpPr>
          <a:xfrm>
            <a:off x="5315651" y="5739806"/>
            <a:ext cx="1859347" cy="161057"/>
            <a:chOff x="0" y="0"/>
            <a:chExt cx="594212" cy="41334"/>
          </a:xfrm>
        </p:grpSpPr>
        <p:sp>
          <p:nvSpPr>
            <p:cNvPr id="196" name="Freeform 29">
              <a:extLst>
                <a:ext uri="{FF2B5EF4-FFF2-40B4-BE49-F238E27FC236}">
                  <a16:creationId xmlns:a16="http://schemas.microsoft.com/office/drawing/2014/main" id="{E5DF57DF-8152-5B10-5630-FE12C7A022AA}"/>
                </a:ext>
              </a:extLst>
            </p:cNvPr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7B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TextBox 30">
              <a:extLst>
                <a:ext uri="{FF2B5EF4-FFF2-40B4-BE49-F238E27FC236}">
                  <a16:creationId xmlns:a16="http://schemas.microsoft.com/office/drawing/2014/main" id="{FE8EDDCA-7A5B-968C-DB49-3124D812A529}"/>
                </a:ext>
              </a:extLst>
            </p:cNvPr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8" name="Group 31">
            <a:extLst>
              <a:ext uri="{FF2B5EF4-FFF2-40B4-BE49-F238E27FC236}">
                <a16:creationId xmlns:a16="http://schemas.microsoft.com/office/drawing/2014/main" id="{F857C9ED-7553-97E5-B1D0-7788E2A2D33B}"/>
              </a:ext>
            </a:extLst>
          </p:cNvPr>
          <p:cNvGrpSpPr/>
          <p:nvPr/>
        </p:nvGrpSpPr>
        <p:grpSpPr>
          <a:xfrm>
            <a:off x="7449263" y="5746140"/>
            <a:ext cx="1885854" cy="161057"/>
            <a:chOff x="0" y="0"/>
            <a:chExt cx="594212" cy="41334"/>
          </a:xfrm>
        </p:grpSpPr>
        <p:sp>
          <p:nvSpPr>
            <p:cNvPr id="199" name="Freeform 32">
              <a:extLst>
                <a:ext uri="{FF2B5EF4-FFF2-40B4-BE49-F238E27FC236}">
                  <a16:creationId xmlns:a16="http://schemas.microsoft.com/office/drawing/2014/main" id="{1EAAFCA4-5912-98D3-A457-F72B73C1C6DE}"/>
                </a:ext>
              </a:extLst>
            </p:cNvPr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42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TextBox 33">
              <a:extLst>
                <a:ext uri="{FF2B5EF4-FFF2-40B4-BE49-F238E27FC236}">
                  <a16:creationId xmlns:a16="http://schemas.microsoft.com/office/drawing/2014/main" id="{731E3C77-F9C9-9A3A-91B4-24E52E8BC4B3}"/>
                </a:ext>
              </a:extLst>
            </p:cNvPr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4" name="Freeform 37">
            <a:extLst>
              <a:ext uri="{FF2B5EF4-FFF2-40B4-BE49-F238E27FC236}">
                <a16:creationId xmlns:a16="http://schemas.microsoft.com/office/drawing/2014/main" id="{C21155CD-4693-CF38-16D7-B924D7FDC807}"/>
              </a:ext>
            </a:extLst>
          </p:cNvPr>
          <p:cNvSpPr/>
          <p:nvPr/>
        </p:nvSpPr>
        <p:spPr>
          <a:xfrm>
            <a:off x="1721607" y="2984021"/>
            <a:ext cx="613528" cy="590102"/>
          </a:xfrm>
          <a:custGeom>
            <a:avLst/>
            <a:gdLst/>
            <a:ahLst/>
            <a:cxnLst/>
            <a:rect l="l" t="t" r="r" b="b"/>
            <a:pathLst>
              <a:path w="613528" h="590102">
                <a:moveTo>
                  <a:pt x="0" y="0"/>
                </a:moveTo>
                <a:lnTo>
                  <a:pt x="613527" y="0"/>
                </a:lnTo>
                <a:lnTo>
                  <a:pt x="613527" y="590102"/>
                </a:lnTo>
                <a:lnTo>
                  <a:pt x="0" y="5901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8" name="TextBox 43">
            <a:extLst>
              <a:ext uri="{FF2B5EF4-FFF2-40B4-BE49-F238E27FC236}">
                <a16:creationId xmlns:a16="http://schemas.microsoft.com/office/drawing/2014/main" id="{19DB311F-DAB1-E6B8-45AE-3E7A268BEC3E}"/>
              </a:ext>
            </a:extLst>
          </p:cNvPr>
          <p:cNvSpPr txBox="1"/>
          <p:nvPr/>
        </p:nvSpPr>
        <p:spPr>
          <a:xfrm>
            <a:off x="1075956" y="3937549"/>
            <a:ext cx="1904828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Defined the benchmark scope, KPIs, and comparison methodology.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10" name="TextBox 45">
            <a:extLst>
              <a:ext uri="{FF2B5EF4-FFF2-40B4-BE49-F238E27FC236}">
                <a16:creationId xmlns:a16="http://schemas.microsoft.com/office/drawing/2014/main" id="{EBE6E140-C2B9-CE55-8F1A-035D421F4E2D}"/>
              </a:ext>
            </a:extLst>
          </p:cNvPr>
          <p:cNvSpPr txBox="1"/>
          <p:nvPr/>
        </p:nvSpPr>
        <p:spPr>
          <a:xfrm>
            <a:off x="793021" y="1949890"/>
            <a:ext cx="2106962" cy="258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Introduction</a:t>
            </a:r>
          </a:p>
        </p:txBody>
      </p:sp>
      <p:sp>
        <p:nvSpPr>
          <p:cNvPr id="211" name="TextBox 46">
            <a:extLst>
              <a:ext uri="{FF2B5EF4-FFF2-40B4-BE49-F238E27FC236}">
                <a16:creationId xmlns:a16="http://schemas.microsoft.com/office/drawing/2014/main" id="{9F3D5F5F-8217-D884-FE3A-C70C4970CB75}"/>
              </a:ext>
            </a:extLst>
          </p:cNvPr>
          <p:cNvSpPr txBox="1"/>
          <p:nvPr/>
        </p:nvSpPr>
        <p:spPr>
          <a:xfrm>
            <a:off x="3046306" y="1956981"/>
            <a:ext cx="1642621" cy="258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USB Stack</a:t>
            </a:r>
          </a:p>
        </p:txBody>
      </p:sp>
      <p:sp>
        <p:nvSpPr>
          <p:cNvPr id="212" name="TextBox 47">
            <a:extLst>
              <a:ext uri="{FF2B5EF4-FFF2-40B4-BE49-F238E27FC236}">
                <a16:creationId xmlns:a16="http://schemas.microsoft.com/office/drawing/2014/main" id="{EAFDC473-7DB3-723E-3AB2-64FD45154725}"/>
              </a:ext>
            </a:extLst>
          </p:cNvPr>
          <p:cNvSpPr txBox="1"/>
          <p:nvPr/>
        </p:nvSpPr>
        <p:spPr>
          <a:xfrm>
            <a:off x="5273819" y="1914728"/>
            <a:ext cx="1642621" cy="258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FreeRTOS</a:t>
            </a:r>
          </a:p>
        </p:txBody>
      </p:sp>
      <p:sp>
        <p:nvSpPr>
          <p:cNvPr id="213" name="TextBox 48">
            <a:extLst>
              <a:ext uri="{FF2B5EF4-FFF2-40B4-BE49-F238E27FC236}">
                <a16:creationId xmlns:a16="http://schemas.microsoft.com/office/drawing/2014/main" id="{722B0AD9-BEC9-5E11-4EC4-2E06AC18726B}"/>
              </a:ext>
            </a:extLst>
          </p:cNvPr>
          <p:cNvSpPr txBox="1"/>
          <p:nvPr/>
        </p:nvSpPr>
        <p:spPr>
          <a:xfrm>
            <a:off x="7196830" y="1949299"/>
            <a:ext cx="1800250" cy="265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FatFs</a:t>
            </a:r>
          </a:p>
        </p:txBody>
      </p:sp>
      <p:sp>
        <p:nvSpPr>
          <p:cNvPr id="218" name="TextBox 53">
            <a:extLst>
              <a:ext uri="{FF2B5EF4-FFF2-40B4-BE49-F238E27FC236}">
                <a16:creationId xmlns:a16="http://schemas.microsoft.com/office/drawing/2014/main" id="{D486CFA7-B0EE-A2B4-DEE6-545CB91D5869}"/>
              </a:ext>
            </a:extLst>
          </p:cNvPr>
          <p:cNvSpPr txBox="1"/>
          <p:nvPr/>
        </p:nvSpPr>
        <p:spPr>
          <a:xfrm>
            <a:off x="1461083" y="5224102"/>
            <a:ext cx="1134575" cy="51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rgbClr val="56E11B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id="225" name="TextBox 43">
            <a:extLst>
              <a:ext uri="{FF2B5EF4-FFF2-40B4-BE49-F238E27FC236}">
                <a16:creationId xmlns:a16="http://schemas.microsoft.com/office/drawing/2014/main" id="{2D1C7351-B70C-5EF7-F1DC-BE4DBCB52133}"/>
              </a:ext>
            </a:extLst>
          </p:cNvPr>
          <p:cNvSpPr txBox="1"/>
          <p:nvPr/>
        </p:nvSpPr>
        <p:spPr>
          <a:xfrm>
            <a:off x="3172902" y="3937550"/>
            <a:ext cx="1904828" cy="11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Benchmarked HID, CDC across footprint, timing, and transfer metrics.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26" name="TextBox 53">
            <a:extLst>
              <a:ext uri="{FF2B5EF4-FFF2-40B4-BE49-F238E27FC236}">
                <a16:creationId xmlns:a16="http://schemas.microsoft.com/office/drawing/2014/main" id="{DF4206C1-2395-E89C-E237-1A540B253A84}"/>
              </a:ext>
            </a:extLst>
          </p:cNvPr>
          <p:cNvSpPr txBox="1"/>
          <p:nvPr/>
        </p:nvSpPr>
        <p:spPr>
          <a:xfrm>
            <a:off x="3558029" y="5224103"/>
            <a:ext cx="1134575" cy="51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rgbClr val="3BA80D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  <a:endParaRPr lang="en-US" sz="3045" b="1" dirty="0">
              <a:solidFill>
                <a:srgbClr val="56E11B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228" name="TextBox 43">
            <a:extLst>
              <a:ext uri="{FF2B5EF4-FFF2-40B4-BE49-F238E27FC236}">
                <a16:creationId xmlns:a16="http://schemas.microsoft.com/office/drawing/2014/main" id="{D190555D-F505-31BE-39E5-482293457578}"/>
              </a:ext>
            </a:extLst>
          </p:cNvPr>
          <p:cNvSpPr txBox="1"/>
          <p:nvPr/>
        </p:nvSpPr>
        <p:spPr>
          <a:xfrm>
            <a:off x="5292911" y="3934699"/>
            <a:ext cx="1904828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Compared normalized native FreeRTOS scenarios on STM32 and GD32.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29" name="TextBox 53">
            <a:extLst>
              <a:ext uri="{FF2B5EF4-FFF2-40B4-BE49-F238E27FC236}">
                <a16:creationId xmlns:a16="http://schemas.microsoft.com/office/drawing/2014/main" id="{486A7159-6C00-18D8-17AD-E67D3F95548C}"/>
              </a:ext>
            </a:extLst>
          </p:cNvPr>
          <p:cNvSpPr txBox="1"/>
          <p:nvPr/>
        </p:nvSpPr>
        <p:spPr>
          <a:xfrm>
            <a:off x="5676945" y="5221252"/>
            <a:ext cx="1134575" cy="51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rgbClr val="007B80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  <a:endParaRPr lang="en-US" sz="3045" b="1" dirty="0">
              <a:solidFill>
                <a:srgbClr val="56E11B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231" name="TextBox 43">
            <a:extLst>
              <a:ext uri="{FF2B5EF4-FFF2-40B4-BE49-F238E27FC236}">
                <a16:creationId xmlns:a16="http://schemas.microsoft.com/office/drawing/2014/main" id="{B94755D9-6949-5FFD-9E39-5D6DFD2367F1}"/>
              </a:ext>
            </a:extLst>
          </p:cNvPr>
          <p:cNvSpPr txBox="1"/>
          <p:nvPr/>
        </p:nvSpPr>
        <p:spPr>
          <a:xfrm>
            <a:off x="7425875" y="3941034"/>
            <a:ext cx="1931983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Developed custom tools for map analysis, cross-vendor comparison, and AI-assisted support.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32" name="TextBox 53">
            <a:extLst>
              <a:ext uri="{FF2B5EF4-FFF2-40B4-BE49-F238E27FC236}">
                <a16:creationId xmlns:a16="http://schemas.microsoft.com/office/drawing/2014/main" id="{968CDF41-D53D-44A0-9D04-BD3F5F578EB6}"/>
              </a:ext>
            </a:extLst>
          </p:cNvPr>
          <p:cNvSpPr txBox="1"/>
          <p:nvPr/>
        </p:nvSpPr>
        <p:spPr>
          <a:xfrm>
            <a:off x="7821984" y="5227587"/>
            <a:ext cx="1150750" cy="51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rgbClr val="354465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  <a:endParaRPr lang="en-US" sz="3045" b="1" dirty="0">
              <a:solidFill>
                <a:srgbClr val="56E11B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pic>
        <p:nvPicPr>
          <p:cNvPr id="239" name="Picture 238">
            <a:extLst>
              <a:ext uri="{FF2B5EF4-FFF2-40B4-BE49-F238E27FC236}">
                <a16:creationId xmlns:a16="http://schemas.microsoft.com/office/drawing/2014/main" id="{95F7DD58-689D-B145-185F-A07767530D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1767" y="2931139"/>
            <a:ext cx="644930" cy="644930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537DE2D2-CCBD-2D17-7ACB-9855DF005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02850" y="2964221"/>
            <a:ext cx="644931" cy="644931"/>
          </a:xfrm>
          <a:prstGeom prst="rect">
            <a:avLst/>
          </a:prstGeom>
        </p:spPr>
      </p:pic>
      <p:grpSp>
        <p:nvGrpSpPr>
          <p:cNvPr id="244" name="Group 22">
            <a:extLst>
              <a:ext uri="{FF2B5EF4-FFF2-40B4-BE49-F238E27FC236}">
                <a16:creationId xmlns:a16="http://schemas.microsoft.com/office/drawing/2014/main" id="{2D851BAD-C679-CA3A-40C6-05D7C477A5C1}"/>
              </a:ext>
            </a:extLst>
          </p:cNvPr>
          <p:cNvGrpSpPr/>
          <p:nvPr/>
        </p:nvGrpSpPr>
        <p:grpSpPr>
          <a:xfrm>
            <a:off x="1098580" y="5762576"/>
            <a:ext cx="1859347" cy="161057"/>
            <a:chOff x="0" y="0"/>
            <a:chExt cx="594212" cy="41334"/>
          </a:xfrm>
        </p:grpSpPr>
        <p:sp>
          <p:nvSpPr>
            <p:cNvPr id="245" name="Freeform 23">
              <a:extLst>
                <a:ext uri="{FF2B5EF4-FFF2-40B4-BE49-F238E27FC236}">
                  <a16:creationId xmlns:a16="http://schemas.microsoft.com/office/drawing/2014/main" id="{B196B733-13FB-DF7F-256E-97136FB95FB0}"/>
                </a:ext>
              </a:extLst>
            </p:cNvPr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56E11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TextBox 24">
              <a:extLst>
                <a:ext uri="{FF2B5EF4-FFF2-40B4-BE49-F238E27FC236}">
                  <a16:creationId xmlns:a16="http://schemas.microsoft.com/office/drawing/2014/main" id="{448C7CE3-49AB-B49F-2BED-685A56C8DC82}"/>
                </a:ext>
              </a:extLst>
            </p:cNvPr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7" name="Group 25">
            <a:extLst>
              <a:ext uri="{FF2B5EF4-FFF2-40B4-BE49-F238E27FC236}">
                <a16:creationId xmlns:a16="http://schemas.microsoft.com/office/drawing/2014/main" id="{4B6F998E-E28D-DC02-F671-56CDB2D765FF}"/>
              </a:ext>
            </a:extLst>
          </p:cNvPr>
          <p:cNvGrpSpPr/>
          <p:nvPr/>
        </p:nvGrpSpPr>
        <p:grpSpPr>
          <a:xfrm>
            <a:off x="3195641" y="5753068"/>
            <a:ext cx="1859347" cy="161057"/>
            <a:chOff x="0" y="0"/>
            <a:chExt cx="594212" cy="41334"/>
          </a:xfrm>
        </p:grpSpPr>
        <p:sp>
          <p:nvSpPr>
            <p:cNvPr id="248" name="Freeform 26">
              <a:extLst>
                <a:ext uri="{FF2B5EF4-FFF2-40B4-BE49-F238E27FC236}">
                  <a16:creationId xmlns:a16="http://schemas.microsoft.com/office/drawing/2014/main" id="{CE61E37D-80FA-FDA9-B5CC-4A895AF8FC62}"/>
                </a:ext>
              </a:extLst>
            </p:cNvPr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C26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TextBox 27">
              <a:extLst>
                <a:ext uri="{FF2B5EF4-FFF2-40B4-BE49-F238E27FC236}">
                  <a16:creationId xmlns:a16="http://schemas.microsoft.com/office/drawing/2014/main" id="{0D336CED-4393-7EC4-0A55-DD6A216B02CC}"/>
                </a:ext>
              </a:extLst>
            </p:cNvPr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0" name="Freeform 6">
            <a:extLst>
              <a:ext uri="{FF2B5EF4-FFF2-40B4-BE49-F238E27FC236}">
                <a16:creationId xmlns:a16="http://schemas.microsoft.com/office/drawing/2014/main" id="{3C491AA4-9A46-74D2-DB44-D20E14FBA07A}"/>
              </a:ext>
            </a:extLst>
          </p:cNvPr>
          <p:cNvSpPr/>
          <p:nvPr/>
        </p:nvSpPr>
        <p:spPr>
          <a:xfrm>
            <a:off x="9370645" y="1693072"/>
            <a:ext cx="1926196" cy="779043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1" name="TextBox 49">
            <a:extLst>
              <a:ext uri="{FF2B5EF4-FFF2-40B4-BE49-F238E27FC236}">
                <a16:creationId xmlns:a16="http://schemas.microsoft.com/office/drawing/2014/main" id="{8966FE5A-F13D-25BF-4EFF-73094F49B2DC}"/>
              </a:ext>
            </a:extLst>
          </p:cNvPr>
          <p:cNvSpPr txBox="1"/>
          <p:nvPr/>
        </p:nvSpPr>
        <p:spPr>
          <a:xfrm>
            <a:off x="9350660" y="1940975"/>
            <a:ext cx="1642621" cy="258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</a:t>
            </a:r>
          </a:p>
        </p:txBody>
      </p:sp>
      <p:grpSp>
        <p:nvGrpSpPr>
          <p:cNvPr id="252" name="Group 34">
            <a:extLst>
              <a:ext uri="{FF2B5EF4-FFF2-40B4-BE49-F238E27FC236}">
                <a16:creationId xmlns:a16="http://schemas.microsoft.com/office/drawing/2014/main" id="{B159F3F7-D3FD-C640-89EC-B16F73BDFC06}"/>
              </a:ext>
            </a:extLst>
          </p:cNvPr>
          <p:cNvGrpSpPr/>
          <p:nvPr/>
        </p:nvGrpSpPr>
        <p:grpSpPr>
          <a:xfrm>
            <a:off x="9562662" y="5735953"/>
            <a:ext cx="1859347" cy="161057"/>
            <a:chOff x="0" y="0"/>
            <a:chExt cx="594212" cy="41334"/>
          </a:xfrm>
        </p:grpSpPr>
        <p:sp>
          <p:nvSpPr>
            <p:cNvPr id="253" name="Freeform 35">
              <a:extLst>
                <a:ext uri="{FF2B5EF4-FFF2-40B4-BE49-F238E27FC236}">
                  <a16:creationId xmlns:a16="http://schemas.microsoft.com/office/drawing/2014/main" id="{3600F00C-2143-D54A-A941-9306C83ED55A}"/>
                </a:ext>
              </a:extLst>
            </p:cNvPr>
            <p:cNvSpPr/>
            <p:nvPr/>
          </p:nvSpPr>
          <p:spPr>
            <a:xfrm>
              <a:off x="0" y="0"/>
              <a:ext cx="594212" cy="41334"/>
            </a:xfrm>
            <a:custGeom>
              <a:avLst/>
              <a:gdLst/>
              <a:ahLst/>
              <a:cxnLst/>
              <a:rect l="l" t="t" r="r" b="b"/>
              <a:pathLst>
                <a:path w="594212" h="41334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00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TextBox 36">
              <a:extLst>
                <a:ext uri="{FF2B5EF4-FFF2-40B4-BE49-F238E27FC236}">
                  <a16:creationId xmlns:a16="http://schemas.microsoft.com/office/drawing/2014/main" id="{0F53F0B0-AB6D-9AAD-A681-208DF6D29425}"/>
                </a:ext>
              </a:extLst>
            </p:cNvPr>
            <p:cNvSpPr txBox="1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5" name="Freeform 58">
            <a:extLst>
              <a:ext uri="{FF2B5EF4-FFF2-40B4-BE49-F238E27FC236}">
                <a16:creationId xmlns:a16="http://schemas.microsoft.com/office/drawing/2014/main" id="{45B312F5-D902-2AD6-7DD9-42C8EEF3DF83}"/>
              </a:ext>
            </a:extLst>
          </p:cNvPr>
          <p:cNvSpPr/>
          <p:nvPr/>
        </p:nvSpPr>
        <p:spPr>
          <a:xfrm>
            <a:off x="10223572" y="2977320"/>
            <a:ext cx="537529" cy="590102"/>
          </a:xfrm>
          <a:custGeom>
            <a:avLst/>
            <a:gdLst/>
            <a:ahLst/>
            <a:cxnLst/>
            <a:rect l="l" t="t" r="r" b="b"/>
            <a:pathLst>
              <a:path w="537529" h="590102">
                <a:moveTo>
                  <a:pt x="0" y="0"/>
                </a:moveTo>
                <a:lnTo>
                  <a:pt x="537530" y="0"/>
                </a:lnTo>
                <a:lnTo>
                  <a:pt x="537530" y="590102"/>
                </a:lnTo>
                <a:lnTo>
                  <a:pt x="0" y="5901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6" name="TextBox 43">
            <a:extLst>
              <a:ext uri="{FF2B5EF4-FFF2-40B4-BE49-F238E27FC236}">
                <a16:creationId xmlns:a16="http://schemas.microsoft.com/office/drawing/2014/main" id="{0AFDF754-D10D-88D7-E28D-4A599EC1434C}"/>
              </a:ext>
            </a:extLst>
          </p:cNvPr>
          <p:cNvSpPr txBox="1"/>
          <p:nvPr/>
        </p:nvSpPr>
        <p:spPr>
          <a:xfrm>
            <a:off x="9539923" y="3883581"/>
            <a:ext cx="1904828" cy="1098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Summarized results and continuation plan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57" name="TextBox 53">
            <a:extLst>
              <a:ext uri="{FF2B5EF4-FFF2-40B4-BE49-F238E27FC236}">
                <a16:creationId xmlns:a16="http://schemas.microsoft.com/office/drawing/2014/main" id="{2CF93E2C-640E-257A-E3F2-C0E8E7803630}"/>
              </a:ext>
            </a:extLst>
          </p:cNvPr>
          <p:cNvSpPr txBox="1"/>
          <p:nvPr/>
        </p:nvSpPr>
        <p:spPr>
          <a:xfrm>
            <a:off x="9925050" y="5170134"/>
            <a:ext cx="1134575" cy="51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1" dirty="0">
                <a:solidFill>
                  <a:srgbClr val="000038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  <a:endParaRPr lang="en-US" sz="3045" b="1" dirty="0">
              <a:solidFill>
                <a:srgbClr val="56E11B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262" name="Slide Number Placeholder 261">
            <a:extLst>
              <a:ext uri="{FF2B5EF4-FFF2-40B4-BE49-F238E27FC236}">
                <a16:creationId xmlns:a16="http://schemas.microsoft.com/office/drawing/2014/main" id="{575DAEB8-7913-AED9-AC0D-C2E5187EA7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</a:t>
            </a:fld>
            <a:endParaRPr lang="en-US"/>
          </a:p>
        </p:txBody>
      </p:sp>
      <p:sp>
        <p:nvSpPr>
          <p:cNvPr id="263" name="Freeform 5">
            <a:extLst>
              <a:ext uri="{FF2B5EF4-FFF2-40B4-BE49-F238E27FC236}">
                <a16:creationId xmlns:a16="http://schemas.microsoft.com/office/drawing/2014/main" id="{076A0F28-2ED1-C022-F6B4-38CBF9380114}"/>
              </a:ext>
            </a:extLst>
          </p:cNvPr>
          <p:cNvSpPr/>
          <p:nvPr/>
        </p:nvSpPr>
        <p:spPr>
          <a:xfrm>
            <a:off x="7105777" y="1682581"/>
            <a:ext cx="2111036" cy="779043"/>
          </a:xfrm>
          <a:custGeom>
            <a:avLst/>
            <a:gdLst/>
            <a:ahLst/>
            <a:cxnLst/>
            <a:rect l="l" t="t" r="r" b="b"/>
            <a:pathLst>
              <a:path w="2470699" h="108634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4" name="TextBox 47">
            <a:extLst>
              <a:ext uri="{FF2B5EF4-FFF2-40B4-BE49-F238E27FC236}">
                <a16:creationId xmlns:a16="http://schemas.microsoft.com/office/drawing/2014/main" id="{E06CD9D0-2F8E-2FBE-50E5-8021DF596311}"/>
              </a:ext>
            </a:extLst>
          </p:cNvPr>
          <p:cNvSpPr txBox="1"/>
          <p:nvPr/>
        </p:nvSpPr>
        <p:spPr>
          <a:xfrm>
            <a:off x="7160845" y="1934696"/>
            <a:ext cx="2016729" cy="258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en-US" sz="14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Personal Contributions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3192992-AEB0-43F3-8CDB-69605CC3BE2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69957" y="2906422"/>
            <a:ext cx="677636" cy="64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2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animBg="1"/>
      <p:bldP spid="170" grpId="0" animBg="1"/>
      <p:bldP spid="171" grpId="0" animBg="1"/>
      <p:bldP spid="172" grpId="0" animBg="1"/>
      <p:bldP spid="204" grpId="0" animBg="1"/>
      <p:bldP spid="208" grpId="0"/>
      <p:bldP spid="210" grpId="0"/>
      <p:bldP spid="211" grpId="0"/>
      <p:bldP spid="212" grpId="0"/>
      <p:bldP spid="213" grpId="0"/>
      <p:bldP spid="218" grpId="0"/>
      <p:bldP spid="225" grpId="0"/>
      <p:bldP spid="226" grpId="0"/>
      <p:bldP spid="228" grpId="0"/>
      <p:bldP spid="229" grpId="0"/>
      <p:bldP spid="231" grpId="0"/>
      <p:bldP spid="232" grpId="0"/>
      <p:bldP spid="250" grpId="0" animBg="1"/>
      <p:bldP spid="251" grpId="0"/>
      <p:bldP spid="255" grpId="0" animBg="1"/>
      <p:bldP spid="256" grpId="0"/>
      <p:bldP spid="257" grpId="0"/>
      <p:bldP spid="263" grpId="0" animBg="1"/>
      <p:bldP spid="2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5">
            <a:extLst>
              <a:ext uri="{FF2B5EF4-FFF2-40B4-BE49-F238E27FC236}">
                <a16:creationId xmlns:a16="http://schemas.microsoft.com/office/drawing/2014/main" id="{C7D872E5-841A-440F-B507-BD9AAE9A5A43}"/>
              </a:ext>
            </a:extLst>
          </p:cNvPr>
          <p:cNvGrpSpPr/>
          <p:nvPr/>
        </p:nvGrpSpPr>
        <p:grpSpPr>
          <a:xfrm>
            <a:off x="0" y="1362243"/>
            <a:ext cx="11909196" cy="1730394"/>
            <a:chOff x="0" y="-19050"/>
            <a:chExt cx="1207699" cy="704147"/>
          </a:xfrm>
        </p:grpSpPr>
        <p:sp>
          <p:nvSpPr>
            <p:cNvPr id="284" name="Freeform 6">
              <a:extLst>
                <a:ext uri="{FF2B5EF4-FFF2-40B4-BE49-F238E27FC236}">
                  <a16:creationId xmlns:a16="http://schemas.microsoft.com/office/drawing/2014/main" id="{4417A729-FEB4-4979-BBF6-B14BFF56BEC5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5" name="TextBox 7">
              <a:extLst>
                <a:ext uri="{FF2B5EF4-FFF2-40B4-BE49-F238E27FC236}">
                  <a16:creationId xmlns:a16="http://schemas.microsoft.com/office/drawing/2014/main" id="{B50EDC3B-4839-49DC-935F-56AC59B14550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270" name="Group 6">
            <a:extLst>
              <a:ext uri="{FF2B5EF4-FFF2-40B4-BE49-F238E27FC236}">
                <a16:creationId xmlns:a16="http://schemas.microsoft.com/office/drawing/2014/main" id="{9E24D2EB-A629-4D84-AF9A-2020188D8FAB}"/>
              </a:ext>
            </a:extLst>
          </p:cNvPr>
          <p:cNvGrpSpPr/>
          <p:nvPr/>
        </p:nvGrpSpPr>
        <p:grpSpPr>
          <a:xfrm>
            <a:off x="8747535" y="4278186"/>
            <a:ext cx="1649361" cy="1253783"/>
            <a:chOff x="0" y="0"/>
            <a:chExt cx="857212" cy="707996"/>
          </a:xfrm>
        </p:grpSpPr>
        <p:sp>
          <p:nvSpPr>
            <p:cNvPr id="271" name="Freeform 7">
              <a:extLst>
                <a:ext uri="{FF2B5EF4-FFF2-40B4-BE49-F238E27FC236}">
                  <a16:creationId xmlns:a16="http://schemas.microsoft.com/office/drawing/2014/main" id="{FD261E3F-0A0D-4C2C-957A-860EA7EDF538}"/>
                </a:ext>
              </a:extLst>
            </p:cNvPr>
            <p:cNvSpPr/>
            <p:nvPr/>
          </p:nvSpPr>
          <p:spPr>
            <a:xfrm>
              <a:off x="0" y="0"/>
              <a:ext cx="857212" cy="707996"/>
            </a:xfrm>
            <a:custGeom>
              <a:avLst/>
              <a:gdLst/>
              <a:ahLst/>
              <a:cxnLst/>
              <a:rect l="l" t="t" r="r" b="b"/>
              <a:pathLst>
                <a:path w="857212" h="707996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2" name="TextBox 8">
              <a:extLst>
                <a:ext uri="{FF2B5EF4-FFF2-40B4-BE49-F238E27FC236}">
                  <a16:creationId xmlns:a16="http://schemas.microsoft.com/office/drawing/2014/main" id="{98005155-B814-4A0E-87AF-F18BB9DD870C}"/>
                </a:ext>
              </a:extLst>
            </p:cNvPr>
            <p:cNvSpPr txBox="1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 sz="1200"/>
            </a:p>
          </p:txBody>
        </p:sp>
      </p:grpSp>
      <p:grpSp>
        <p:nvGrpSpPr>
          <p:cNvPr id="267" name="Group 3">
            <a:extLst>
              <a:ext uri="{FF2B5EF4-FFF2-40B4-BE49-F238E27FC236}">
                <a16:creationId xmlns:a16="http://schemas.microsoft.com/office/drawing/2014/main" id="{64B51990-EE48-4C8F-81E8-3F3F2262B3B7}"/>
              </a:ext>
            </a:extLst>
          </p:cNvPr>
          <p:cNvGrpSpPr/>
          <p:nvPr/>
        </p:nvGrpSpPr>
        <p:grpSpPr>
          <a:xfrm>
            <a:off x="6716358" y="5018728"/>
            <a:ext cx="1649361" cy="1253783"/>
            <a:chOff x="0" y="0"/>
            <a:chExt cx="857212" cy="707996"/>
          </a:xfrm>
        </p:grpSpPr>
        <p:sp>
          <p:nvSpPr>
            <p:cNvPr id="268" name="Freeform 4">
              <a:extLst>
                <a:ext uri="{FF2B5EF4-FFF2-40B4-BE49-F238E27FC236}">
                  <a16:creationId xmlns:a16="http://schemas.microsoft.com/office/drawing/2014/main" id="{D935A7D5-3BD2-4CB8-975F-E8611F26ECA0}"/>
                </a:ext>
              </a:extLst>
            </p:cNvPr>
            <p:cNvSpPr/>
            <p:nvPr/>
          </p:nvSpPr>
          <p:spPr>
            <a:xfrm>
              <a:off x="0" y="0"/>
              <a:ext cx="857212" cy="707996"/>
            </a:xfrm>
            <a:custGeom>
              <a:avLst/>
              <a:gdLst/>
              <a:ahLst/>
              <a:cxnLst/>
              <a:rect l="l" t="t" r="r" b="b"/>
              <a:pathLst>
                <a:path w="857212" h="707996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9" name="TextBox 5">
              <a:extLst>
                <a:ext uri="{FF2B5EF4-FFF2-40B4-BE49-F238E27FC236}">
                  <a16:creationId xmlns:a16="http://schemas.microsoft.com/office/drawing/2014/main" id="{10E1EBE3-9332-4AAB-A17A-8FC4D727E0D9}"/>
                </a:ext>
              </a:extLst>
            </p:cNvPr>
            <p:cNvSpPr txBox="1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 sz="12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246171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3234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Introduction</a:t>
            </a:r>
            <a:br>
              <a:rPr lang="fr-FR" dirty="0"/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90000"/>
                    <a:lumOff val="10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General Benchmark Overview</a:t>
            </a:r>
            <a:endParaRPr lang="en-US" sz="2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FE0-5DC6-05E7-600C-B464AA4F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47012"/>
            <a:ext cx="411004" cy="276510"/>
          </a:xfrm>
        </p:spPr>
        <p:txBody>
          <a:bodyPr/>
          <a:lstStyle/>
          <a:p>
            <a:fld id="{40A7B169-58CE-4E65-B1F9-ACF9E46440C2}" type="slidenum">
              <a:rPr lang="en-US" smtClean="0"/>
              <a:t>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EDD0FB-603F-45C2-A197-A0FB9F833BB9}"/>
              </a:ext>
            </a:extLst>
          </p:cNvPr>
          <p:cNvSpPr txBox="1"/>
          <p:nvPr/>
        </p:nvSpPr>
        <p:spPr>
          <a:xfrm>
            <a:off x="946962" y="1491499"/>
            <a:ext cx="1625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b="1" dirty="0"/>
              <a:t>Objective</a:t>
            </a:r>
          </a:p>
        </p:txBody>
      </p:sp>
      <p:sp>
        <p:nvSpPr>
          <p:cNvPr id="211" name="Freeform 2">
            <a:extLst>
              <a:ext uri="{FF2B5EF4-FFF2-40B4-BE49-F238E27FC236}">
                <a16:creationId xmlns:a16="http://schemas.microsoft.com/office/drawing/2014/main" id="{EE68EB1F-25D7-4ECA-9B49-1001FA6EBAD6}"/>
              </a:ext>
            </a:extLst>
          </p:cNvPr>
          <p:cNvSpPr/>
          <p:nvPr/>
        </p:nvSpPr>
        <p:spPr>
          <a:xfrm>
            <a:off x="610034" y="2996247"/>
            <a:ext cx="3999753" cy="3852334"/>
          </a:xfrm>
          <a:custGeom>
            <a:avLst/>
            <a:gdLst/>
            <a:ahLst/>
            <a:cxnLst/>
            <a:rect l="l" t="t" r="r" b="b"/>
            <a:pathLst>
              <a:path w="8534270" h="8708439">
                <a:moveTo>
                  <a:pt x="0" y="0"/>
                </a:moveTo>
                <a:lnTo>
                  <a:pt x="8534270" y="0"/>
                </a:lnTo>
                <a:lnTo>
                  <a:pt x="8534270" y="8708440"/>
                </a:lnTo>
                <a:lnTo>
                  <a:pt x="0" y="870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2" name="Freeform 23">
            <a:extLst>
              <a:ext uri="{FF2B5EF4-FFF2-40B4-BE49-F238E27FC236}">
                <a16:creationId xmlns:a16="http://schemas.microsoft.com/office/drawing/2014/main" id="{53218EDC-2DF7-447C-9DFE-3AF3EA83E23A}"/>
              </a:ext>
            </a:extLst>
          </p:cNvPr>
          <p:cNvSpPr/>
          <p:nvPr/>
        </p:nvSpPr>
        <p:spPr>
          <a:xfrm>
            <a:off x="2697011" y="3395541"/>
            <a:ext cx="286259" cy="270194"/>
          </a:xfrm>
          <a:custGeom>
            <a:avLst/>
            <a:gdLst/>
            <a:ahLst/>
            <a:cxnLst/>
            <a:rect l="l" t="t" r="r" b="b"/>
            <a:pathLst>
              <a:path w="610791" h="610791">
                <a:moveTo>
                  <a:pt x="0" y="0"/>
                </a:moveTo>
                <a:lnTo>
                  <a:pt x="610791" y="0"/>
                </a:lnTo>
                <a:lnTo>
                  <a:pt x="610791" y="610791"/>
                </a:lnTo>
                <a:lnTo>
                  <a:pt x="0" y="610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3" name="Freeform 24">
            <a:extLst>
              <a:ext uri="{FF2B5EF4-FFF2-40B4-BE49-F238E27FC236}">
                <a16:creationId xmlns:a16="http://schemas.microsoft.com/office/drawing/2014/main" id="{67F04913-2353-4717-A857-91565D301B17}"/>
              </a:ext>
            </a:extLst>
          </p:cNvPr>
          <p:cNvSpPr/>
          <p:nvPr/>
        </p:nvSpPr>
        <p:spPr>
          <a:xfrm>
            <a:off x="1380635" y="5639062"/>
            <a:ext cx="212067" cy="314721"/>
          </a:xfrm>
          <a:custGeom>
            <a:avLst/>
            <a:gdLst/>
            <a:ahLst/>
            <a:cxnLst/>
            <a:rect l="l" t="t" r="r" b="b"/>
            <a:pathLst>
              <a:path w="452487" h="711446">
                <a:moveTo>
                  <a:pt x="0" y="0"/>
                </a:moveTo>
                <a:lnTo>
                  <a:pt x="452487" y="0"/>
                </a:lnTo>
                <a:lnTo>
                  <a:pt x="452487" y="711445"/>
                </a:lnTo>
                <a:lnTo>
                  <a:pt x="0" y="711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4" name="Freeform 25">
            <a:extLst>
              <a:ext uri="{FF2B5EF4-FFF2-40B4-BE49-F238E27FC236}">
                <a16:creationId xmlns:a16="http://schemas.microsoft.com/office/drawing/2014/main" id="{4472C671-8941-401A-9714-600BFF1FC6BC}"/>
              </a:ext>
            </a:extLst>
          </p:cNvPr>
          <p:cNvSpPr/>
          <p:nvPr/>
        </p:nvSpPr>
        <p:spPr>
          <a:xfrm>
            <a:off x="3003300" y="6044659"/>
            <a:ext cx="200450" cy="189201"/>
          </a:xfrm>
          <a:custGeom>
            <a:avLst/>
            <a:gdLst/>
            <a:ahLst/>
            <a:cxnLst/>
            <a:rect l="l" t="t" r="r" b="b"/>
            <a:pathLst>
              <a:path w="427700" h="427700">
                <a:moveTo>
                  <a:pt x="0" y="0"/>
                </a:moveTo>
                <a:lnTo>
                  <a:pt x="427700" y="0"/>
                </a:lnTo>
                <a:lnTo>
                  <a:pt x="427700" y="427700"/>
                </a:lnTo>
                <a:lnTo>
                  <a:pt x="0" y="42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6" name="Freeform 27">
            <a:extLst>
              <a:ext uri="{FF2B5EF4-FFF2-40B4-BE49-F238E27FC236}">
                <a16:creationId xmlns:a16="http://schemas.microsoft.com/office/drawing/2014/main" id="{E3015742-5B2C-4395-B2C1-6E2C09DF5CE4}"/>
              </a:ext>
            </a:extLst>
          </p:cNvPr>
          <p:cNvSpPr/>
          <p:nvPr/>
        </p:nvSpPr>
        <p:spPr>
          <a:xfrm>
            <a:off x="1142885" y="3951008"/>
            <a:ext cx="279940" cy="302134"/>
          </a:xfrm>
          <a:custGeom>
            <a:avLst/>
            <a:gdLst/>
            <a:ahLst/>
            <a:cxnLst/>
            <a:rect l="l" t="t" r="r" b="b"/>
            <a:pathLst>
              <a:path w="597308" h="682992">
                <a:moveTo>
                  <a:pt x="0" y="0"/>
                </a:moveTo>
                <a:lnTo>
                  <a:pt x="597307" y="0"/>
                </a:lnTo>
                <a:lnTo>
                  <a:pt x="597307" y="682992"/>
                </a:lnTo>
                <a:lnTo>
                  <a:pt x="0" y="682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217" name="TextBox 28">
            <a:extLst>
              <a:ext uri="{FF2B5EF4-FFF2-40B4-BE49-F238E27FC236}">
                <a16:creationId xmlns:a16="http://schemas.microsoft.com/office/drawing/2014/main" id="{057F4CB5-2718-4414-92F5-0D2F10E5AB54}"/>
              </a:ext>
            </a:extLst>
          </p:cNvPr>
          <p:cNvSpPr txBox="1"/>
          <p:nvPr/>
        </p:nvSpPr>
        <p:spPr>
          <a:xfrm>
            <a:off x="1778446" y="4322454"/>
            <a:ext cx="1662927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4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Workflow Process</a:t>
            </a:r>
          </a:p>
          <a:p>
            <a:pPr algn="ctr">
              <a:lnSpc>
                <a:spcPts val="2688"/>
              </a:lnSpc>
            </a:pPr>
            <a:r>
              <a:rPr lang="en-US" sz="24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Stages</a:t>
            </a:r>
          </a:p>
        </p:txBody>
      </p:sp>
      <p:grpSp>
        <p:nvGrpSpPr>
          <p:cNvPr id="218" name="Group 3">
            <a:extLst>
              <a:ext uri="{FF2B5EF4-FFF2-40B4-BE49-F238E27FC236}">
                <a16:creationId xmlns:a16="http://schemas.microsoft.com/office/drawing/2014/main" id="{9AD644A9-23F4-4BA0-A1CD-92E2F81B40E9}"/>
              </a:ext>
            </a:extLst>
          </p:cNvPr>
          <p:cNvGrpSpPr/>
          <p:nvPr/>
        </p:nvGrpSpPr>
        <p:grpSpPr>
          <a:xfrm>
            <a:off x="4708712" y="3312333"/>
            <a:ext cx="1649361" cy="1253783"/>
            <a:chOff x="0" y="0"/>
            <a:chExt cx="857212" cy="707996"/>
          </a:xfrm>
        </p:grpSpPr>
        <p:sp>
          <p:nvSpPr>
            <p:cNvPr id="219" name="Freeform 4">
              <a:extLst>
                <a:ext uri="{FF2B5EF4-FFF2-40B4-BE49-F238E27FC236}">
                  <a16:creationId xmlns:a16="http://schemas.microsoft.com/office/drawing/2014/main" id="{2F64DBA5-D80E-4A23-96F7-B527CD6BDD55}"/>
                </a:ext>
              </a:extLst>
            </p:cNvPr>
            <p:cNvSpPr/>
            <p:nvPr/>
          </p:nvSpPr>
          <p:spPr>
            <a:xfrm>
              <a:off x="0" y="0"/>
              <a:ext cx="857212" cy="707996"/>
            </a:xfrm>
            <a:custGeom>
              <a:avLst/>
              <a:gdLst/>
              <a:ahLst/>
              <a:cxnLst/>
              <a:rect l="l" t="t" r="r" b="b"/>
              <a:pathLst>
                <a:path w="857212" h="707996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0" name="TextBox 5">
              <a:extLst>
                <a:ext uri="{FF2B5EF4-FFF2-40B4-BE49-F238E27FC236}">
                  <a16:creationId xmlns:a16="http://schemas.microsoft.com/office/drawing/2014/main" id="{FE788A72-1199-4C66-905A-924188D5CF7D}"/>
                </a:ext>
              </a:extLst>
            </p:cNvPr>
            <p:cNvSpPr txBox="1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 sz="1200"/>
            </a:p>
          </p:txBody>
        </p:sp>
      </p:grpSp>
      <p:grpSp>
        <p:nvGrpSpPr>
          <p:cNvPr id="221" name="Group 6">
            <a:extLst>
              <a:ext uri="{FF2B5EF4-FFF2-40B4-BE49-F238E27FC236}">
                <a16:creationId xmlns:a16="http://schemas.microsoft.com/office/drawing/2014/main" id="{862DB7DC-9980-448D-AD90-42BEA0035D0D}"/>
              </a:ext>
            </a:extLst>
          </p:cNvPr>
          <p:cNvGrpSpPr/>
          <p:nvPr/>
        </p:nvGrpSpPr>
        <p:grpSpPr>
          <a:xfrm>
            <a:off x="4753486" y="5010653"/>
            <a:ext cx="1649361" cy="1253783"/>
            <a:chOff x="0" y="0"/>
            <a:chExt cx="857212" cy="707996"/>
          </a:xfrm>
        </p:grpSpPr>
        <p:sp>
          <p:nvSpPr>
            <p:cNvPr id="222" name="Freeform 7">
              <a:extLst>
                <a:ext uri="{FF2B5EF4-FFF2-40B4-BE49-F238E27FC236}">
                  <a16:creationId xmlns:a16="http://schemas.microsoft.com/office/drawing/2014/main" id="{0E2A3AF4-A9DF-4D55-80A4-898669D2EE7F}"/>
                </a:ext>
              </a:extLst>
            </p:cNvPr>
            <p:cNvSpPr/>
            <p:nvPr/>
          </p:nvSpPr>
          <p:spPr>
            <a:xfrm>
              <a:off x="0" y="0"/>
              <a:ext cx="857212" cy="707996"/>
            </a:xfrm>
            <a:custGeom>
              <a:avLst/>
              <a:gdLst/>
              <a:ahLst/>
              <a:cxnLst/>
              <a:rect l="l" t="t" r="r" b="b"/>
              <a:pathLst>
                <a:path w="857212" h="707996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3" name="TextBox 8">
              <a:extLst>
                <a:ext uri="{FF2B5EF4-FFF2-40B4-BE49-F238E27FC236}">
                  <a16:creationId xmlns:a16="http://schemas.microsoft.com/office/drawing/2014/main" id="{9AF443DA-9966-4303-8F45-740A77BE403C}"/>
                </a:ext>
              </a:extLst>
            </p:cNvPr>
            <p:cNvSpPr txBox="1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 sz="1200"/>
            </a:p>
          </p:txBody>
        </p:sp>
      </p:grpSp>
      <p:sp>
        <p:nvSpPr>
          <p:cNvPr id="224" name="Freeform 9">
            <a:extLst>
              <a:ext uri="{FF2B5EF4-FFF2-40B4-BE49-F238E27FC236}">
                <a16:creationId xmlns:a16="http://schemas.microsoft.com/office/drawing/2014/main" id="{C4DABACB-2EC7-4014-8DEB-1D0778900372}"/>
              </a:ext>
            </a:extLst>
          </p:cNvPr>
          <p:cNvSpPr/>
          <p:nvPr/>
        </p:nvSpPr>
        <p:spPr>
          <a:xfrm>
            <a:off x="4626478" y="3355332"/>
            <a:ext cx="1217314" cy="431856"/>
          </a:xfrm>
          <a:custGeom>
            <a:avLst/>
            <a:gdLst/>
            <a:ahLst/>
            <a:cxnLst/>
            <a:rect l="l" t="t" r="r" b="b"/>
            <a:pathLst>
              <a:path w="2402157" h="925922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25" name="Freeform 10">
            <a:extLst>
              <a:ext uri="{FF2B5EF4-FFF2-40B4-BE49-F238E27FC236}">
                <a16:creationId xmlns:a16="http://schemas.microsoft.com/office/drawing/2014/main" id="{A9D9FC90-9DD8-4863-9B50-277B635CBE17}"/>
              </a:ext>
            </a:extLst>
          </p:cNvPr>
          <p:cNvSpPr/>
          <p:nvPr/>
        </p:nvSpPr>
        <p:spPr>
          <a:xfrm>
            <a:off x="4671252" y="5053651"/>
            <a:ext cx="1217314" cy="431856"/>
          </a:xfrm>
          <a:custGeom>
            <a:avLst/>
            <a:gdLst/>
            <a:ahLst/>
            <a:cxnLst/>
            <a:rect l="l" t="t" r="r" b="b"/>
            <a:pathLst>
              <a:path w="2402157" h="925922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226" name="Group 11">
            <a:extLst>
              <a:ext uri="{FF2B5EF4-FFF2-40B4-BE49-F238E27FC236}">
                <a16:creationId xmlns:a16="http://schemas.microsoft.com/office/drawing/2014/main" id="{EF2285D2-7B64-49B0-AC83-4A36556DB5AA}"/>
              </a:ext>
            </a:extLst>
          </p:cNvPr>
          <p:cNvGrpSpPr/>
          <p:nvPr/>
        </p:nvGrpSpPr>
        <p:grpSpPr>
          <a:xfrm>
            <a:off x="6678661" y="3302395"/>
            <a:ext cx="1649361" cy="1253783"/>
            <a:chOff x="0" y="0"/>
            <a:chExt cx="857212" cy="707996"/>
          </a:xfrm>
        </p:grpSpPr>
        <p:sp>
          <p:nvSpPr>
            <p:cNvPr id="227" name="Freeform 12">
              <a:extLst>
                <a:ext uri="{FF2B5EF4-FFF2-40B4-BE49-F238E27FC236}">
                  <a16:creationId xmlns:a16="http://schemas.microsoft.com/office/drawing/2014/main" id="{0ADBEF96-357D-4AC6-BF44-BF061EEE8CC1}"/>
                </a:ext>
              </a:extLst>
            </p:cNvPr>
            <p:cNvSpPr/>
            <p:nvPr/>
          </p:nvSpPr>
          <p:spPr>
            <a:xfrm>
              <a:off x="0" y="0"/>
              <a:ext cx="857212" cy="707996"/>
            </a:xfrm>
            <a:custGeom>
              <a:avLst/>
              <a:gdLst/>
              <a:ahLst/>
              <a:cxnLst/>
              <a:rect l="l" t="t" r="r" b="b"/>
              <a:pathLst>
                <a:path w="857212" h="707996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8" name="TextBox 13">
              <a:extLst>
                <a:ext uri="{FF2B5EF4-FFF2-40B4-BE49-F238E27FC236}">
                  <a16:creationId xmlns:a16="http://schemas.microsoft.com/office/drawing/2014/main" id="{B34141CD-737C-4B16-AB35-BF285E33461D}"/>
                </a:ext>
              </a:extLst>
            </p:cNvPr>
            <p:cNvSpPr txBox="1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 sz="1200"/>
            </a:p>
          </p:txBody>
        </p:sp>
      </p:grpSp>
      <p:sp>
        <p:nvSpPr>
          <p:cNvPr id="229" name="Freeform 14">
            <a:extLst>
              <a:ext uri="{FF2B5EF4-FFF2-40B4-BE49-F238E27FC236}">
                <a16:creationId xmlns:a16="http://schemas.microsoft.com/office/drawing/2014/main" id="{FBDFC9AB-CE0E-493B-9007-D5CF6B5D4032}"/>
              </a:ext>
            </a:extLst>
          </p:cNvPr>
          <p:cNvSpPr/>
          <p:nvPr/>
        </p:nvSpPr>
        <p:spPr>
          <a:xfrm>
            <a:off x="6596427" y="3345394"/>
            <a:ext cx="1217314" cy="431856"/>
          </a:xfrm>
          <a:custGeom>
            <a:avLst/>
            <a:gdLst/>
            <a:ahLst/>
            <a:cxnLst/>
            <a:rect l="l" t="t" r="r" b="b"/>
            <a:pathLst>
              <a:path w="2402157" h="925922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33" name="Freeform 18">
            <a:extLst>
              <a:ext uri="{FF2B5EF4-FFF2-40B4-BE49-F238E27FC236}">
                <a16:creationId xmlns:a16="http://schemas.microsoft.com/office/drawing/2014/main" id="{47214C4E-D8C1-4A74-BCE9-F84C886686D7}"/>
              </a:ext>
            </a:extLst>
          </p:cNvPr>
          <p:cNvSpPr/>
          <p:nvPr/>
        </p:nvSpPr>
        <p:spPr>
          <a:xfrm>
            <a:off x="6662896" y="5079820"/>
            <a:ext cx="1217314" cy="431856"/>
          </a:xfrm>
          <a:custGeom>
            <a:avLst/>
            <a:gdLst/>
            <a:ahLst/>
            <a:cxnLst/>
            <a:rect l="l" t="t" r="r" b="b"/>
            <a:pathLst>
              <a:path w="2402157" h="925922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37" name="Freeform 22">
            <a:extLst>
              <a:ext uri="{FF2B5EF4-FFF2-40B4-BE49-F238E27FC236}">
                <a16:creationId xmlns:a16="http://schemas.microsoft.com/office/drawing/2014/main" id="{3F1A0FF0-2B3A-4D75-B34F-214DF1BFD8DE}"/>
              </a:ext>
            </a:extLst>
          </p:cNvPr>
          <p:cNvSpPr/>
          <p:nvPr/>
        </p:nvSpPr>
        <p:spPr>
          <a:xfrm>
            <a:off x="8679204" y="4335334"/>
            <a:ext cx="1217314" cy="431856"/>
          </a:xfrm>
          <a:custGeom>
            <a:avLst/>
            <a:gdLst/>
            <a:ahLst/>
            <a:cxnLst/>
            <a:rect l="l" t="t" r="r" b="b"/>
            <a:pathLst>
              <a:path w="2402157" h="925922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38" name="TextBox 29">
            <a:extLst>
              <a:ext uri="{FF2B5EF4-FFF2-40B4-BE49-F238E27FC236}">
                <a16:creationId xmlns:a16="http://schemas.microsoft.com/office/drawing/2014/main" id="{46A65952-4860-4689-984D-EF10E9582E57}"/>
              </a:ext>
            </a:extLst>
          </p:cNvPr>
          <p:cNvSpPr txBox="1"/>
          <p:nvPr/>
        </p:nvSpPr>
        <p:spPr>
          <a:xfrm>
            <a:off x="4875611" y="3787188"/>
            <a:ext cx="1250009" cy="752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Teams outline short-term goals and deliverables for the defined duration.</a:t>
            </a:r>
          </a:p>
        </p:txBody>
      </p:sp>
      <p:sp>
        <p:nvSpPr>
          <p:cNvPr id="239" name="TextBox 30">
            <a:extLst>
              <a:ext uri="{FF2B5EF4-FFF2-40B4-BE49-F238E27FC236}">
                <a16:creationId xmlns:a16="http://schemas.microsoft.com/office/drawing/2014/main" id="{17D6ED56-B1FA-46CB-84E0-C386F78B78EA}"/>
              </a:ext>
            </a:extLst>
          </p:cNvPr>
          <p:cNvSpPr txBox="1"/>
          <p:nvPr/>
        </p:nvSpPr>
        <p:spPr>
          <a:xfrm>
            <a:off x="4933746" y="5475710"/>
            <a:ext cx="1250009" cy="752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Create benchmark Scenarios and build them for both vendors.</a:t>
            </a:r>
          </a:p>
        </p:txBody>
      </p:sp>
      <p:sp>
        <p:nvSpPr>
          <p:cNvPr id="240" name="TextBox 31">
            <a:extLst>
              <a:ext uri="{FF2B5EF4-FFF2-40B4-BE49-F238E27FC236}">
                <a16:creationId xmlns:a16="http://schemas.microsoft.com/office/drawing/2014/main" id="{442AB852-90D3-4C48-9197-E1BE139E497C}"/>
              </a:ext>
            </a:extLst>
          </p:cNvPr>
          <p:cNvSpPr txBox="1"/>
          <p:nvPr/>
        </p:nvSpPr>
        <p:spPr>
          <a:xfrm>
            <a:off x="4831109" y="3466796"/>
            <a:ext cx="1067272" cy="175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67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Plan</a:t>
            </a:r>
          </a:p>
        </p:txBody>
      </p:sp>
      <p:sp>
        <p:nvSpPr>
          <p:cNvPr id="241" name="TextBox 32">
            <a:extLst>
              <a:ext uri="{FF2B5EF4-FFF2-40B4-BE49-F238E27FC236}">
                <a16:creationId xmlns:a16="http://schemas.microsoft.com/office/drawing/2014/main" id="{FF5E02B3-73B6-42B1-B540-98429B823BC1}"/>
              </a:ext>
            </a:extLst>
          </p:cNvPr>
          <p:cNvSpPr txBox="1"/>
          <p:nvPr/>
        </p:nvSpPr>
        <p:spPr>
          <a:xfrm>
            <a:off x="4839650" y="5164435"/>
            <a:ext cx="1067272" cy="175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67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Build</a:t>
            </a:r>
          </a:p>
        </p:txBody>
      </p:sp>
      <p:sp>
        <p:nvSpPr>
          <p:cNvPr id="242" name="TextBox 33">
            <a:extLst>
              <a:ext uri="{FF2B5EF4-FFF2-40B4-BE49-F238E27FC236}">
                <a16:creationId xmlns:a16="http://schemas.microsoft.com/office/drawing/2014/main" id="{B44637C0-1178-400A-ADD5-3F4B350F020D}"/>
              </a:ext>
            </a:extLst>
          </p:cNvPr>
          <p:cNvSpPr txBox="1"/>
          <p:nvPr/>
        </p:nvSpPr>
        <p:spPr>
          <a:xfrm>
            <a:off x="5952969" y="3415292"/>
            <a:ext cx="253098" cy="258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id="243" name="TextBox 34">
            <a:extLst>
              <a:ext uri="{FF2B5EF4-FFF2-40B4-BE49-F238E27FC236}">
                <a16:creationId xmlns:a16="http://schemas.microsoft.com/office/drawing/2014/main" id="{25CA0518-F212-413D-B5A4-B01F0E16D6C1}"/>
              </a:ext>
            </a:extLst>
          </p:cNvPr>
          <p:cNvSpPr txBox="1"/>
          <p:nvPr/>
        </p:nvSpPr>
        <p:spPr>
          <a:xfrm>
            <a:off x="5981192" y="5126894"/>
            <a:ext cx="253098" cy="258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id="244" name="TextBox 35">
            <a:extLst>
              <a:ext uri="{FF2B5EF4-FFF2-40B4-BE49-F238E27FC236}">
                <a16:creationId xmlns:a16="http://schemas.microsoft.com/office/drawing/2014/main" id="{3825815A-AD7E-47D6-84F8-ED908E6D7D42}"/>
              </a:ext>
            </a:extLst>
          </p:cNvPr>
          <p:cNvSpPr txBox="1"/>
          <p:nvPr/>
        </p:nvSpPr>
        <p:spPr>
          <a:xfrm>
            <a:off x="6886953" y="3790457"/>
            <a:ext cx="1250009" cy="560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Extract KPIs from projects (footprint, performance etc..)</a:t>
            </a:r>
          </a:p>
        </p:txBody>
      </p:sp>
      <p:sp>
        <p:nvSpPr>
          <p:cNvPr id="245" name="TextBox 36">
            <a:extLst>
              <a:ext uri="{FF2B5EF4-FFF2-40B4-BE49-F238E27FC236}">
                <a16:creationId xmlns:a16="http://schemas.microsoft.com/office/drawing/2014/main" id="{6812E4C0-5D70-4D3B-908F-65DD27FC47ED}"/>
              </a:ext>
            </a:extLst>
          </p:cNvPr>
          <p:cNvSpPr txBox="1"/>
          <p:nvPr/>
        </p:nvSpPr>
        <p:spPr>
          <a:xfrm>
            <a:off x="6827835" y="3467003"/>
            <a:ext cx="1067272" cy="175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67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Extract</a:t>
            </a:r>
          </a:p>
        </p:txBody>
      </p:sp>
      <p:sp>
        <p:nvSpPr>
          <p:cNvPr id="246" name="TextBox 37">
            <a:extLst>
              <a:ext uri="{FF2B5EF4-FFF2-40B4-BE49-F238E27FC236}">
                <a16:creationId xmlns:a16="http://schemas.microsoft.com/office/drawing/2014/main" id="{A6EC7290-74D9-4303-887B-492C0B86C424}"/>
              </a:ext>
            </a:extLst>
          </p:cNvPr>
          <p:cNvSpPr txBox="1"/>
          <p:nvPr/>
        </p:nvSpPr>
        <p:spPr>
          <a:xfrm>
            <a:off x="7906367" y="3419653"/>
            <a:ext cx="253098" cy="258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id="275" name="TextBox 29">
            <a:extLst>
              <a:ext uri="{FF2B5EF4-FFF2-40B4-BE49-F238E27FC236}">
                <a16:creationId xmlns:a16="http://schemas.microsoft.com/office/drawing/2014/main" id="{861A70F2-C8AA-4DBF-B9C3-E574AEE740C0}"/>
              </a:ext>
            </a:extLst>
          </p:cNvPr>
          <p:cNvSpPr txBox="1"/>
          <p:nvPr/>
        </p:nvSpPr>
        <p:spPr>
          <a:xfrm>
            <a:off x="6883257" y="5493583"/>
            <a:ext cx="1250009" cy="752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Data analysis and interpretation and enhancement proposals.</a:t>
            </a:r>
          </a:p>
        </p:txBody>
      </p:sp>
      <p:sp>
        <p:nvSpPr>
          <p:cNvPr id="276" name="TextBox 30">
            <a:extLst>
              <a:ext uri="{FF2B5EF4-FFF2-40B4-BE49-F238E27FC236}">
                <a16:creationId xmlns:a16="http://schemas.microsoft.com/office/drawing/2014/main" id="{D0F02F54-036E-4046-8BE2-1BA1FF9B7599}"/>
              </a:ext>
            </a:extLst>
          </p:cNvPr>
          <p:cNvSpPr txBox="1"/>
          <p:nvPr/>
        </p:nvSpPr>
        <p:spPr>
          <a:xfrm>
            <a:off x="8927795" y="4743243"/>
            <a:ext cx="1446598" cy="752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6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Final output is released to marketing team for immediate feedback and use.</a:t>
            </a:r>
          </a:p>
        </p:txBody>
      </p:sp>
      <p:sp>
        <p:nvSpPr>
          <p:cNvPr id="277" name="TextBox 31">
            <a:extLst>
              <a:ext uri="{FF2B5EF4-FFF2-40B4-BE49-F238E27FC236}">
                <a16:creationId xmlns:a16="http://schemas.microsoft.com/office/drawing/2014/main" id="{5AF52917-39CF-4150-933E-57F34C6759CA}"/>
              </a:ext>
            </a:extLst>
          </p:cNvPr>
          <p:cNvSpPr txBox="1"/>
          <p:nvPr/>
        </p:nvSpPr>
        <p:spPr>
          <a:xfrm>
            <a:off x="6838755" y="5173191"/>
            <a:ext cx="1067272" cy="175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67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Interpret</a:t>
            </a:r>
          </a:p>
        </p:txBody>
      </p:sp>
      <p:sp>
        <p:nvSpPr>
          <p:cNvPr id="278" name="TextBox 32">
            <a:extLst>
              <a:ext uri="{FF2B5EF4-FFF2-40B4-BE49-F238E27FC236}">
                <a16:creationId xmlns:a16="http://schemas.microsoft.com/office/drawing/2014/main" id="{2D4D5D39-6CF0-41ED-9A22-62C6B8529A96}"/>
              </a:ext>
            </a:extLst>
          </p:cNvPr>
          <p:cNvSpPr txBox="1"/>
          <p:nvPr/>
        </p:nvSpPr>
        <p:spPr>
          <a:xfrm>
            <a:off x="8833699" y="4431968"/>
            <a:ext cx="1067272" cy="175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93"/>
              </a:lnSpc>
              <a:spcBef>
                <a:spcPct val="0"/>
              </a:spcBef>
            </a:pPr>
            <a:r>
              <a:rPr lang="en-US" sz="1067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Deliver</a:t>
            </a:r>
          </a:p>
        </p:txBody>
      </p:sp>
      <p:sp>
        <p:nvSpPr>
          <p:cNvPr id="279" name="TextBox 33">
            <a:extLst>
              <a:ext uri="{FF2B5EF4-FFF2-40B4-BE49-F238E27FC236}">
                <a16:creationId xmlns:a16="http://schemas.microsoft.com/office/drawing/2014/main" id="{1C442689-50F7-4917-8569-2D78E8CC6C44}"/>
              </a:ext>
            </a:extLst>
          </p:cNvPr>
          <p:cNvSpPr txBox="1"/>
          <p:nvPr/>
        </p:nvSpPr>
        <p:spPr>
          <a:xfrm>
            <a:off x="7960615" y="5121687"/>
            <a:ext cx="253098" cy="258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id="280" name="TextBox 34">
            <a:extLst>
              <a:ext uri="{FF2B5EF4-FFF2-40B4-BE49-F238E27FC236}">
                <a16:creationId xmlns:a16="http://schemas.microsoft.com/office/drawing/2014/main" id="{1950F312-ACE4-47CD-8E74-2105E329C62D}"/>
              </a:ext>
            </a:extLst>
          </p:cNvPr>
          <p:cNvSpPr txBox="1"/>
          <p:nvPr/>
        </p:nvSpPr>
        <p:spPr>
          <a:xfrm>
            <a:off x="9975241" y="4394427"/>
            <a:ext cx="253098" cy="258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23D8F616-E817-4AB3-AFDD-C4E08063D595}"/>
              </a:ext>
            </a:extLst>
          </p:cNvPr>
          <p:cNvSpPr txBox="1"/>
          <p:nvPr/>
        </p:nvSpPr>
        <p:spPr>
          <a:xfrm>
            <a:off x="327444" y="3638781"/>
            <a:ext cx="6270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282" name="Freeform 18">
            <a:extLst>
              <a:ext uri="{FF2B5EF4-FFF2-40B4-BE49-F238E27FC236}">
                <a16:creationId xmlns:a16="http://schemas.microsoft.com/office/drawing/2014/main" id="{03396E89-EC6A-416A-BC01-C4D374986C8E}"/>
              </a:ext>
            </a:extLst>
          </p:cNvPr>
          <p:cNvSpPr/>
          <p:nvPr/>
        </p:nvSpPr>
        <p:spPr>
          <a:xfrm>
            <a:off x="3979563" y="4670690"/>
            <a:ext cx="296994" cy="352614"/>
          </a:xfrm>
          <a:custGeom>
            <a:avLst/>
            <a:gdLst/>
            <a:ahLst/>
            <a:cxnLst/>
            <a:rect l="l" t="t" r="r" b="b"/>
            <a:pathLst>
              <a:path w="727665" h="839026">
                <a:moveTo>
                  <a:pt x="0" y="0"/>
                </a:moveTo>
                <a:lnTo>
                  <a:pt x="727665" y="0"/>
                </a:lnTo>
                <a:lnTo>
                  <a:pt x="727665" y="839026"/>
                </a:lnTo>
                <a:lnTo>
                  <a:pt x="0" y="8390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6" name="Freeform 37">
            <a:extLst>
              <a:ext uri="{FF2B5EF4-FFF2-40B4-BE49-F238E27FC236}">
                <a16:creationId xmlns:a16="http://schemas.microsoft.com/office/drawing/2014/main" id="{169CCAD7-AF03-4091-A4A7-40C2A202652F}"/>
              </a:ext>
            </a:extLst>
          </p:cNvPr>
          <p:cNvSpPr/>
          <p:nvPr/>
        </p:nvSpPr>
        <p:spPr>
          <a:xfrm>
            <a:off x="396575" y="1417730"/>
            <a:ext cx="613528" cy="590102"/>
          </a:xfrm>
          <a:custGeom>
            <a:avLst/>
            <a:gdLst/>
            <a:ahLst/>
            <a:cxnLst/>
            <a:rect l="l" t="t" r="r" b="b"/>
            <a:pathLst>
              <a:path w="613528" h="590102">
                <a:moveTo>
                  <a:pt x="0" y="0"/>
                </a:moveTo>
                <a:lnTo>
                  <a:pt x="613527" y="0"/>
                </a:lnTo>
                <a:lnTo>
                  <a:pt x="613527" y="590102"/>
                </a:lnTo>
                <a:lnTo>
                  <a:pt x="0" y="59010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339C0F2F-969C-4DB4-953B-B0D2E201F8BA}"/>
              </a:ext>
            </a:extLst>
          </p:cNvPr>
          <p:cNvSpPr txBox="1"/>
          <p:nvPr/>
        </p:nvSpPr>
        <p:spPr>
          <a:xfrm>
            <a:off x="969766" y="1903271"/>
            <a:ext cx="10906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❑ Develop similar scenarios on ST and peer MCU platforms using their embedded software frameworks of the scenarios across different platforms. </a:t>
            </a:r>
            <a:endParaRPr lang="fr-FR" sz="120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7D796190-8BCC-4C21-9749-165656E11CB7}"/>
              </a:ext>
            </a:extLst>
          </p:cNvPr>
          <p:cNvSpPr txBox="1"/>
          <p:nvPr/>
        </p:nvSpPr>
        <p:spPr>
          <a:xfrm>
            <a:off x="969766" y="2128008"/>
            <a:ext cx="97066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❑ Conduct functional testing to assess performance, memory footprint and robustness </a:t>
            </a:r>
            <a:endParaRPr lang="fr-FR" sz="1200" dirty="0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AD6DB9D9-248E-43B2-BA1A-42CA5FC8748C}"/>
              </a:ext>
            </a:extLst>
          </p:cNvPr>
          <p:cNvSpPr txBox="1"/>
          <p:nvPr/>
        </p:nvSpPr>
        <p:spPr>
          <a:xfrm>
            <a:off x="969766" y="2375887"/>
            <a:ext cx="109069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❑ Compile a comprehensive benchmark report summarizing the results, insights, and recommendations for ST framework improvements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246171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3234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Introduction</a:t>
            </a:r>
            <a:br>
              <a:rPr lang="fr-FR" dirty="0"/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90000"/>
                    <a:lumOff val="10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Previously done benchmarks and marketing team review</a:t>
            </a:r>
            <a:endParaRPr lang="en-US" sz="2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FE0-5DC6-05E7-600C-B464AA4F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47012"/>
            <a:ext cx="411004" cy="276510"/>
          </a:xfrm>
        </p:spPr>
        <p:txBody>
          <a:bodyPr/>
          <a:lstStyle/>
          <a:p>
            <a:fld id="{40A7B169-58CE-4E65-B1F9-ACF9E46440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8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246171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3234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Introduction</a:t>
            </a:r>
            <a:br>
              <a:rPr lang="fr-FR" dirty="0"/>
            </a:br>
            <a:r>
              <a:rPr lang="en-US" sz="2000" dirty="0">
                <a:solidFill>
                  <a:schemeClr val="accent6">
                    <a:lumMod val="90000"/>
                    <a:lumOff val="10000"/>
                  </a:schemeClr>
                </a:solidFill>
                <a:latin typeface="Arial"/>
                <a:ea typeface="+mn-ea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>
                    <a:lumMod val="90000"/>
                    <a:lumOff val="10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enchmarks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90000"/>
                    <a:lumOff val="10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plan and done work</a:t>
            </a:r>
            <a:endParaRPr lang="en-US" sz="2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FE0-5DC6-05E7-600C-B464AA4F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47012"/>
            <a:ext cx="411004" cy="276510"/>
          </a:xfrm>
        </p:spPr>
        <p:txBody>
          <a:bodyPr/>
          <a:lstStyle/>
          <a:p>
            <a:fld id="{40A7B169-58CE-4E65-B1F9-ACF9E46440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8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246171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3234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Introduction</a:t>
            </a:r>
            <a:br>
              <a:rPr lang="fr-FR" dirty="0"/>
            </a:br>
            <a:r>
              <a:rPr lang="en-US" sz="2000" dirty="0">
                <a:solidFill>
                  <a:schemeClr val="accent6">
                    <a:lumMod val="90000"/>
                    <a:lumOff val="10000"/>
                  </a:schemeClr>
                </a:solidFill>
                <a:latin typeface="Arial"/>
                <a:ea typeface="+mn-ea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>
                    <a:lumMod val="90000"/>
                    <a:lumOff val="10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enchmarks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90000"/>
                    <a:lumOff val="10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plan and done work</a:t>
            </a:r>
            <a:endParaRPr lang="en-US" sz="2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FE0-5DC6-05E7-600C-B464AA4F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47012"/>
            <a:ext cx="411004" cy="276510"/>
          </a:xfrm>
        </p:spPr>
        <p:txBody>
          <a:bodyPr/>
          <a:lstStyle/>
          <a:p>
            <a:fld id="{40A7B169-58CE-4E65-B1F9-ACF9E46440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9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5">
            <a:extLst>
              <a:ext uri="{FF2B5EF4-FFF2-40B4-BE49-F238E27FC236}">
                <a16:creationId xmlns:a16="http://schemas.microsoft.com/office/drawing/2014/main" id="{F62175BB-45A1-4FE1-87FC-F621DD6DFDD0}"/>
              </a:ext>
            </a:extLst>
          </p:cNvPr>
          <p:cNvGrpSpPr/>
          <p:nvPr/>
        </p:nvGrpSpPr>
        <p:grpSpPr>
          <a:xfrm>
            <a:off x="3500582" y="3742842"/>
            <a:ext cx="4277214" cy="2673558"/>
            <a:chOff x="0" y="-19050"/>
            <a:chExt cx="1207699" cy="704147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685FD63-67D3-8D0C-B5F9-BC4BECEA1F4D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27F68878-416C-02C2-73F1-7316C81BDC89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69568E-652B-AE68-64CF-60695826F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64" y="831160"/>
            <a:ext cx="11591925" cy="39052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Benchmarking middleware behavior across </a:t>
            </a:r>
            <a:r>
              <a:rPr lang="en-US" sz="1800" b="1" dirty="0"/>
              <a:t>STMicroelectronics</a:t>
            </a:r>
            <a:r>
              <a:rPr lang="en-US" sz="1800" dirty="0"/>
              <a:t> and </a:t>
            </a:r>
            <a:r>
              <a:rPr lang="en-US" sz="1800" b="1" dirty="0"/>
              <a:t>Giga Device</a:t>
            </a: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58CA03-E3C2-C0AC-A19B-818AC3384ACA}"/>
              </a:ext>
            </a:extLst>
          </p:cNvPr>
          <p:cNvSpPr/>
          <p:nvPr/>
        </p:nvSpPr>
        <p:spPr>
          <a:xfrm>
            <a:off x="1131499" y="2101550"/>
            <a:ext cx="993835" cy="256458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/>
              <a:t>USB Stack</a:t>
            </a:r>
            <a:endParaRPr lang="en-US" sz="1000" dirty="0" err="1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BFDACC0-746B-5353-64CA-EAE9B41D8CC3}"/>
              </a:ext>
            </a:extLst>
          </p:cNvPr>
          <p:cNvSpPr/>
          <p:nvPr/>
        </p:nvSpPr>
        <p:spPr>
          <a:xfrm>
            <a:off x="2390955" y="2101552"/>
            <a:ext cx="1431985" cy="256458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/>
              <a:t>CDC </a:t>
            </a:r>
            <a:endParaRPr lang="en-US" sz="1000" dirty="0" err="1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D261539-8EE9-29FC-EC94-50B524ABB772}"/>
              </a:ext>
            </a:extLst>
          </p:cNvPr>
          <p:cNvSpPr/>
          <p:nvPr/>
        </p:nvSpPr>
        <p:spPr>
          <a:xfrm>
            <a:off x="2390955" y="2445206"/>
            <a:ext cx="1431985" cy="256458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/>
              <a:t>MSC</a:t>
            </a:r>
            <a:endParaRPr lang="en-US" sz="1000" dirty="0" err="1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47DEEB-4785-3060-4682-6A8BF9B86441}"/>
              </a:ext>
            </a:extLst>
          </p:cNvPr>
          <p:cNvSpPr/>
          <p:nvPr/>
        </p:nvSpPr>
        <p:spPr>
          <a:xfrm>
            <a:off x="2390955" y="1757896"/>
            <a:ext cx="1431985" cy="256458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/>
              <a:t>HID</a:t>
            </a:r>
            <a:endParaRPr lang="en-US" sz="1000" dirty="0" err="1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97020C7-10C8-24A6-10CB-671C2F82257E}"/>
              </a:ext>
            </a:extLst>
          </p:cNvPr>
          <p:cNvCxnSpPr>
            <a:cxnSpLocks/>
            <a:stCxn id="56" idx="3"/>
            <a:endCxn id="59" idx="1"/>
          </p:cNvCxnSpPr>
          <p:nvPr/>
        </p:nvCxnSpPr>
        <p:spPr>
          <a:xfrm flipV="1">
            <a:off x="2125334" y="1886125"/>
            <a:ext cx="265621" cy="343654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4CD25C7-4094-EB4D-8D8D-4E68DF7FA880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2125334" y="2229779"/>
            <a:ext cx="265621" cy="2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AAAF390-5AF9-EFD8-0FC4-F8D88906F8BC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2125334" y="2229779"/>
            <a:ext cx="265621" cy="343656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1AAA4517-86FF-54BB-AB2C-0258ED8E4C76}"/>
              </a:ext>
            </a:extLst>
          </p:cNvPr>
          <p:cNvSpPr/>
          <p:nvPr/>
        </p:nvSpPr>
        <p:spPr>
          <a:xfrm>
            <a:off x="1131499" y="3124252"/>
            <a:ext cx="993835" cy="256458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FreeRTOS</a:t>
            </a:r>
            <a:endParaRPr lang="en-US" sz="1000" dirty="0" err="1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7ACFAE-6DB5-8346-6F7B-F696112423E8}"/>
              </a:ext>
            </a:extLst>
          </p:cNvPr>
          <p:cNvSpPr/>
          <p:nvPr/>
        </p:nvSpPr>
        <p:spPr>
          <a:xfrm>
            <a:off x="2390954" y="3124252"/>
            <a:ext cx="1431985" cy="256459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Cooperative</a:t>
            </a:r>
            <a:r>
              <a:rPr lang="fr-FR" sz="1000" dirty="0"/>
              <a:t> test</a:t>
            </a:r>
            <a:endParaRPr lang="en-US" sz="1000" dirty="0" err="1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D22AB6E-5E23-B330-5807-D05750CA070C}"/>
              </a:ext>
            </a:extLst>
          </p:cNvPr>
          <p:cNvSpPr/>
          <p:nvPr/>
        </p:nvSpPr>
        <p:spPr>
          <a:xfrm>
            <a:off x="2390954" y="3464173"/>
            <a:ext cx="1431985" cy="256459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Preemptive</a:t>
            </a:r>
            <a:r>
              <a:rPr lang="fr-FR" sz="1000" dirty="0"/>
              <a:t> test</a:t>
            </a:r>
            <a:endParaRPr lang="en-US" sz="1000" dirty="0" err="1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C6F906C-DE75-0878-447E-A518B2FD2E09}"/>
              </a:ext>
            </a:extLst>
          </p:cNvPr>
          <p:cNvSpPr/>
          <p:nvPr/>
        </p:nvSpPr>
        <p:spPr>
          <a:xfrm>
            <a:off x="2390954" y="2785498"/>
            <a:ext cx="1431985" cy="256459"/>
          </a:xfrm>
          <a:prstGeom prst="rect">
            <a:avLst/>
          </a:prstGeom>
          <a:solidFill>
            <a:srgbClr val="004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/>
              <a:t>Basic </a:t>
            </a:r>
            <a:r>
              <a:rPr lang="fr-FR" sz="1000" dirty="0" err="1"/>
              <a:t>processing</a:t>
            </a:r>
            <a:r>
              <a:rPr lang="fr-FR" sz="1000" dirty="0"/>
              <a:t> test</a:t>
            </a:r>
            <a:endParaRPr lang="en-US" sz="1000" dirty="0" err="1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777C64E-436B-BF79-16F2-D015081AFBFC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 flipV="1">
            <a:off x="2125334" y="2913728"/>
            <a:ext cx="265620" cy="33875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9B3BF22-A74F-CE54-5E98-A10D544B1A91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2125334" y="3252481"/>
            <a:ext cx="265620" cy="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33C2E35-27A7-8F12-A005-A359C4489D23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>
            <a:off x="2125334" y="3252481"/>
            <a:ext cx="265620" cy="339922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8E2A9D6D-FE40-A241-00B1-3FD2619143C6}"/>
              </a:ext>
            </a:extLst>
          </p:cNvPr>
          <p:cNvSpPr/>
          <p:nvPr/>
        </p:nvSpPr>
        <p:spPr>
          <a:xfrm>
            <a:off x="1131498" y="3741448"/>
            <a:ext cx="993835" cy="256458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FileSystem</a:t>
            </a:r>
            <a:endParaRPr lang="en-US" sz="1000" dirty="0" err="1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0E306A6-4A12-7B9E-6174-D555CE5DE0C0}"/>
              </a:ext>
            </a:extLst>
          </p:cNvPr>
          <p:cNvSpPr/>
          <p:nvPr/>
        </p:nvSpPr>
        <p:spPr>
          <a:xfrm rot="16200000">
            <a:off x="-235668" y="2542003"/>
            <a:ext cx="1279161" cy="461337"/>
          </a:xfrm>
          <a:prstGeom prst="rect">
            <a:avLst/>
          </a:prstGeom>
          <a:solidFill>
            <a:srgbClr val="3AA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400" dirty="0"/>
              <a:t>Initial Scope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85A7767-6D75-015D-ACE3-7C59BAE5B581}"/>
              </a:ext>
            </a:extLst>
          </p:cNvPr>
          <p:cNvCxnSpPr>
            <a:cxnSpLocks/>
            <a:stCxn id="100" idx="2"/>
            <a:endCxn id="56" idx="1"/>
          </p:cNvCxnSpPr>
          <p:nvPr/>
        </p:nvCxnSpPr>
        <p:spPr>
          <a:xfrm flipV="1">
            <a:off x="634581" y="2229779"/>
            <a:ext cx="496918" cy="542892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D5C3933-4F4E-A85B-F7FD-E7430785CB03}"/>
              </a:ext>
            </a:extLst>
          </p:cNvPr>
          <p:cNvCxnSpPr>
            <a:cxnSpLocks/>
            <a:stCxn id="100" idx="2"/>
            <a:endCxn id="63" idx="1"/>
          </p:cNvCxnSpPr>
          <p:nvPr/>
        </p:nvCxnSpPr>
        <p:spPr>
          <a:xfrm>
            <a:off x="634581" y="2772671"/>
            <a:ext cx="496918" cy="47981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AB91D01-A5D3-B957-4AA0-699A21C3F70F}"/>
              </a:ext>
            </a:extLst>
          </p:cNvPr>
          <p:cNvCxnSpPr>
            <a:cxnSpLocks/>
            <a:stCxn id="100" idx="2"/>
            <a:endCxn id="98" idx="1"/>
          </p:cNvCxnSpPr>
          <p:nvPr/>
        </p:nvCxnSpPr>
        <p:spPr>
          <a:xfrm>
            <a:off x="634581" y="2772671"/>
            <a:ext cx="496917" cy="1097006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17486A4-FB6E-3D8B-8092-BE082E4DD072}"/>
              </a:ext>
            </a:extLst>
          </p:cNvPr>
          <p:cNvSpPr/>
          <p:nvPr/>
        </p:nvSpPr>
        <p:spPr>
          <a:xfrm>
            <a:off x="1126111" y="4284340"/>
            <a:ext cx="993835" cy="256458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Footprint</a:t>
            </a:r>
            <a:endParaRPr lang="en-US" sz="1000" dirty="0" err="1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639D6AF-7B1F-31F1-0FD5-B058D86974FB}"/>
              </a:ext>
            </a:extLst>
          </p:cNvPr>
          <p:cNvSpPr/>
          <p:nvPr/>
        </p:nvSpPr>
        <p:spPr>
          <a:xfrm>
            <a:off x="1126109" y="4737951"/>
            <a:ext cx="993835" cy="339922"/>
          </a:xfrm>
          <a:prstGeom prst="rect">
            <a:avLst/>
          </a:prstGeom>
          <a:solidFill>
            <a:srgbClr val="2F8A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Initialization</a:t>
            </a:r>
            <a:r>
              <a:rPr lang="fr-FR" sz="1000" dirty="0"/>
              <a:t> / </a:t>
            </a:r>
            <a:r>
              <a:rPr lang="fr-FR" sz="1000" dirty="0" err="1"/>
              <a:t>Bring</a:t>
            </a:r>
            <a:r>
              <a:rPr lang="fr-FR" sz="1000" dirty="0"/>
              <a:t>-up Time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F09D0AD-83D5-39F3-EA86-2DC086D5BA37}"/>
              </a:ext>
            </a:extLst>
          </p:cNvPr>
          <p:cNvSpPr/>
          <p:nvPr/>
        </p:nvSpPr>
        <p:spPr>
          <a:xfrm>
            <a:off x="1126110" y="5335048"/>
            <a:ext cx="993835" cy="256458"/>
          </a:xfrm>
          <a:prstGeom prst="rect">
            <a:avLst/>
          </a:prstGeom>
          <a:solidFill>
            <a:srgbClr val="2F8A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Latency</a:t>
            </a:r>
            <a:endParaRPr lang="fr-FR" sz="10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F5B9C8-6784-952E-87E7-D01D5BA64FB8}"/>
              </a:ext>
            </a:extLst>
          </p:cNvPr>
          <p:cNvSpPr/>
          <p:nvPr/>
        </p:nvSpPr>
        <p:spPr>
          <a:xfrm>
            <a:off x="1131498" y="5857859"/>
            <a:ext cx="993835" cy="256458"/>
          </a:xfrm>
          <a:prstGeom prst="rect">
            <a:avLst/>
          </a:prstGeom>
          <a:solidFill>
            <a:srgbClr val="2F8A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Throughput</a:t>
            </a:r>
            <a:endParaRPr lang="en-US" sz="1000" dirty="0" err="1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80B40D5-A66A-CABB-F681-733E6D8723D9}"/>
              </a:ext>
            </a:extLst>
          </p:cNvPr>
          <p:cNvSpPr/>
          <p:nvPr/>
        </p:nvSpPr>
        <p:spPr>
          <a:xfrm rot="16200000">
            <a:off x="-549265" y="4971269"/>
            <a:ext cx="1835195" cy="461337"/>
          </a:xfrm>
          <a:prstGeom prst="rect">
            <a:avLst/>
          </a:prstGeom>
          <a:solidFill>
            <a:srgbClr val="3AA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400" dirty="0" err="1"/>
              <a:t>Comparison</a:t>
            </a:r>
            <a:r>
              <a:rPr lang="fr-FR" sz="1400" dirty="0"/>
              <a:t> Focus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19AA145-D0CA-F472-DD68-5D4FC3A716BB}"/>
              </a:ext>
            </a:extLst>
          </p:cNvPr>
          <p:cNvCxnSpPr>
            <a:cxnSpLocks/>
            <a:stCxn id="117" idx="2"/>
            <a:endCxn id="113" idx="1"/>
          </p:cNvCxnSpPr>
          <p:nvPr/>
        </p:nvCxnSpPr>
        <p:spPr>
          <a:xfrm flipV="1">
            <a:off x="599001" y="4412569"/>
            <a:ext cx="527110" cy="789368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8AF7D63-73B6-25F7-B3D7-FBB1691546CA}"/>
              </a:ext>
            </a:extLst>
          </p:cNvPr>
          <p:cNvCxnSpPr>
            <a:cxnSpLocks/>
            <a:stCxn id="117" idx="2"/>
            <a:endCxn id="114" idx="1"/>
          </p:cNvCxnSpPr>
          <p:nvPr/>
        </p:nvCxnSpPr>
        <p:spPr>
          <a:xfrm flipV="1">
            <a:off x="599001" y="4907912"/>
            <a:ext cx="527108" cy="29402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5083CF3-8B39-313E-2277-39B08414CBBE}"/>
              </a:ext>
            </a:extLst>
          </p:cNvPr>
          <p:cNvCxnSpPr>
            <a:cxnSpLocks/>
            <a:stCxn id="117" idx="2"/>
            <a:endCxn id="115" idx="1"/>
          </p:cNvCxnSpPr>
          <p:nvPr/>
        </p:nvCxnSpPr>
        <p:spPr>
          <a:xfrm>
            <a:off x="599001" y="5201937"/>
            <a:ext cx="527109" cy="26134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0E90BFE2-8945-79AE-1079-080CF89E28E7}"/>
              </a:ext>
            </a:extLst>
          </p:cNvPr>
          <p:cNvCxnSpPr>
            <a:cxnSpLocks/>
            <a:stCxn id="117" idx="2"/>
            <a:endCxn id="116" idx="1"/>
          </p:cNvCxnSpPr>
          <p:nvPr/>
        </p:nvCxnSpPr>
        <p:spPr>
          <a:xfrm>
            <a:off x="599001" y="5201937"/>
            <a:ext cx="532497" cy="78415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458E1FE-C3B8-DC45-047D-CE69742C4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940" y="1754250"/>
            <a:ext cx="5969479" cy="5096018"/>
          </a:xfrm>
          <a:prstGeom prst="rect">
            <a:avLst/>
          </a:prstGeom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491BAA58-30E3-90B9-96A2-11356FD04743}"/>
              </a:ext>
            </a:extLst>
          </p:cNvPr>
          <p:cNvSpPr txBox="1">
            <a:spLocks/>
          </p:cNvSpPr>
          <p:nvPr/>
        </p:nvSpPr>
        <p:spPr>
          <a:xfrm>
            <a:off x="6501083" y="1221683"/>
            <a:ext cx="6343649" cy="390523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052911-08D7-4888-72FA-C8E3C9C77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147" y="3854609"/>
            <a:ext cx="644931" cy="64493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FE0-5DC6-05E7-600C-B464AA4F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7</a:t>
            </a:fld>
            <a:endParaRPr lang="en-US"/>
          </a:p>
        </p:txBody>
      </p:sp>
      <p:sp>
        <p:nvSpPr>
          <p:cNvPr id="9" name="TextBox 47">
            <a:extLst>
              <a:ext uri="{FF2B5EF4-FFF2-40B4-BE49-F238E27FC236}">
                <a16:creationId xmlns:a16="http://schemas.microsoft.com/office/drawing/2014/main" id="{136E05FA-CEE1-6286-AD44-48A8DEA91DCF}"/>
              </a:ext>
            </a:extLst>
          </p:cNvPr>
          <p:cNvSpPr txBox="1"/>
          <p:nvPr/>
        </p:nvSpPr>
        <p:spPr>
          <a:xfrm>
            <a:off x="3822939" y="3975306"/>
            <a:ext cx="2029742" cy="5404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Benchmark Support Tooling</a:t>
            </a:r>
          </a:p>
        </p:txBody>
      </p:sp>
      <p:sp>
        <p:nvSpPr>
          <p:cNvPr id="10" name="TextBox 43">
            <a:extLst>
              <a:ext uri="{FF2B5EF4-FFF2-40B4-BE49-F238E27FC236}">
                <a16:creationId xmlns:a16="http://schemas.microsoft.com/office/drawing/2014/main" id="{457C0407-9565-6E38-594F-CD3B4576E74B}"/>
              </a:ext>
            </a:extLst>
          </p:cNvPr>
          <p:cNvSpPr txBox="1"/>
          <p:nvPr/>
        </p:nvSpPr>
        <p:spPr>
          <a:xfrm>
            <a:off x="3717363" y="4640581"/>
            <a:ext cx="4010373" cy="1098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Custom tools were developed to automate map-file analysis, compare cross-vendor footprint deltas, and support AI-assisted scenario porting, build, debug, and result interpretation.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A9EC9B-7707-0F61-45BF-13FBB2BA6A4C}"/>
              </a:ext>
            </a:extLst>
          </p:cNvPr>
          <p:cNvSpPr/>
          <p:nvPr/>
        </p:nvSpPr>
        <p:spPr>
          <a:xfrm>
            <a:off x="1131497" y="2076462"/>
            <a:ext cx="993835" cy="256458"/>
          </a:xfrm>
          <a:prstGeom prst="rect">
            <a:avLst/>
          </a:prstGeom>
          <a:solidFill>
            <a:srgbClr val="2F8A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/>
              <a:t>USB Stack</a:t>
            </a:r>
            <a:endParaRPr lang="en-US" sz="1000" dirty="0" err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9D0B8A-4652-5B16-DABA-361178D4844D}"/>
              </a:ext>
            </a:extLst>
          </p:cNvPr>
          <p:cNvSpPr/>
          <p:nvPr/>
        </p:nvSpPr>
        <p:spPr>
          <a:xfrm>
            <a:off x="1131497" y="3099164"/>
            <a:ext cx="993835" cy="256458"/>
          </a:xfrm>
          <a:prstGeom prst="rect">
            <a:avLst/>
          </a:prstGeom>
          <a:solidFill>
            <a:srgbClr val="2F8A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FreeRTOS</a:t>
            </a:r>
            <a:endParaRPr lang="en-US" sz="1000" dirty="0" err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9F5B0F-854D-3F6B-C0B4-ED26E6AF02F9}"/>
              </a:ext>
            </a:extLst>
          </p:cNvPr>
          <p:cNvSpPr/>
          <p:nvPr/>
        </p:nvSpPr>
        <p:spPr>
          <a:xfrm>
            <a:off x="1131496" y="3716360"/>
            <a:ext cx="993835" cy="256458"/>
          </a:xfrm>
          <a:prstGeom prst="rect">
            <a:avLst/>
          </a:prstGeom>
          <a:solidFill>
            <a:srgbClr val="2F8A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FileSystem</a:t>
            </a:r>
            <a:endParaRPr lang="en-US" sz="1000" dirty="0" err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F8783E-E52E-6736-268D-52D3D77B7854}"/>
              </a:ext>
            </a:extLst>
          </p:cNvPr>
          <p:cNvSpPr/>
          <p:nvPr/>
        </p:nvSpPr>
        <p:spPr>
          <a:xfrm>
            <a:off x="1126109" y="4259252"/>
            <a:ext cx="993835" cy="256458"/>
          </a:xfrm>
          <a:prstGeom prst="rect">
            <a:avLst/>
          </a:prstGeom>
          <a:solidFill>
            <a:srgbClr val="2F8A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fr-FR" sz="1000" dirty="0" err="1"/>
              <a:t>Footprint</a:t>
            </a:r>
            <a:endParaRPr lang="en-US" sz="1000" dirty="0" err="1"/>
          </a:p>
        </p:txBody>
      </p:sp>
    </p:spTree>
    <p:extLst>
      <p:ext uri="{BB962C8B-B14F-4D97-AF65-F5344CB8AC3E}">
        <p14:creationId xmlns:p14="http://schemas.microsoft.com/office/powerpoint/2010/main" val="309611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721ED2-B76F-68FF-E9FF-C388B7C4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5">
            <a:extLst>
              <a:ext uri="{FF2B5EF4-FFF2-40B4-BE49-F238E27FC236}">
                <a16:creationId xmlns:a16="http://schemas.microsoft.com/office/drawing/2014/main" id="{FEBD71F1-3640-6AE7-9BBF-AD23D6B2B236}"/>
              </a:ext>
            </a:extLst>
          </p:cNvPr>
          <p:cNvGrpSpPr/>
          <p:nvPr/>
        </p:nvGrpSpPr>
        <p:grpSpPr>
          <a:xfrm>
            <a:off x="5897582" y="877528"/>
            <a:ext cx="5479661" cy="5359353"/>
            <a:chOff x="0" y="-19050"/>
            <a:chExt cx="1207699" cy="704147"/>
          </a:xfrm>
        </p:grpSpPr>
        <p:sp>
          <p:nvSpPr>
            <p:cNvPr id="130" name="Freeform 6">
              <a:extLst>
                <a:ext uri="{FF2B5EF4-FFF2-40B4-BE49-F238E27FC236}">
                  <a16:creationId xmlns:a16="http://schemas.microsoft.com/office/drawing/2014/main" id="{3F71780A-B9A6-FF71-66BC-EA80AABA1BA2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1" name="TextBox 7">
              <a:extLst>
                <a:ext uri="{FF2B5EF4-FFF2-40B4-BE49-F238E27FC236}">
                  <a16:creationId xmlns:a16="http://schemas.microsoft.com/office/drawing/2014/main" id="{057654B1-8953-1417-198A-5AA8677A123F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96" name="Title 2">
            <a:extLst>
              <a:ext uri="{FF2B5EF4-FFF2-40B4-BE49-F238E27FC236}">
                <a16:creationId xmlns:a16="http://schemas.microsoft.com/office/drawing/2014/main" id="{A9378123-08EC-4C80-51EA-970C7DAA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dirty="0"/>
              <a:t>ST Competitors MW Benchmark: USB Stack</a:t>
            </a:r>
            <a:br>
              <a:rPr lang="en-US" b="1" dirty="0"/>
            </a:br>
            <a:r>
              <a:rPr lang="en-US" sz="2400" b="1" dirty="0">
                <a:solidFill>
                  <a:schemeClr val="accent2"/>
                </a:solidFill>
              </a:rPr>
              <a:t>ST vs GD32</a:t>
            </a:r>
            <a:br>
              <a:rPr lang="en-US" sz="2400" b="1" dirty="0">
                <a:solidFill>
                  <a:schemeClr val="accent2"/>
                </a:solidFill>
              </a:rPr>
            </a:b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197" name="Slide Number Placeholder 1">
            <a:extLst>
              <a:ext uri="{FF2B5EF4-FFF2-40B4-BE49-F238E27FC236}">
                <a16:creationId xmlns:a16="http://schemas.microsoft.com/office/drawing/2014/main" id="{5CF6DCF5-9439-8F4F-940F-049B6F99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/>
          <a:lstStyle/>
          <a:p>
            <a:fld id="{40A7B169-58CE-4E65-B1F9-ACF9E46440C2}" type="slidenum">
              <a:rPr lang="en-US" smtClean="0"/>
              <a:t>8</a:t>
            </a:fld>
            <a:endParaRPr lang="en-US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08D82E7A-3D56-78FF-70DA-11642426B311}"/>
              </a:ext>
            </a:extLst>
          </p:cNvPr>
          <p:cNvGrpSpPr/>
          <p:nvPr/>
        </p:nvGrpSpPr>
        <p:grpSpPr>
          <a:xfrm>
            <a:off x="224424" y="874026"/>
            <a:ext cx="5479661" cy="5359353"/>
            <a:chOff x="0" y="-19050"/>
            <a:chExt cx="1207699" cy="704147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93403B2-5D92-F6CD-65C4-6535F139AAAA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848D004A-9EEB-E2F8-8F5E-6FB941E4E5E5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6" name="TextBox 47">
            <a:extLst>
              <a:ext uri="{FF2B5EF4-FFF2-40B4-BE49-F238E27FC236}">
                <a16:creationId xmlns:a16="http://schemas.microsoft.com/office/drawing/2014/main" id="{45A9B4CB-F155-3B9C-737A-38E282E4FB3C}"/>
              </a:ext>
            </a:extLst>
          </p:cNvPr>
          <p:cNvSpPr txBox="1"/>
          <p:nvPr/>
        </p:nvSpPr>
        <p:spPr>
          <a:xfrm>
            <a:off x="1527517" y="1219766"/>
            <a:ext cx="2679977" cy="258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USB Benchmarking Scope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494FCA8-7E46-E126-2049-42A70BF48B41}"/>
              </a:ext>
            </a:extLst>
          </p:cNvPr>
          <p:cNvSpPr txBox="1"/>
          <p:nvPr/>
        </p:nvSpPr>
        <p:spPr>
          <a:xfrm>
            <a:off x="433363" y="1750085"/>
            <a:ext cx="5270721" cy="391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This section presents the USB Device benchmarking work performed across the three selected standard classes: HID, CDC, and MSC. The objective was to compare the middleware behavior of STM32 and GigaDevice implementations under equivalent application scenarios, while focusing on the most relevant USB performance indicators.</a:t>
            </a:r>
          </a:p>
          <a:p>
            <a:pPr>
              <a:lnSpc>
                <a:spcPts val="2240"/>
              </a:lnSpc>
              <a:spcBef>
                <a:spcPct val="0"/>
              </a:spcBef>
            </a:pPr>
            <a:endParaRPr lang="en-US" sz="1200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comparison emphasized code footprint, initialization and enumeration behavior, communication latency, and transfer performance. In addition to class-level scenarios, particular attention was given to descriptor handling, host interaction, and class-specific transfer semantics, since these factors directly affect fairness and result interpretation.</a:t>
            </a:r>
          </a:p>
          <a:p>
            <a:pPr>
              <a:lnSpc>
                <a:spcPts val="2240"/>
              </a:lnSpc>
              <a:spcBef>
                <a:spcPct val="0"/>
              </a:spcBef>
            </a:pPr>
            <a:endParaRPr lang="en-US" sz="1200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following slides detail the benchmark methodology, the implemented scenarios, and the observations collected for each USB class.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5891FF-BB2A-8909-FB3C-107503DAD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57" y="1026438"/>
            <a:ext cx="644931" cy="644931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B3B901DA-3172-624C-D048-0019DBE77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766" y="1154273"/>
            <a:ext cx="4872845" cy="487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71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F008F-7831-56F0-0AFF-1BACE347D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571E5C04-9913-6087-4F27-4ABEDCC8DCEA}"/>
              </a:ext>
            </a:extLst>
          </p:cNvPr>
          <p:cNvSpPr txBox="1"/>
          <p:nvPr/>
        </p:nvSpPr>
        <p:spPr>
          <a:xfrm>
            <a:off x="6206540" y="1199676"/>
            <a:ext cx="5561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BareMetal mode : ST/GD USB Library USB HID device class</a:t>
            </a:r>
          </a:p>
          <a:p>
            <a:r>
              <a:rPr lang="en-US" sz="1000" b="1" dirty="0">
                <a:solidFill>
                  <a:srgbClr val="002060"/>
                </a:solidFill>
              </a:rPr>
              <a:t>STM32U575xx (CM33) vs GD32E507(CM33)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7C46F8A-70E8-E89A-FF44-9508696193E1}"/>
              </a:ext>
            </a:extLst>
          </p:cNvPr>
          <p:cNvCxnSpPr>
            <a:cxnSpLocks/>
          </p:cNvCxnSpPr>
          <p:nvPr/>
        </p:nvCxnSpPr>
        <p:spPr>
          <a:xfrm flipH="1" flipV="1">
            <a:off x="6083340" y="1411101"/>
            <a:ext cx="12660" cy="5356379"/>
          </a:xfrm>
          <a:prstGeom prst="line">
            <a:avLst/>
          </a:prstGeom>
          <a:ln w="28575">
            <a:solidFill>
              <a:schemeClr val="accent1">
                <a:lumMod val="50000"/>
                <a:lumOff val="5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0E1C06D2-48EC-2338-2673-D8DED2EDDE49}"/>
              </a:ext>
            </a:extLst>
          </p:cNvPr>
          <p:cNvSpPr txBox="1"/>
          <p:nvPr/>
        </p:nvSpPr>
        <p:spPr>
          <a:xfrm>
            <a:off x="116732" y="1179447"/>
            <a:ext cx="5435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BareMetal mode : ST/GD USB Library CDC device class</a:t>
            </a:r>
          </a:p>
          <a:p>
            <a:r>
              <a:rPr lang="en-US" sz="1000" b="1" dirty="0">
                <a:solidFill>
                  <a:srgbClr val="002060"/>
                </a:solidFill>
              </a:rPr>
              <a:t>STM32U575xx (CM33) vs GD32E507(CM33)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9CFE78C-A861-8AB3-5718-046EEB89666B}"/>
              </a:ext>
            </a:extLst>
          </p:cNvPr>
          <p:cNvGrpSpPr/>
          <p:nvPr/>
        </p:nvGrpSpPr>
        <p:grpSpPr>
          <a:xfrm>
            <a:off x="6615167" y="2075757"/>
            <a:ext cx="5364138" cy="3582567"/>
            <a:chOff x="7715354" y="1881323"/>
            <a:chExt cx="4697339" cy="3119226"/>
          </a:xfrm>
        </p:grpSpPr>
        <p:cxnSp>
          <p:nvCxnSpPr>
            <p:cNvPr id="140" name="Connector: Elbow 139">
              <a:extLst>
                <a:ext uri="{FF2B5EF4-FFF2-40B4-BE49-F238E27FC236}">
                  <a16:creationId xmlns:a16="http://schemas.microsoft.com/office/drawing/2014/main" id="{D10CF031-2103-283B-6C72-C031C9C69A8E}"/>
                </a:ext>
              </a:extLst>
            </p:cNvPr>
            <p:cNvCxnSpPr>
              <a:cxnSpLocks/>
              <a:stCxn id="157" idx="3"/>
              <a:endCxn id="157" idx="0"/>
            </p:cNvCxnSpPr>
            <p:nvPr/>
          </p:nvCxnSpPr>
          <p:spPr>
            <a:xfrm flipH="1" flipV="1">
              <a:off x="8469213" y="3331550"/>
              <a:ext cx="743747" cy="242993"/>
            </a:xfrm>
            <a:prstGeom prst="bentConnector4">
              <a:avLst>
                <a:gd name="adj1" fmla="val -30736"/>
                <a:gd name="adj2" fmla="val 152265"/>
              </a:avLst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2C0B9A13-474A-A61B-AD31-4E990B3F0F0A}"/>
                </a:ext>
              </a:extLst>
            </p:cNvPr>
            <p:cNvGrpSpPr/>
            <p:nvPr/>
          </p:nvGrpSpPr>
          <p:grpSpPr>
            <a:xfrm>
              <a:off x="7715354" y="1881323"/>
              <a:ext cx="4697339" cy="3119226"/>
              <a:chOff x="97665" y="1814154"/>
              <a:chExt cx="4697339" cy="3119226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D1AFFB72-BCAC-AFD7-7EE1-C00C202129D5}"/>
                  </a:ext>
                </a:extLst>
              </p:cNvPr>
              <p:cNvGrpSpPr/>
              <p:nvPr/>
            </p:nvGrpSpPr>
            <p:grpSpPr>
              <a:xfrm>
                <a:off x="97665" y="1814154"/>
                <a:ext cx="1801637" cy="2987143"/>
                <a:chOff x="97665" y="1814154"/>
                <a:chExt cx="1801637" cy="2987143"/>
              </a:xfrm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87EF189D-B333-D13B-18D0-6EF9FA19CFE9}"/>
                    </a:ext>
                  </a:extLst>
                </p:cNvPr>
                <p:cNvGrpSpPr/>
                <p:nvPr/>
              </p:nvGrpSpPr>
              <p:grpSpPr>
                <a:xfrm>
                  <a:off x="97665" y="1814154"/>
                  <a:ext cx="1737628" cy="2987143"/>
                  <a:chOff x="857847" y="1024959"/>
                  <a:chExt cx="1612605" cy="3065912"/>
                </a:xfrm>
              </p:grpSpPr>
              <p:grpSp>
                <p:nvGrpSpPr>
                  <p:cNvPr id="150" name="Group 149">
                    <a:extLst>
                      <a:ext uri="{FF2B5EF4-FFF2-40B4-BE49-F238E27FC236}">
                        <a16:creationId xmlns:a16="http://schemas.microsoft.com/office/drawing/2014/main" id="{57428CAE-3937-4E6F-B57C-A109A58DEE38}"/>
                      </a:ext>
                    </a:extLst>
                  </p:cNvPr>
                  <p:cNvGrpSpPr/>
                  <p:nvPr/>
                </p:nvGrpSpPr>
                <p:grpSpPr>
                  <a:xfrm>
                    <a:off x="857847" y="1330662"/>
                    <a:ext cx="1612605" cy="2760209"/>
                    <a:chOff x="359389" y="2245433"/>
                    <a:chExt cx="1612605" cy="2760209"/>
                  </a:xfrm>
                </p:grpSpPr>
                <p:sp>
                  <p:nvSpPr>
                    <p:cNvPr id="152" name="Rectangle 151">
                      <a:extLst>
                        <a:ext uri="{FF2B5EF4-FFF2-40B4-BE49-F238E27FC236}">
                          <a16:creationId xmlns:a16="http://schemas.microsoft.com/office/drawing/2014/main" id="{D83CF214-4C94-6A26-E31C-FFE7F68523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664" y="2943050"/>
                      <a:ext cx="1387575" cy="265097"/>
                    </a:xfrm>
                    <a:prstGeom prst="rect">
                      <a:avLst/>
                    </a:prstGeom>
                    <a:ln/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Clr>
                          <a:schemeClr val="bg1"/>
                        </a:buClr>
                      </a:pPr>
                      <a:r>
                        <a:rPr lang="fr-FR" sz="800">
                          <a:solidFill>
                            <a:schemeClr val="tx1"/>
                          </a:solidFill>
                        </a:rPr>
                        <a:t> USB </a:t>
                      </a:r>
                      <a:r>
                        <a:rPr lang="fr-FR" sz="800" err="1">
                          <a:solidFill>
                            <a:schemeClr val="tx1"/>
                          </a:solidFill>
                        </a:rPr>
                        <a:t>Device</a:t>
                      </a:r>
                      <a:r>
                        <a:rPr lang="fr-FR" sz="800">
                          <a:solidFill>
                            <a:schemeClr val="tx1"/>
                          </a:solidFill>
                        </a:rPr>
                        <a:t> Init</a:t>
                      </a:r>
                    </a:p>
                  </p:txBody>
                </p:sp>
                <p:cxnSp>
                  <p:nvCxnSpPr>
                    <p:cNvPr id="153" name="Straight Arrow Connector 152">
                      <a:extLst>
                        <a:ext uri="{FF2B5EF4-FFF2-40B4-BE49-F238E27FC236}">
                          <a16:creationId xmlns:a16="http://schemas.microsoft.com/office/drawing/2014/main" id="{23174B6E-073A-5E26-85CE-8852BF0307F0}"/>
                        </a:ext>
                      </a:extLst>
                    </p:cNvPr>
                    <p:cNvCxnSpPr>
                      <a:cxnSpLocks/>
                      <a:stCxn id="152" idx="2"/>
                      <a:endCxn id="157" idx="0"/>
                    </p:cNvCxnSpPr>
                    <p:nvPr/>
                  </p:nvCxnSpPr>
                  <p:spPr>
                    <a:xfrm>
                      <a:off x="1055452" y="3208147"/>
                      <a:ext cx="3554" cy="220052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54" name="Straight Arrow Connector 153">
                      <a:extLst>
                        <a:ext uri="{FF2B5EF4-FFF2-40B4-BE49-F238E27FC236}">
                          <a16:creationId xmlns:a16="http://schemas.microsoft.com/office/drawing/2014/main" id="{94B3C42E-B802-0715-06A7-F285B03856DD}"/>
                        </a:ext>
                      </a:extLst>
                    </p:cNvPr>
                    <p:cNvCxnSpPr>
                      <a:cxnSpLocks/>
                      <a:stCxn id="151" idx="4"/>
                      <a:endCxn id="155" idx="0"/>
                    </p:cNvCxnSpPr>
                    <p:nvPr/>
                  </p:nvCxnSpPr>
                  <p:spPr>
                    <a:xfrm>
                      <a:off x="1055452" y="2245433"/>
                      <a:ext cx="0" cy="213815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sp>
                  <p:nvSpPr>
                    <p:cNvPr id="155" name="Rectangle 154">
                      <a:extLst>
                        <a:ext uri="{FF2B5EF4-FFF2-40B4-BE49-F238E27FC236}">
                          <a16:creationId xmlns:a16="http://schemas.microsoft.com/office/drawing/2014/main" id="{39578CD9-F9C3-0D0F-6823-C795E84987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664" y="2459248"/>
                      <a:ext cx="1387575" cy="286627"/>
                    </a:xfrm>
                    <a:prstGeom prst="rect">
                      <a:avLst/>
                    </a:prstGeom>
                    <a:ln/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Clr>
                          <a:schemeClr val="bg1"/>
                        </a:buClr>
                      </a:pPr>
                      <a:r>
                        <a:rPr lang="fr-FR" sz="800" err="1">
                          <a:solidFill>
                            <a:schemeClr val="tx1"/>
                          </a:solidFill>
                        </a:rPr>
                        <a:t>Clock</a:t>
                      </a:r>
                      <a:r>
                        <a:rPr lang="fr-FR" sz="800">
                          <a:solidFill>
                            <a:schemeClr val="tx1"/>
                          </a:solidFill>
                        </a:rPr>
                        <a:t> configuration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56" name="Straight Arrow Connector 155">
                      <a:extLst>
                        <a:ext uri="{FF2B5EF4-FFF2-40B4-BE49-F238E27FC236}">
                          <a16:creationId xmlns:a16="http://schemas.microsoft.com/office/drawing/2014/main" id="{C68CA516-F594-01FF-237D-3B15023A7BCB}"/>
                        </a:ext>
                      </a:extLst>
                    </p:cNvPr>
                    <p:cNvCxnSpPr>
                      <a:cxnSpLocks/>
                      <a:stCxn id="155" idx="2"/>
                      <a:endCxn id="152" idx="0"/>
                    </p:cNvCxnSpPr>
                    <p:nvPr/>
                  </p:nvCxnSpPr>
                  <p:spPr>
                    <a:xfrm>
                      <a:off x="1055452" y="2745875"/>
                      <a:ext cx="0" cy="197175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sp>
                  <p:nvSpPr>
                    <p:cNvPr id="157" name="Diamond 156">
                      <a:extLst>
                        <a:ext uri="{FF2B5EF4-FFF2-40B4-BE49-F238E27FC236}">
                          <a16:creationId xmlns:a16="http://schemas.microsoft.com/office/drawing/2014/main" id="{064B7825-E262-4243-99AD-8282E74BE8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8771" y="3428199"/>
                      <a:ext cx="1380468" cy="498801"/>
                    </a:xfrm>
                    <a:prstGeom prst="diamond">
                      <a:avLst/>
                    </a:prstGeom>
                    <a:ln/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FFFFFF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FFFFFF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FFFFFF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FFFFFF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FFFFFF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FFFFFF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FFFFFF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FFFFFF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FFFFFF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buClr>
                          <a:srgbClr val="FFFFFF"/>
                        </a:buClr>
                      </a:pPr>
                      <a:r>
                        <a:rPr lang="fr-FR" sz="800">
                          <a:solidFill>
                            <a:schemeClr val="tx1"/>
                          </a:solidFill>
                        </a:rPr>
                        <a:t>Is </a:t>
                      </a:r>
                      <a:r>
                        <a:rPr lang="fr-FR" sz="800" err="1">
                          <a:solidFill>
                            <a:schemeClr val="tx1"/>
                          </a:solidFill>
                        </a:rPr>
                        <a:t>device</a:t>
                      </a:r>
                      <a:r>
                        <a:rPr lang="fr-FR" sz="8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sz="800" err="1">
                          <a:solidFill>
                            <a:schemeClr val="tx1"/>
                          </a:solidFill>
                        </a:rPr>
                        <a:t>inserted</a:t>
                      </a:r>
                      <a:r>
                        <a:rPr lang="fr-FR" sz="800">
                          <a:solidFill>
                            <a:schemeClr val="tx1"/>
                          </a:solidFill>
                        </a:rPr>
                        <a:t> ?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8" name="Rectangle 157">
                      <a:extLst>
                        <a:ext uri="{FF2B5EF4-FFF2-40B4-BE49-F238E27FC236}">
                          <a16:creationId xmlns:a16="http://schemas.microsoft.com/office/drawing/2014/main" id="{A0D3CC78-1C50-ACA5-70D0-E4B2CB4130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9389" y="4147079"/>
                      <a:ext cx="1389850" cy="286627"/>
                    </a:xfrm>
                    <a:prstGeom prst="rect">
                      <a:avLst/>
                    </a:prstGeom>
                    <a:ln/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Clr>
                          <a:schemeClr val="bg1"/>
                        </a:buClr>
                      </a:pPr>
                      <a:r>
                        <a:rPr lang="fr-FR" sz="800">
                          <a:solidFill>
                            <a:schemeClr val="tx1"/>
                          </a:solidFill>
                        </a:rPr>
                        <a:t>USB </a:t>
                      </a:r>
                      <a:r>
                        <a:rPr lang="fr-FR" sz="800" err="1">
                          <a:solidFill>
                            <a:schemeClr val="tx1"/>
                          </a:solidFill>
                        </a:rPr>
                        <a:t>enemeration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59" name="Straight Arrow Connector 158">
                      <a:extLst>
                        <a:ext uri="{FF2B5EF4-FFF2-40B4-BE49-F238E27FC236}">
                          <a16:creationId xmlns:a16="http://schemas.microsoft.com/office/drawing/2014/main" id="{AA1E40DD-33BA-904D-96B8-81E51E1F0584}"/>
                        </a:ext>
                      </a:extLst>
                    </p:cNvPr>
                    <p:cNvCxnSpPr>
                      <a:cxnSpLocks/>
                      <a:stCxn id="157" idx="2"/>
                      <a:endCxn id="158" idx="0"/>
                    </p:cNvCxnSpPr>
                    <p:nvPr/>
                  </p:nvCxnSpPr>
                  <p:spPr>
                    <a:xfrm flipH="1">
                      <a:off x="1054314" y="3927000"/>
                      <a:ext cx="4690" cy="220079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0" name="Straight Arrow Connector 159">
                      <a:extLst>
                        <a:ext uri="{FF2B5EF4-FFF2-40B4-BE49-F238E27FC236}">
                          <a16:creationId xmlns:a16="http://schemas.microsoft.com/office/drawing/2014/main" id="{BE988F29-9463-9907-CE54-94C99070BB7C}"/>
                        </a:ext>
                      </a:extLst>
                    </p:cNvPr>
                    <p:cNvCxnSpPr>
                      <a:cxnSpLocks/>
                      <a:stCxn id="158" idx="2"/>
                      <a:endCxn id="161" idx="0"/>
                    </p:cNvCxnSpPr>
                    <p:nvPr/>
                  </p:nvCxnSpPr>
                  <p:spPr>
                    <a:xfrm>
                      <a:off x="1054314" y="4433706"/>
                      <a:ext cx="0" cy="285309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sp>
                  <p:nvSpPr>
                    <p:cNvPr id="161" name="Rectangle 160">
                      <a:extLst>
                        <a:ext uri="{FF2B5EF4-FFF2-40B4-BE49-F238E27FC236}">
                          <a16:creationId xmlns:a16="http://schemas.microsoft.com/office/drawing/2014/main" id="{F8DAD661-2BD0-6D2E-D321-E0C3626165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9389" y="4719015"/>
                      <a:ext cx="1389850" cy="286627"/>
                    </a:xfrm>
                    <a:prstGeom prst="rect">
                      <a:avLst/>
                    </a:prstGeom>
                    <a:ln/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Clr>
                          <a:schemeClr val="bg1"/>
                        </a:buClr>
                      </a:pPr>
                      <a:r>
                        <a:rPr lang="fr-FR" sz="800" err="1">
                          <a:solidFill>
                            <a:schemeClr val="tx1"/>
                          </a:solidFill>
                        </a:rPr>
                        <a:t>Send</a:t>
                      </a:r>
                      <a:r>
                        <a:rPr lang="fr-FR" sz="800">
                          <a:solidFill>
                            <a:schemeClr val="tx1"/>
                          </a:solidFill>
                        </a:rPr>
                        <a:t> mouse report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62" name="Straight Arrow Connector 161">
                      <a:extLst>
                        <a:ext uri="{FF2B5EF4-FFF2-40B4-BE49-F238E27FC236}">
                          <a16:creationId xmlns:a16="http://schemas.microsoft.com/office/drawing/2014/main" id="{0343401D-7407-804A-3DF5-13F194DDA0B0}"/>
                        </a:ext>
                      </a:extLst>
                    </p:cNvPr>
                    <p:cNvCxnSpPr>
                      <a:cxnSpLocks/>
                      <a:stCxn id="155" idx="3"/>
                      <a:endCxn id="143" idx="1"/>
                    </p:cNvCxnSpPr>
                    <p:nvPr/>
                  </p:nvCxnSpPr>
                  <p:spPr>
                    <a:xfrm flipV="1">
                      <a:off x="1749238" y="2562643"/>
                      <a:ext cx="222755" cy="39919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3" name="Straight Arrow Connector 162">
                      <a:extLst>
                        <a:ext uri="{FF2B5EF4-FFF2-40B4-BE49-F238E27FC236}">
                          <a16:creationId xmlns:a16="http://schemas.microsoft.com/office/drawing/2014/main" id="{AEAE59D1-C4EE-A22E-0F76-D4B0588EA639}"/>
                        </a:ext>
                      </a:extLst>
                    </p:cNvPr>
                    <p:cNvCxnSpPr>
                      <a:cxnSpLocks/>
                      <a:stCxn id="152" idx="3"/>
                      <a:endCxn id="144" idx="1"/>
                    </p:cNvCxnSpPr>
                    <p:nvPr/>
                  </p:nvCxnSpPr>
                  <p:spPr>
                    <a:xfrm flipV="1">
                      <a:off x="1749239" y="2983449"/>
                      <a:ext cx="222755" cy="92150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64" name="Connector: Elbow 163">
                      <a:extLst>
                        <a:ext uri="{FF2B5EF4-FFF2-40B4-BE49-F238E27FC236}">
                          <a16:creationId xmlns:a16="http://schemas.microsoft.com/office/drawing/2014/main" id="{16963DF0-841F-1FD7-6C4A-891858915CDF}"/>
                        </a:ext>
                      </a:extLst>
                    </p:cNvPr>
                    <p:cNvCxnSpPr>
                      <a:cxnSpLocks/>
                      <a:stCxn id="161" idx="2"/>
                      <a:endCxn id="157" idx="1"/>
                    </p:cNvCxnSpPr>
                    <p:nvPr/>
                  </p:nvCxnSpPr>
                  <p:spPr>
                    <a:xfrm rot="5400000" flipH="1">
                      <a:off x="47522" y="3998849"/>
                      <a:ext cx="1328042" cy="685544"/>
                    </a:xfrm>
                    <a:prstGeom prst="bentConnector4">
                      <a:avLst>
                        <a:gd name="adj1" fmla="val -17667"/>
                        <a:gd name="adj2" fmla="val 132315"/>
                      </a:avLst>
                    </a:prstGeom>
                    <a:ln w="22225">
                      <a:headEnd type="none" w="lg" len="lg"/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1" name="Oval 150">
                    <a:extLst>
                      <a:ext uri="{FF2B5EF4-FFF2-40B4-BE49-F238E27FC236}">
                        <a16:creationId xmlns:a16="http://schemas.microsoft.com/office/drawing/2014/main" id="{980B7E0B-C97B-AB0A-C897-2C391BBC73D7}"/>
                      </a:ext>
                    </a:extLst>
                  </p:cNvPr>
                  <p:cNvSpPr/>
                  <p:nvPr/>
                </p:nvSpPr>
                <p:spPr>
                  <a:xfrm>
                    <a:off x="1180565" y="1024959"/>
                    <a:ext cx="746688" cy="305703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buClr>
                        <a:schemeClr val="bg1"/>
                      </a:buClr>
                    </a:pPr>
                    <a:r>
                      <a:rPr lang="fr-FR" sz="800">
                        <a:solidFill>
                          <a:srgbClr val="000000"/>
                        </a:solidFill>
                      </a:rPr>
                      <a:t>Start</a:t>
                    </a:r>
                    <a:endParaRPr lang="en-US" sz="800" err="1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148" name="TextBox 56">
                  <a:extLst>
                    <a:ext uri="{FF2B5EF4-FFF2-40B4-BE49-F238E27FC236}">
                      <a16:creationId xmlns:a16="http://schemas.microsoft.com/office/drawing/2014/main" id="{F25D7959-4C5C-E69A-7A19-4D5DD2E77712}"/>
                    </a:ext>
                  </a:extLst>
                </p:cNvPr>
                <p:cNvSpPr txBox="1"/>
                <p:nvPr/>
              </p:nvSpPr>
              <p:spPr>
                <a:xfrm>
                  <a:off x="881965" y="3748777"/>
                  <a:ext cx="489019" cy="215444"/>
                </a:xfrm>
                <a:prstGeom prst="rect">
                  <a:avLst/>
                </a:prstGeom>
                <a:noFill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b="1">
                      <a:solidFill>
                        <a:schemeClr val="accent5">
                          <a:lumMod val="75000"/>
                        </a:schemeClr>
                      </a:solidFill>
                    </a:rPr>
                    <a:t>Yes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45EE5AD1-C064-42CE-165E-3BFFB362E64F}"/>
                    </a:ext>
                  </a:extLst>
                </p:cNvPr>
                <p:cNvSpPr txBox="1"/>
                <p:nvPr/>
              </p:nvSpPr>
              <p:spPr>
                <a:xfrm>
                  <a:off x="1510962" y="3290583"/>
                  <a:ext cx="388340" cy="215444"/>
                </a:xfrm>
                <a:prstGeom prst="rect">
                  <a:avLst/>
                </a:prstGeom>
                <a:noFill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800" b="1">
                      <a:solidFill>
                        <a:srgbClr val="C00000"/>
                      </a:solidFill>
                    </a:rPr>
                    <a:t>No</a:t>
                  </a:r>
                  <a:endParaRPr lang="en-US" sz="800" b="1">
                    <a:solidFill>
                      <a:srgbClr val="C00000"/>
                    </a:solidFill>
                    <a:cs typeface="Arial"/>
                  </a:endParaRPr>
                </a:p>
              </p:txBody>
            </p:sp>
          </p:grpSp>
          <p:sp>
            <p:nvSpPr>
              <p:cNvPr id="143" name="TextBox 71">
                <a:extLst>
                  <a:ext uri="{FF2B5EF4-FFF2-40B4-BE49-F238E27FC236}">
                    <a16:creationId xmlns:a16="http://schemas.microsoft.com/office/drawing/2014/main" id="{BC8E967D-20F8-F28D-B280-9223C0D45362}"/>
                  </a:ext>
                </a:extLst>
              </p:cNvPr>
              <p:cNvSpPr txBox="1"/>
              <p:nvPr/>
            </p:nvSpPr>
            <p:spPr>
              <a:xfrm>
                <a:off x="1835293" y="2220084"/>
                <a:ext cx="2629344" cy="401957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sz="800" dirty="0">
                    <a:cs typeface="Arial"/>
                  </a:rPr>
                  <a:t>C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3234B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lock source : </a:t>
                </a:r>
                <a:r>
                  <a:rPr lang="fr-FR" sz="800" b="1" dirty="0"/>
                  <a:t>HSI (ST) </a:t>
                </a:r>
                <a:r>
                  <a:rPr lang="fr-FR" sz="800" dirty="0"/>
                  <a:t>/ </a:t>
                </a:r>
                <a:r>
                  <a:rPr lang="fr-FR" sz="800" b="1" dirty="0"/>
                  <a:t>FIRC_48M (NXP)</a:t>
                </a:r>
              </a:p>
              <a:p>
                <a:pPr>
                  <a:defRPr/>
                </a:pPr>
                <a:r>
                  <a:rPr lang="en-US" sz="800" dirty="0"/>
                  <a:t>Clock frequency: </a:t>
                </a:r>
                <a:r>
                  <a:rPr lang="en-US" sz="800" b="1" dirty="0"/>
                  <a:t>CM33: 160 MHz (ST and </a:t>
                </a:r>
                <a:r>
                  <a:rPr lang="fr-FR" sz="800" b="1" dirty="0"/>
                  <a:t>GD</a:t>
                </a:r>
                <a:r>
                  <a:rPr lang="en-US" sz="800" b="1" dirty="0"/>
                  <a:t>)</a:t>
                </a:r>
              </a:p>
              <a:p>
                <a:pPr>
                  <a:defRPr/>
                </a:pPr>
                <a:r>
                  <a:rPr lang="en-US" sz="800" b="1" dirty="0"/>
                  <a:t>                     </a:t>
                </a:r>
              </a:p>
            </p:txBody>
          </p:sp>
          <p:sp>
            <p:nvSpPr>
              <p:cNvPr id="144" name="TextBox 39">
                <a:extLst>
                  <a:ext uri="{FF2B5EF4-FFF2-40B4-BE49-F238E27FC236}">
                    <a16:creationId xmlns:a16="http://schemas.microsoft.com/office/drawing/2014/main" id="{0664A099-6C28-80EA-A1A3-7902E6F478B3}"/>
                  </a:ext>
                </a:extLst>
              </p:cNvPr>
              <p:cNvSpPr txBox="1"/>
              <p:nvPr/>
            </p:nvSpPr>
            <p:spPr>
              <a:xfrm>
                <a:off x="1835293" y="2723869"/>
                <a:ext cx="2959711" cy="214377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b="1" dirty="0"/>
                  <a:t>U5/</a:t>
                </a:r>
                <a:r>
                  <a:rPr lang="en-US" sz="800" b="1" dirty="0">
                    <a:solidFill>
                      <a:srgbClr val="002060"/>
                    </a:solidFill>
                  </a:rPr>
                  <a:t> GD32:</a:t>
                </a:r>
                <a:r>
                  <a:rPr lang="en-US" sz="800" dirty="0"/>
                  <a:t> USB Full Speed, USB Device</a:t>
                </a:r>
                <a:r>
                  <a:rPr lang="en-US" sz="1000" dirty="0"/>
                  <a:t>, </a:t>
                </a:r>
                <a:r>
                  <a:rPr lang="en-US" sz="800" dirty="0"/>
                  <a:t>CDC class</a:t>
                </a:r>
              </a:p>
            </p:txBody>
          </p:sp>
          <p:sp>
            <p:nvSpPr>
              <p:cNvPr id="145" name="Rectangle: Folded Corner 144">
                <a:extLst>
                  <a:ext uri="{FF2B5EF4-FFF2-40B4-BE49-F238E27FC236}">
                    <a16:creationId xmlns:a16="http://schemas.microsoft.com/office/drawing/2014/main" id="{CC4645EA-22D8-4686-B388-F61680D576C9}"/>
                  </a:ext>
                </a:extLst>
              </p:cNvPr>
              <p:cNvSpPr/>
              <p:nvPr/>
            </p:nvSpPr>
            <p:spPr>
              <a:xfrm>
                <a:off x="2336606" y="4044988"/>
                <a:ext cx="1139889" cy="888392"/>
              </a:xfrm>
              <a:prstGeom prst="foldedCorne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>
                    <a:solidFill>
                      <a:schemeClr val="tx1"/>
                    </a:solidFill>
                  </a:rPr>
                  <a:t>USB host (PC) identify, assign address and configure USB device (MCU)</a:t>
                </a:r>
              </a:p>
            </p:txBody>
          </p:sp>
          <p:cxnSp>
            <p:nvCxnSpPr>
              <p:cNvPr id="146" name="Connector: Curved 145">
                <a:extLst>
                  <a:ext uri="{FF2B5EF4-FFF2-40B4-BE49-F238E27FC236}">
                    <a16:creationId xmlns:a16="http://schemas.microsoft.com/office/drawing/2014/main" id="{CFA134F5-15E4-7C00-CD6C-EBB9CCE9716D}"/>
                  </a:ext>
                </a:extLst>
              </p:cNvPr>
              <p:cNvCxnSpPr>
                <a:cxnSpLocks/>
                <a:stCxn id="158" idx="3"/>
                <a:endCxn id="145" idx="1"/>
              </p:cNvCxnSpPr>
              <p:nvPr/>
            </p:nvCxnSpPr>
            <p:spPr>
              <a:xfrm>
                <a:off x="1595271" y="4104423"/>
                <a:ext cx="741335" cy="384761"/>
              </a:xfrm>
              <a:prstGeom prst="curvedConnector3">
                <a:avLst/>
              </a:prstGeom>
              <a:ln w="12700">
                <a:headEnd type="none" w="lg" len="lg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</p:grp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FB63EE1-F920-8F45-D6A6-4FF8B2ADC962}"/>
              </a:ext>
            </a:extLst>
          </p:cNvPr>
          <p:cNvSpPr/>
          <p:nvPr/>
        </p:nvSpPr>
        <p:spPr>
          <a:xfrm>
            <a:off x="6218372" y="6133599"/>
            <a:ext cx="5845932" cy="559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accent2"/>
                </a:solidFill>
              </a:rPr>
              <a:t>USB HID device class: </a:t>
            </a:r>
            <a:r>
              <a:rPr lang="fr-FR" sz="800">
                <a:solidFill>
                  <a:schemeClr val="tx1"/>
                </a:solidFill>
              </a:rPr>
              <a:t>USB </a:t>
            </a:r>
            <a:r>
              <a:rPr lang="en-US" sz="800" b="1">
                <a:solidFill>
                  <a:schemeClr val="tx1"/>
                </a:solidFill>
              </a:rPr>
              <a:t>Human Interface Device </a:t>
            </a:r>
            <a:r>
              <a:rPr lang="fr-FR" sz="800" err="1">
                <a:solidFill>
                  <a:schemeClr val="tx1"/>
                </a:solidFill>
              </a:rPr>
              <a:t>allows</a:t>
            </a:r>
            <a:r>
              <a:rPr lang="fr-FR" sz="800" b="1">
                <a:solidFill>
                  <a:schemeClr val="tx1"/>
                </a:solidFill>
              </a:rPr>
              <a:t> </a:t>
            </a:r>
            <a:r>
              <a:rPr lang="en-US" sz="800">
                <a:solidFill>
                  <a:schemeClr val="tx1"/>
                </a:solidFill>
              </a:rPr>
              <a:t>to enable communication between </a:t>
            </a:r>
            <a:r>
              <a:rPr lang="en-US" sz="800" b="1" u="sng">
                <a:solidFill>
                  <a:schemeClr val="tx1"/>
                </a:solidFill>
              </a:rPr>
              <a:t>device (MCU) </a:t>
            </a:r>
            <a:r>
              <a:rPr lang="en-US" sz="800">
                <a:solidFill>
                  <a:schemeClr val="tx1"/>
                </a:solidFill>
              </a:rPr>
              <a:t>and host (PC).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3EEAEBF3-5A50-DFD7-40A3-7BED3D8E0D2E}"/>
              </a:ext>
            </a:extLst>
          </p:cNvPr>
          <p:cNvGrpSpPr/>
          <p:nvPr/>
        </p:nvGrpSpPr>
        <p:grpSpPr>
          <a:xfrm>
            <a:off x="346556" y="1928947"/>
            <a:ext cx="5469529" cy="3783896"/>
            <a:chOff x="6899673" y="1795327"/>
            <a:chExt cx="4788596" cy="3407674"/>
          </a:xfrm>
        </p:grpSpPr>
        <p:sp>
          <p:nvSpPr>
            <p:cNvPr id="167" name="TextBox 56">
              <a:extLst>
                <a:ext uri="{FF2B5EF4-FFF2-40B4-BE49-F238E27FC236}">
                  <a16:creationId xmlns:a16="http://schemas.microsoft.com/office/drawing/2014/main" id="{462B625F-2DA2-D0AA-5B5B-15863EA3C27F}"/>
                </a:ext>
              </a:extLst>
            </p:cNvPr>
            <p:cNvSpPr txBox="1"/>
            <p:nvPr/>
          </p:nvSpPr>
          <p:spPr>
            <a:xfrm>
              <a:off x="7694104" y="3560544"/>
              <a:ext cx="489019" cy="215444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b="1">
                  <a:solidFill>
                    <a:schemeClr val="accent5">
                      <a:lumMod val="75000"/>
                    </a:schemeClr>
                  </a:solidFill>
                </a:rPr>
                <a:t>Yes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BD0470F2-394F-540F-B46F-7749E13DE889}"/>
                </a:ext>
              </a:extLst>
            </p:cNvPr>
            <p:cNvSpPr txBox="1"/>
            <p:nvPr/>
          </p:nvSpPr>
          <p:spPr>
            <a:xfrm>
              <a:off x="8280068" y="3172760"/>
              <a:ext cx="388340" cy="215444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b="1">
                  <a:solidFill>
                    <a:srgbClr val="C00000"/>
                  </a:solidFill>
                </a:rPr>
                <a:t>No</a:t>
              </a:r>
              <a:endParaRPr lang="en-US" sz="800" b="1">
                <a:solidFill>
                  <a:srgbClr val="C00000"/>
                </a:solidFill>
                <a:cs typeface="Arial"/>
              </a:endParaRPr>
            </a:p>
          </p:txBody>
        </p:sp>
        <p:sp>
          <p:nvSpPr>
            <p:cNvPr id="169" name="TextBox 56">
              <a:extLst>
                <a:ext uri="{FF2B5EF4-FFF2-40B4-BE49-F238E27FC236}">
                  <a16:creationId xmlns:a16="http://schemas.microsoft.com/office/drawing/2014/main" id="{F3809580-BF1E-30F4-7E59-96D93601AABB}"/>
                </a:ext>
              </a:extLst>
            </p:cNvPr>
            <p:cNvSpPr txBox="1"/>
            <p:nvPr/>
          </p:nvSpPr>
          <p:spPr>
            <a:xfrm>
              <a:off x="7716790" y="4722899"/>
              <a:ext cx="489019" cy="215444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b="1">
                  <a:solidFill>
                    <a:schemeClr val="accent5">
                      <a:lumMod val="75000"/>
                    </a:schemeClr>
                  </a:solidFill>
                </a:rPr>
                <a:t>Yes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1D049CF4-FE7E-5F79-A3B5-E7AD5F63F601}"/>
                </a:ext>
              </a:extLst>
            </p:cNvPr>
            <p:cNvSpPr txBox="1"/>
            <p:nvPr/>
          </p:nvSpPr>
          <p:spPr>
            <a:xfrm>
              <a:off x="8302754" y="4335115"/>
              <a:ext cx="388340" cy="215444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b="1">
                  <a:solidFill>
                    <a:srgbClr val="C00000"/>
                  </a:solidFill>
                </a:rPr>
                <a:t>No</a:t>
              </a:r>
              <a:endParaRPr lang="en-US" sz="800" b="1">
                <a:solidFill>
                  <a:srgbClr val="C00000"/>
                </a:solidFill>
                <a:cs typeface="Arial"/>
              </a:endParaRP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8DBFA6B3-32B9-BAD8-A7EE-CA9B1086F7F3}"/>
                </a:ext>
              </a:extLst>
            </p:cNvPr>
            <p:cNvGrpSpPr/>
            <p:nvPr/>
          </p:nvGrpSpPr>
          <p:grpSpPr>
            <a:xfrm>
              <a:off x="6899673" y="1795327"/>
              <a:ext cx="4788596" cy="3407674"/>
              <a:chOff x="6899673" y="1795327"/>
              <a:chExt cx="4788596" cy="3407674"/>
            </a:xfrm>
          </p:grpSpPr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3F120662-7852-F078-90ED-C80A8A044F5C}"/>
                  </a:ext>
                </a:extLst>
              </p:cNvPr>
              <p:cNvGrpSpPr/>
              <p:nvPr/>
            </p:nvGrpSpPr>
            <p:grpSpPr>
              <a:xfrm>
                <a:off x="6899673" y="1795327"/>
                <a:ext cx="1833257" cy="3407674"/>
                <a:chOff x="1179928" y="945268"/>
                <a:chExt cx="2373928" cy="4055848"/>
              </a:xfrm>
            </p:grpSpPr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431CA176-842E-C0B7-3A4B-CB5D6CBA909F}"/>
                    </a:ext>
                  </a:extLst>
                </p:cNvPr>
                <p:cNvSpPr/>
                <p:nvPr/>
              </p:nvSpPr>
              <p:spPr>
                <a:xfrm>
                  <a:off x="1183382" y="1508741"/>
                  <a:ext cx="2057456" cy="268290"/>
                </a:xfrm>
                <a:prstGeom prst="rect">
                  <a:avLst/>
                </a:prstGeom>
                <a:solidFill>
                  <a:srgbClr val="3CB4E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chemeClr val="bg1"/>
                    </a:buClr>
                  </a:pPr>
                  <a:r>
                    <a:rPr lang="en-US" sz="800">
                      <a:solidFill>
                        <a:schemeClr val="tx1"/>
                      </a:solidFill>
                    </a:rPr>
                    <a:t>Clock configuration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D805D804-5733-0F95-4540-CFD48DC8ECC0}"/>
                    </a:ext>
                  </a:extLst>
                </p:cNvPr>
                <p:cNvSpPr/>
                <p:nvPr/>
              </p:nvSpPr>
              <p:spPr>
                <a:xfrm>
                  <a:off x="1179928" y="2033535"/>
                  <a:ext cx="2057456" cy="301350"/>
                </a:xfrm>
                <a:prstGeom prst="rect">
                  <a:avLst/>
                </a:prstGeom>
                <a:solidFill>
                  <a:srgbClr val="3CB4E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chemeClr val="bg1"/>
                    </a:buClr>
                  </a:pPr>
                  <a:r>
                    <a:rPr lang="en-US" sz="800">
                      <a:solidFill>
                        <a:schemeClr val="tx1"/>
                      </a:solidFill>
                    </a:rPr>
                    <a:t>USB configuration</a:t>
                  </a:r>
                </a:p>
              </p:txBody>
            </p:sp>
            <p:sp>
              <p:nvSpPr>
                <p:cNvPr id="179" name="Diamond 178">
                  <a:extLst>
                    <a:ext uri="{FF2B5EF4-FFF2-40B4-BE49-F238E27FC236}">
                      <a16:creationId xmlns:a16="http://schemas.microsoft.com/office/drawing/2014/main" id="{693509DF-3FC0-E734-EAFD-866568C2DEAC}"/>
                    </a:ext>
                  </a:extLst>
                </p:cNvPr>
                <p:cNvSpPr/>
                <p:nvPr/>
              </p:nvSpPr>
              <p:spPr>
                <a:xfrm>
                  <a:off x="1374736" y="3867327"/>
                  <a:ext cx="1707347" cy="625445"/>
                </a:xfrm>
                <a:prstGeom prst="diamond">
                  <a:avLst/>
                </a:prstGeom>
                <a:solidFill>
                  <a:srgbClr val="3CB4E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chemeClr val="bg1"/>
                    </a:buClr>
                  </a:pPr>
                  <a:r>
                    <a:rPr lang="en-US" sz="800">
                      <a:solidFill>
                        <a:schemeClr val="tx1"/>
                      </a:solidFill>
                    </a:rPr>
                    <a:t>If USB Receive data  </a:t>
                  </a:r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8287216E-161F-54E2-316E-F06BF3AC3D66}"/>
                    </a:ext>
                  </a:extLst>
                </p:cNvPr>
                <p:cNvSpPr/>
                <p:nvPr/>
              </p:nvSpPr>
              <p:spPr>
                <a:xfrm>
                  <a:off x="1199682" y="4699764"/>
                  <a:ext cx="2057456" cy="301351"/>
                </a:xfrm>
                <a:prstGeom prst="rect">
                  <a:avLst/>
                </a:prstGeom>
                <a:solidFill>
                  <a:srgbClr val="3CB4E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chemeClr val="bg1"/>
                    </a:buClr>
                  </a:pPr>
                  <a:r>
                    <a:rPr lang="en-US" sz="800">
                      <a:solidFill>
                        <a:schemeClr val="tx1"/>
                      </a:solidFill>
                    </a:rPr>
                    <a:t>USB transmit data </a:t>
                  </a:r>
                </a:p>
              </p:txBody>
            </p:sp>
            <p:cxnSp>
              <p:nvCxnSpPr>
                <p:cNvPr id="181" name="Straight Arrow Connector 180">
                  <a:extLst>
                    <a:ext uri="{FF2B5EF4-FFF2-40B4-BE49-F238E27FC236}">
                      <a16:creationId xmlns:a16="http://schemas.microsoft.com/office/drawing/2014/main" id="{D4B18CF6-A1BC-5F56-3451-64BCA4CAFD19}"/>
                    </a:ext>
                  </a:extLst>
                </p:cNvPr>
                <p:cNvCxnSpPr>
                  <a:cxnSpLocks/>
                  <a:stCxn id="183" idx="2"/>
                  <a:endCxn id="192" idx="0"/>
                </p:cNvCxnSpPr>
                <p:nvPr/>
              </p:nvCxnSpPr>
              <p:spPr>
                <a:xfrm>
                  <a:off x="2219517" y="3080665"/>
                  <a:ext cx="1" cy="238287"/>
                </a:xfrm>
                <a:prstGeom prst="straightConnector1">
                  <a:avLst/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04FDA45F-853C-A64E-4482-1D0F95C51864}"/>
                    </a:ext>
                  </a:extLst>
                </p:cNvPr>
                <p:cNvCxnSpPr>
                  <a:cxnSpLocks/>
                  <a:stCxn id="179" idx="2"/>
                  <a:endCxn id="180" idx="0"/>
                </p:cNvCxnSpPr>
                <p:nvPr/>
              </p:nvCxnSpPr>
              <p:spPr>
                <a:xfrm>
                  <a:off x="2228411" y="4492772"/>
                  <a:ext cx="0" cy="206992"/>
                </a:xfrm>
                <a:prstGeom prst="straightConnector1">
                  <a:avLst/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Diamond 182">
                  <a:extLst>
                    <a:ext uri="{FF2B5EF4-FFF2-40B4-BE49-F238E27FC236}">
                      <a16:creationId xmlns:a16="http://schemas.microsoft.com/office/drawing/2014/main" id="{FA074B4F-1546-289D-2D54-531D0CB66E8F}"/>
                    </a:ext>
                  </a:extLst>
                </p:cNvPr>
                <p:cNvSpPr/>
                <p:nvPr/>
              </p:nvSpPr>
              <p:spPr>
                <a:xfrm>
                  <a:off x="1365843" y="2520496"/>
                  <a:ext cx="1707349" cy="560168"/>
                </a:xfrm>
                <a:prstGeom prst="diamond">
                  <a:avLst/>
                </a:prstGeom>
                <a:solidFill>
                  <a:srgbClr val="3CB4E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FFFFFF"/>
                    </a:buClr>
                  </a:pPr>
                  <a:r>
                    <a:rPr lang="fr-FR" sz="800">
                      <a:solidFill>
                        <a:schemeClr val="tx1"/>
                      </a:solidFill>
                    </a:rPr>
                    <a:t>Is </a:t>
                  </a:r>
                  <a:r>
                    <a:rPr lang="fr-FR" sz="800" err="1">
                      <a:solidFill>
                        <a:schemeClr val="tx1"/>
                      </a:solidFill>
                    </a:rPr>
                    <a:t>device</a:t>
                  </a:r>
                  <a:r>
                    <a:rPr lang="fr-FR" sz="800">
                      <a:solidFill>
                        <a:schemeClr val="tx1"/>
                      </a:solidFill>
                    </a:rPr>
                    <a:t> </a:t>
                  </a:r>
                  <a:r>
                    <a:rPr lang="fr-FR" sz="800" err="1">
                      <a:solidFill>
                        <a:schemeClr val="tx1"/>
                      </a:solidFill>
                    </a:rPr>
                    <a:t>inserted</a:t>
                  </a:r>
                  <a:r>
                    <a:rPr lang="fr-FR" sz="800">
                      <a:solidFill>
                        <a:schemeClr val="tx1"/>
                      </a:solidFill>
                    </a:rPr>
                    <a:t> ?</a:t>
                  </a:r>
                  <a:endParaRPr lang="en-US" sz="8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84" name="Connector: Elbow 183">
                  <a:extLst>
                    <a:ext uri="{FF2B5EF4-FFF2-40B4-BE49-F238E27FC236}">
                      <a16:creationId xmlns:a16="http://schemas.microsoft.com/office/drawing/2014/main" id="{33B5FF36-0819-4617-1F01-24849C9A100A}"/>
                    </a:ext>
                  </a:extLst>
                </p:cNvPr>
                <p:cNvCxnSpPr>
                  <a:cxnSpLocks/>
                  <a:stCxn id="180" idx="2"/>
                  <a:endCxn id="183" idx="1"/>
                </p:cNvCxnSpPr>
                <p:nvPr/>
              </p:nvCxnSpPr>
              <p:spPr>
                <a:xfrm rot="5400000" flipH="1">
                  <a:off x="696860" y="3469565"/>
                  <a:ext cx="2200534" cy="862568"/>
                </a:xfrm>
                <a:prstGeom prst="bentConnector4">
                  <a:avLst>
                    <a:gd name="adj1" fmla="val -12364"/>
                    <a:gd name="adj2" fmla="val 153582"/>
                  </a:avLst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8EBA10CA-C655-11DA-181F-CD36FE23246B}"/>
                    </a:ext>
                  </a:extLst>
                </p:cNvPr>
                <p:cNvCxnSpPr>
                  <a:cxnSpLocks/>
                  <a:stCxn id="178" idx="2"/>
                  <a:endCxn id="183" idx="0"/>
                </p:cNvCxnSpPr>
                <p:nvPr/>
              </p:nvCxnSpPr>
              <p:spPr>
                <a:xfrm>
                  <a:off x="2208657" y="2334886"/>
                  <a:ext cx="10861" cy="185611"/>
                </a:xfrm>
                <a:prstGeom prst="straightConnector1">
                  <a:avLst/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Connector: Elbow 185">
                  <a:extLst>
                    <a:ext uri="{FF2B5EF4-FFF2-40B4-BE49-F238E27FC236}">
                      <a16:creationId xmlns:a16="http://schemas.microsoft.com/office/drawing/2014/main" id="{0DFC4BA6-C20D-4DA5-0452-B9EB93376299}"/>
                    </a:ext>
                  </a:extLst>
                </p:cNvPr>
                <p:cNvCxnSpPr>
                  <a:cxnSpLocks/>
                  <a:stCxn id="183" idx="3"/>
                </p:cNvCxnSpPr>
                <p:nvPr/>
              </p:nvCxnSpPr>
              <p:spPr>
                <a:xfrm flipH="1" flipV="1">
                  <a:off x="2266823" y="2438570"/>
                  <a:ext cx="806368" cy="362012"/>
                </a:xfrm>
                <a:prstGeom prst="bentConnector3">
                  <a:avLst>
                    <a:gd name="adj1" fmla="val -36710"/>
                  </a:avLst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Arrow Connector 186">
                  <a:extLst>
                    <a:ext uri="{FF2B5EF4-FFF2-40B4-BE49-F238E27FC236}">
                      <a16:creationId xmlns:a16="http://schemas.microsoft.com/office/drawing/2014/main" id="{D26332A8-BCFC-0768-AF44-E3407E69256F}"/>
                    </a:ext>
                  </a:extLst>
                </p:cNvPr>
                <p:cNvCxnSpPr>
                  <a:cxnSpLocks/>
                  <a:stCxn id="177" idx="3"/>
                  <a:endCxn id="173" idx="1"/>
                </p:cNvCxnSpPr>
                <p:nvPr/>
              </p:nvCxnSpPr>
              <p:spPr>
                <a:xfrm flipV="1">
                  <a:off x="3240838" y="1620221"/>
                  <a:ext cx="313018" cy="22666"/>
                </a:xfrm>
                <a:prstGeom prst="straightConnector1">
                  <a:avLst/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Arrow Connector 187">
                  <a:extLst>
                    <a:ext uri="{FF2B5EF4-FFF2-40B4-BE49-F238E27FC236}">
                      <a16:creationId xmlns:a16="http://schemas.microsoft.com/office/drawing/2014/main" id="{232E8135-1D68-A3CA-CD2D-1E52AB8CBA8F}"/>
                    </a:ext>
                  </a:extLst>
                </p:cNvPr>
                <p:cNvCxnSpPr>
                  <a:cxnSpLocks/>
                  <a:stCxn id="177" idx="2"/>
                  <a:endCxn id="178" idx="0"/>
                </p:cNvCxnSpPr>
                <p:nvPr/>
              </p:nvCxnSpPr>
              <p:spPr>
                <a:xfrm flipH="1">
                  <a:off x="2208657" y="1777031"/>
                  <a:ext cx="3454" cy="256504"/>
                </a:xfrm>
                <a:prstGeom prst="straightConnector1">
                  <a:avLst/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Arrow Connector 188">
                  <a:extLst>
                    <a:ext uri="{FF2B5EF4-FFF2-40B4-BE49-F238E27FC236}">
                      <a16:creationId xmlns:a16="http://schemas.microsoft.com/office/drawing/2014/main" id="{40B36316-26FC-B7FD-F8D2-BD89D428AF4A}"/>
                    </a:ext>
                  </a:extLst>
                </p:cNvPr>
                <p:cNvCxnSpPr>
                  <a:cxnSpLocks/>
                  <a:stCxn id="178" idx="3"/>
                  <a:endCxn id="174" idx="1"/>
                </p:cNvCxnSpPr>
                <p:nvPr/>
              </p:nvCxnSpPr>
              <p:spPr>
                <a:xfrm flipV="1">
                  <a:off x="3237384" y="2079495"/>
                  <a:ext cx="310810" cy="104715"/>
                </a:xfrm>
                <a:prstGeom prst="straightConnector1">
                  <a:avLst/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1B4F9DA6-789F-2E7B-FDAA-E3F2EE8323F2}"/>
                    </a:ext>
                  </a:extLst>
                </p:cNvPr>
                <p:cNvSpPr/>
                <p:nvPr/>
              </p:nvSpPr>
              <p:spPr>
                <a:xfrm>
                  <a:off x="1743224" y="945268"/>
                  <a:ext cx="937773" cy="388119"/>
                </a:xfrm>
                <a:prstGeom prst="ellipse">
                  <a:avLst/>
                </a:prstGeom>
                <a:ln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chemeClr val="bg1"/>
                    </a:buClr>
                  </a:pPr>
                  <a:r>
                    <a:rPr lang="fr-FR" sz="800">
                      <a:solidFill>
                        <a:srgbClr val="000000"/>
                      </a:solidFill>
                    </a:rPr>
                    <a:t>Start</a:t>
                  </a:r>
                  <a:endParaRPr lang="en-US" sz="800" err="1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191" name="Straight Arrow Connector 190">
                  <a:extLst>
                    <a:ext uri="{FF2B5EF4-FFF2-40B4-BE49-F238E27FC236}">
                      <a16:creationId xmlns:a16="http://schemas.microsoft.com/office/drawing/2014/main" id="{3F38F5A3-1A9A-DD64-1944-5580F1C2B233}"/>
                    </a:ext>
                  </a:extLst>
                </p:cNvPr>
                <p:cNvCxnSpPr>
                  <a:cxnSpLocks/>
                  <a:stCxn id="190" idx="4"/>
                  <a:endCxn id="177" idx="0"/>
                </p:cNvCxnSpPr>
                <p:nvPr/>
              </p:nvCxnSpPr>
              <p:spPr>
                <a:xfrm>
                  <a:off x="2212110" y="1333387"/>
                  <a:ext cx="0" cy="175355"/>
                </a:xfrm>
                <a:prstGeom prst="straightConnector1">
                  <a:avLst/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2372465B-E96D-A986-0E47-25EC3DBD7F0E}"/>
                    </a:ext>
                  </a:extLst>
                </p:cNvPr>
                <p:cNvSpPr/>
                <p:nvPr/>
              </p:nvSpPr>
              <p:spPr>
                <a:xfrm>
                  <a:off x="1190790" y="3318951"/>
                  <a:ext cx="2057456" cy="268290"/>
                </a:xfrm>
                <a:prstGeom prst="rect">
                  <a:avLst/>
                </a:prstGeom>
                <a:solidFill>
                  <a:srgbClr val="3CB4E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chemeClr val="bg1"/>
                    </a:buClr>
                  </a:pPr>
                  <a:r>
                    <a:rPr lang="fr-FR" sz="800">
                      <a:solidFill>
                        <a:schemeClr val="tx1"/>
                      </a:solidFill>
                    </a:rPr>
                    <a:t>USB </a:t>
                  </a:r>
                  <a:r>
                    <a:rPr lang="fr-FR" sz="800" err="1">
                      <a:solidFill>
                        <a:schemeClr val="tx1"/>
                      </a:solidFill>
                    </a:rPr>
                    <a:t>enemeration</a:t>
                  </a:r>
                  <a:r>
                    <a:rPr lang="fr-FR" sz="800">
                      <a:solidFill>
                        <a:schemeClr val="tx1"/>
                      </a:solidFill>
                    </a:rPr>
                    <a:t> </a:t>
                  </a:r>
                  <a:endParaRPr lang="en-US" sz="8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93" name="Straight Arrow Connector 192">
                  <a:extLst>
                    <a:ext uri="{FF2B5EF4-FFF2-40B4-BE49-F238E27FC236}">
                      <a16:creationId xmlns:a16="http://schemas.microsoft.com/office/drawing/2014/main" id="{0341F01A-1F3E-E3B6-139C-60CA695AAE4B}"/>
                    </a:ext>
                  </a:extLst>
                </p:cNvPr>
                <p:cNvCxnSpPr>
                  <a:cxnSpLocks/>
                  <a:stCxn id="192" idx="2"/>
                  <a:endCxn id="179" idx="0"/>
                </p:cNvCxnSpPr>
                <p:nvPr/>
              </p:nvCxnSpPr>
              <p:spPr>
                <a:xfrm>
                  <a:off x="2219519" y="3587241"/>
                  <a:ext cx="8892" cy="280086"/>
                </a:xfrm>
                <a:prstGeom prst="straightConnector1">
                  <a:avLst/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Connector: Elbow 193">
                  <a:extLst>
                    <a:ext uri="{FF2B5EF4-FFF2-40B4-BE49-F238E27FC236}">
                      <a16:creationId xmlns:a16="http://schemas.microsoft.com/office/drawing/2014/main" id="{74B0A035-1B42-177C-1F9F-B6DD630509BA}"/>
                    </a:ext>
                  </a:extLst>
                </p:cNvPr>
                <p:cNvCxnSpPr>
                  <a:cxnSpLocks/>
                  <a:stCxn id="179" idx="3"/>
                </p:cNvCxnSpPr>
                <p:nvPr/>
              </p:nvCxnSpPr>
              <p:spPr>
                <a:xfrm flipH="1" flipV="1">
                  <a:off x="2266823" y="3706110"/>
                  <a:ext cx="815260" cy="473940"/>
                </a:xfrm>
                <a:prstGeom prst="bentConnector3">
                  <a:avLst>
                    <a:gd name="adj1" fmla="val -36310"/>
                  </a:avLst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3" name="TextBox 71">
                <a:extLst>
                  <a:ext uri="{FF2B5EF4-FFF2-40B4-BE49-F238E27FC236}">
                    <a16:creationId xmlns:a16="http://schemas.microsoft.com/office/drawing/2014/main" id="{C594BBD2-DAD1-F014-0695-683A88D03041}"/>
                  </a:ext>
                </a:extLst>
              </p:cNvPr>
              <p:cNvSpPr txBox="1"/>
              <p:nvPr/>
            </p:nvSpPr>
            <p:spPr>
              <a:xfrm>
                <a:off x="8732930" y="2154532"/>
                <a:ext cx="2629344" cy="415763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3234B"/>
                    </a:solidFill>
                    <a:latin typeface="Arial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sz="800" dirty="0">
                    <a:cs typeface="Arial"/>
                  </a:rPr>
                  <a:t>C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3234B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lock source : </a:t>
                </a:r>
                <a:r>
                  <a:rPr lang="fr-FR" sz="800" b="1" dirty="0"/>
                  <a:t>HSI (ST) </a:t>
                </a:r>
                <a:r>
                  <a:rPr lang="fr-FR" sz="800" dirty="0"/>
                  <a:t>/ </a:t>
                </a:r>
                <a:r>
                  <a:rPr lang="fr-FR" sz="800" b="1" dirty="0"/>
                  <a:t>FIRC_48M (NXP)</a:t>
                </a:r>
              </a:p>
              <a:p>
                <a:pPr>
                  <a:defRPr/>
                </a:pPr>
                <a:r>
                  <a:rPr lang="en-US" sz="800" dirty="0"/>
                  <a:t>Clock frequency: </a:t>
                </a:r>
                <a:r>
                  <a:rPr lang="en-US" sz="800" b="1" dirty="0"/>
                  <a:t>CM33: 160 MHz (ST and </a:t>
                </a:r>
                <a:r>
                  <a:rPr lang="fr-FR" sz="800" b="1" dirty="0"/>
                  <a:t>GD</a:t>
                </a:r>
                <a:r>
                  <a:rPr lang="en-US" sz="800" b="1" dirty="0"/>
                  <a:t>)</a:t>
                </a:r>
              </a:p>
              <a:p>
                <a:pPr>
                  <a:defRPr/>
                </a:pPr>
                <a:r>
                  <a:rPr lang="en-US" sz="800" b="1" dirty="0"/>
                  <a:t>                          </a:t>
                </a:r>
              </a:p>
            </p:txBody>
          </p:sp>
          <p:sp>
            <p:nvSpPr>
              <p:cNvPr id="174" name="TextBox 39">
                <a:extLst>
                  <a:ext uri="{FF2B5EF4-FFF2-40B4-BE49-F238E27FC236}">
                    <a16:creationId xmlns:a16="http://schemas.microsoft.com/office/drawing/2014/main" id="{7FE0765C-BB29-54A2-B8F3-E627BBEE6763}"/>
                  </a:ext>
                </a:extLst>
              </p:cNvPr>
              <p:cNvSpPr txBox="1"/>
              <p:nvPr/>
            </p:nvSpPr>
            <p:spPr>
              <a:xfrm>
                <a:off x="8728558" y="2637420"/>
                <a:ext cx="2959711" cy="221740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800" b="1" dirty="0"/>
                  <a:t>U5/</a:t>
                </a:r>
                <a:r>
                  <a:rPr lang="en-US" sz="800" b="1" dirty="0">
                    <a:solidFill>
                      <a:srgbClr val="002060"/>
                    </a:solidFill>
                  </a:rPr>
                  <a:t> GD32:</a:t>
                </a:r>
                <a:r>
                  <a:rPr lang="en-US" sz="800" dirty="0"/>
                  <a:t> USB Full Speed, USB Device</a:t>
                </a:r>
                <a:r>
                  <a:rPr lang="en-US" sz="1000" dirty="0"/>
                  <a:t>, </a:t>
                </a:r>
                <a:r>
                  <a:rPr lang="en-US" sz="800" dirty="0"/>
                  <a:t>CDC class</a:t>
                </a:r>
              </a:p>
            </p:txBody>
          </p:sp>
          <p:sp>
            <p:nvSpPr>
              <p:cNvPr id="175" name="Rectangle: Folded Corner 174">
                <a:extLst>
                  <a:ext uri="{FF2B5EF4-FFF2-40B4-BE49-F238E27FC236}">
                    <a16:creationId xmlns:a16="http://schemas.microsoft.com/office/drawing/2014/main" id="{B8EAD48C-231C-A2F3-D686-A3E753504667}"/>
                  </a:ext>
                </a:extLst>
              </p:cNvPr>
              <p:cNvSpPr/>
              <p:nvPr/>
            </p:nvSpPr>
            <p:spPr>
              <a:xfrm>
                <a:off x="9308985" y="3834507"/>
                <a:ext cx="1139889" cy="888392"/>
              </a:xfrm>
              <a:prstGeom prst="foldedCorne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>
                    <a:solidFill>
                      <a:schemeClr val="tx1"/>
                    </a:solidFill>
                  </a:rPr>
                  <a:t>USB host (PC) identify, assign address and configure USB device (MCU)</a:t>
                </a:r>
              </a:p>
            </p:txBody>
          </p:sp>
          <p:cxnSp>
            <p:nvCxnSpPr>
              <p:cNvPr id="176" name="Connector: Curved 175">
                <a:extLst>
                  <a:ext uri="{FF2B5EF4-FFF2-40B4-BE49-F238E27FC236}">
                    <a16:creationId xmlns:a16="http://schemas.microsoft.com/office/drawing/2014/main" id="{266CB92F-E6B4-8D69-3FFD-4A368625DA97}"/>
                  </a:ext>
                </a:extLst>
              </p:cNvPr>
              <p:cNvCxnSpPr>
                <a:cxnSpLocks/>
                <a:stCxn id="192" idx="3"/>
                <a:endCxn id="175" idx="1"/>
              </p:cNvCxnSpPr>
              <p:nvPr/>
            </p:nvCxnSpPr>
            <p:spPr>
              <a:xfrm>
                <a:off x="8496924" y="3902375"/>
                <a:ext cx="812061" cy="376328"/>
              </a:xfrm>
              <a:prstGeom prst="curvedConnector3">
                <a:avLst/>
              </a:prstGeom>
              <a:ln w="12700">
                <a:headEnd type="none" w="lg" len="lg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</p:grp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FE53ADD-E606-2ED0-9715-06620F56707E}"/>
              </a:ext>
            </a:extLst>
          </p:cNvPr>
          <p:cNvSpPr/>
          <p:nvPr/>
        </p:nvSpPr>
        <p:spPr>
          <a:xfrm>
            <a:off x="140383" y="6133600"/>
            <a:ext cx="5845932" cy="559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accent2"/>
                </a:solidFill>
              </a:rPr>
              <a:t>USB CDC device class: </a:t>
            </a:r>
            <a:r>
              <a:rPr lang="fr-FR" sz="800">
                <a:solidFill>
                  <a:schemeClr val="tx1"/>
                </a:solidFill>
              </a:rPr>
              <a:t>USB </a:t>
            </a:r>
            <a:r>
              <a:rPr lang="en-US" sz="800" b="1">
                <a:solidFill>
                  <a:schemeClr val="tx1"/>
                </a:solidFill>
              </a:rPr>
              <a:t>communication device class</a:t>
            </a:r>
            <a:r>
              <a:rPr lang="fr-FR" sz="800" b="1">
                <a:solidFill>
                  <a:schemeClr val="tx1"/>
                </a:solidFill>
              </a:rPr>
              <a:t> </a:t>
            </a:r>
            <a:r>
              <a:rPr lang="fr-FR" sz="800" err="1">
                <a:solidFill>
                  <a:schemeClr val="tx1"/>
                </a:solidFill>
              </a:rPr>
              <a:t>allows</a:t>
            </a:r>
            <a:r>
              <a:rPr lang="fr-FR" sz="800" b="1">
                <a:solidFill>
                  <a:schemeClr val="tx1"/>
                </a:solidFill>
              </a:rPr>
              <a:t> </a:t>
            </a:r>
            <a:r>
              <a:rPr lang="en-US" sz="800">
                <a:solidFill>
                  <a:schemeClr val="tx1"/>
                </a:solidFill>
              </a:rPr>
              <a:t>devices to communicate with computers as serial ports or network interfaces.</a:t>
            </a:r>
          </a:p>
        </p:txBody>
      </p:sp>
      <p:sp>
        <p:nvSpPr>
          <p:cNvPr id="196" name="Title 2">
            <a:extLst>
              <a:ext uri="{FF2B5EF4-FFF2-40B4-BE49-F238E27FC236}">
                <a16:creationId xmlns:a16="http://schemas.microsoft.com/office/drawing/2014/main" id="{0F9E324D-297E-6C2A-1803-8E5E2E48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dirty="0"/>
              <a:t>ST Competitors MW Benchmark: USB</a:t>
            </a:r>
            <a:br>
              <a:rPr lang="en-US" b="1" dirty="0"/>
            </a:br>
            <a:r>
              <a:rPr lang="en-US" sz="2400" b="1" dirty="0">
                <a:solidFill>
                  <a:schemeClr val="accent2"/>
                </a:solidFill>
              </a:rPr>
              <a:t>ST vs GD32 Flowcharts</a:t>
            </a:r>
            <a:br>
              <a:rPr lang="en-US" sz="2400" b="1" dirty="0">
                <a:solidFill>
                  <a:schemeClr val="accent2"/>
                </a:solidFill>
              </a:rPr>
            </a:b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197" name="Slide Number Placeholder 1">
            <a:extLst>
              <a:ext uri="{FF2B5EF4-FFF2-40B4-BE49-F238E27FC236}">
                <a16:creationId xmlns:a16="http://schemas.microsoft.com/office/drawing/2014/main" id="{C6C0767E-28C1-A0E8-4912-84DF0208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/>
          <a:lstStyle/>
          <a:p>
            <a:fld id="{40A7B169-58CE-4E65-B1F9-ACF9E46440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6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B6418-8557-EBC8-52E3-98340C55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457E7AC-9FF3-A468-E12E-56AECC203DD8}"/>
              </a:ext>
            </a:extLst>
          </p:cNvPr>
          <p:cNvSpPr txBox="1"/>
          <p:nvPr/>
        </p:nvSpPr>
        <p:spPr>
          <a:xfrm>
            <a:off x="6104616" y="1465230"/>
            <a:ext cx="5598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BareMetal mode : ST/NXP USB Library HID device class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85BD36-2A64-BC78-6F2A-39A2D0283178}"/>
              </a:ext>
            </a:extLst>
          </p:cNvPr>
          <p:cNvCxnSpPr>
            <a:cxnSpLocks/>
          </p:cNvCxnSpPr>
          <p:nvPr/>
        </p:nvCxnSpPr>
        <p:spPr>
          <a:xfrm flipH="1" flipV="1">
            <a:off x="6083340" y="1411101"/>
            <a:ext cx="12660" cy="5356379"/>
          </a:xfrm>
          <a:prstGeom prst="line">
            <a:avLst/>
          </a:prstGeom>
          <a:ln w="28575">
            <a:solidFill>
              <a:schemeClr val="accent1">
                <a:lumMod val="50000"/>
                <a:lumOff val="5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593947D-965A-84B3-8DFA-7CE3DA4D162A}"/>
              </a:ext>
            </a:extLst>
          </p:cNvPr>
          <p:cNvSpPr txBox="1"/>
          <p:nvPr/>
        </p:nvSpPr>
        <p:spPr>
          <a:xfrm>
            <a:off x="116734" y="1465230"/>
            <a:ext cx="5771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BareMetal mode : ST/NXP USB Library CDC device class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3288D4-F43B-57F7-8C1D-FF0D991EB3B8}"/>
              </a:ext>
            </a:extLst>
          </p:cNvPr>
          <p:cNvSpPr txBox="1"/>
          <p:nvPr/>
        </p:nvSpPr>
        <p:spPr>
          <a:xfrm>
            <a:off x="116734" y="1696884"/>
            <a:ext cx="1908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2"/>
                </a:solidFill>
              </a:rPr>
              <a:t>Execution time (</a:t>
            </a:r>
            <a:r>
              <a:rPr lang="en-US" sz="1000" b="1" err="1">
                <a:solidFill>
                  <a:schemeClr val="accent2"/>
                </a:solidFill>
              </a:rPr>
              <a:t>ms</a:t>
            </a:r>
            <a:r>
              <a:rPr lang="en-US" sz="1000" b="1">
                <a:solidFill>
                  <a:schemeClr val="accent2"/>
                </a:solidFill>
              </a:rPr>
              <a:t>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D3B72E0-94CF-45B2-5B9B-B506A41D8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762292"/>
              </p:ext>
            </p:extLst>
          </p:nvPr>
        </p:nvGraphicFramePr>
        <p:xfrm>
          <a:off x="97670" y="4088217"/>
          <a:ext cx="5875131" cy="92964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988491">
                  <a:extLst>
                    <a:ext uri="{9D8B030D-6E8A-4147-A177-3AD203B41FA5}">
                      <a16:colId xmlns:a16="http://schemas.microsoft.com/office/drawing/2014/main" val="1473133747"/>
                    </a:ext>
                  </a:extLst>
                </a:gridCol>
                <a:gridCol w="1361562">
                  <a:extLst>
                    <a:ext uri="{9D8B030D-6E8A-4147-A177-3AD203B41FA5}">
                      <a16:colId xmlns:a16="http://schemas.microsoft.com/office/drawing/2014/main" val="4162598800"/>
                    </a:ext>
                  </a:extLst>
                </a:gridCol>
                <a:gridCol w="1049859">
                  <a:extLst>
                    <a:ext uri="{9D8B030D-6E8A-4147-A177-3AD203B41FA5}">
                      <a16:colId xmlns:a16="http://schemas.microsoft.com/office/drawing/2014/main" val="11961737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13348666"/>
                    </a:ext>
                  </a:extLst>
                </a:gridCol>
                <a:gridCol w="1713219">
                  <a:extLst>
                    <a:ext uri="{9D8B030D-6E8A-4147-A177-3AD203B41FA5}">
                      <a16:colId xmlns:a16="http://schemas.microsoft.com/office/drawing/2014/main" val="4253733116"/>
                    </a:ext>
                  </a:extLst>
                </a:gridCol>
              </a:tblGrid>
              <a:tr h="196954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STM32U575xx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MCX-N94X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ST vs NXP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373398"/>
                  </a:ext>
                </a:extLst>
              </a:tr>
              <a:tr h="196954">
                <a:tc>
                  <a:txBody>
                    <a:bodyPr/>
                    <a:lstStyle/>
                    <a:p>
                      <a:pPr algn="l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17013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+25.5%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* STM32 RCC Clock config 4560 bytes</a:t>
                      </a:r>
                    </a:p>
                    <a:p>
                      <a:pPr algn="l"/>
                      <a:r>
                        <a:rPr lang="en-US" sz="1000" dirty="0"/>
                        <a:t>* FSL clock config 1470 bytes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625977"/>
                  </a:ext>
                </a:extLst>
              </a:tr>
              <a:tr h="196954">
                <a:tc>
                  <a:txBody>
                    <a:bodyPr/>
                    <a:lstStyle/>
                    <a:p>
                      <a:pPr algn="l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RAM</a:t>
                      </a:r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3065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1 360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+125%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506885"/>
                  </a:ext>
                </a:extLst>
              </a:tr>
              <a:tr h="196954">
                <a:tc>
                  <a:txBody>
                    <a:bodyPr/>
                    <a:lstStyle/>
                    <a:p>
                      <a:pPr algn="l"/>
                      <a:r>
                        <a:rPr lang="en-US" sz="700" b="1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7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/>
                        <a:t>20078</a:t>
                      </a:r>
                      <a:endParaRPr lang="en-US" sz="1000" b="1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14909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+34%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59488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B04F983-DED8-2091-1A33-4882854EA82A}"/>
              </a:ext>
            </a:extLst>
          </p:cNvPr>
          <p:cNvSpPr txBox="1"/>
          <p:nvPr/>
        </p:nvSpPr>
        <p:spPr>
          <a:xfrm>
            <a:off x="145211" y="3691447"/>
            <a:ext cx="1908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2"/>
                </a:solidFill>
              </a:rPr>
              <a:t>Footprint (Bytes)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8B14F2-1C3F-6610-C825-E978C9C3DFA0}"/>
              </a:ext>
            </a:extLst>
          </p:cNvPr>
          <p:cNvSpPr txBox="1"/>
          <p:nvPr/>
        </p:nvSpPr>
        <p:spPr>
          <a:xfrm>
            <a:off x="6206538" y="1696884"/>
            <a:ext cx="1908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2"/>
                </a:solidFill>
              </a:rPr>
              <a:t>Execution time (</a:t>
            </a:r>
            <a:r>
              <a:rPr lang="en-US" sz="1000" b="1" err="1">
                <a:solidFill>
                  <a:schemeClr val="accent2"/>
                </a:solidFill>
              </a:rPr>
              <a:t>ms</a:t>
            </a:r>
            <a:r>
              <a:rPr lang="en-US" sz="1000" b="1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A8D320-C0BF-CC87-F9DC-B3F28FC51FCF}"/>
              </a:ext>
            </a:extLst>
          </p:cNvPr>
          <p:cNvSpPr txBox="1"/>
          <p:nvPr/>
        </p:nvSpPr>
        <p:spPr>
          <a:xfrm>
            <a:off x="6165244" y="3693061"/>
            <a:ext cx="1908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chemeClr val="accent2"/>
                </a:solidFill>
              </a:rPr>
              <a:t>Footprint (Bytes)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7F732AD-53A6-A694-B260-5E57CB733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125026"/>
              </p:ext>
            </p:extLst>
          </p:nvPr>
        </p:nvGraphicFramePr>
        <p:xfrm>
          <a:off x="6265513" y="2125056"/>
          <a:ext cx="5643683" cy="130394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8924">
                  <a:extLst>
                    <a:ext uri="{9D8B030D-6E8A-4147-A177-3AD203B41FA5}">
                      <a16:colId xmlns:a16="http://schemas.microsoft.com/office/drawing/2014/main" val="1473133747"/>
                    </a:ext>
                  </a:extLst>
                </a:gridCol>
                <a:gridCol w="1038551">
                  <a:extLst>
                    <a:ext uri="{9D8B030D-6E8A-4147-A177-3AD203B41FA5}">
                      <a16:colId xmlns:a16="http://schemas.microsoft.com/office/drawing/2014/main" val="4162598800"/>
                    </a:ext>
                  </a:extLst>
                </a:gridCol>
                <a:gridCol w="1128737">
                  <a:extLst>
                    <a:ext uri="{9D8B030D-6E8A-4147-A177-3AD203B41FA5}">
                      <a16:colId xmlns:a16="http://schemas.microsoft.com/office/drawing/2014/main" val="1196173778"/>
                    </a:ext>
                  </a:extLst>
                </a:gridCol>
                <a:gridCol w="751247">
                  <a:extLst>
                    <a:ext uri="{9D8B030D-6E8A-4147-A177-3AD203B41FA5}">
                      <a16:colId xmlns:a16="http://schemas.microsoft.com/office/drawing/2014/main" val="2713348666"/>
                    </a:ext>
                  </a:extLst>
                </a:gridCol>
                <a:gridCol w="1506224">
                  <a:extLst>
                    <a:ext uri="{9D8B030D-6E8A-4147-A177-3AD203B41FA5}">
                      <a16:colId xmlns:a16="http://schemas.microsoft.com/office/drawing/2014/main" val="4253733116"/>
                    </a:ext>
                  </a:extLst>
                </a:gridCol>
              </a:tblGrid>
              <a:tr h="325986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/>
                        <a:t>STM32U575xx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MCX-N94X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ST vs NXP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373398"/>
                  </a:ext>
                </a:extLst>
              </a:tr>
              <a:tr h="325986">
                <a:tc>
                  <a:txBody>
                    <a:bodyPr/>
                    <a:lstStyle/>
                    <a:p>
                      <a:pPr algn="l"/>
                      <a:r>
                        <a:rPr lang="en-US" sz="700" b="1">
                          <a:solidFill>
                            <a:schemeClr val="tx1"/>
                          </a:solidFill>
                        </a:rPr>
                        <a:t>Initialize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10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+100%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852517"/>
                  </a:ext>
                </a:extLst>
              </a:tr>
              <a:tr h="325986">
                <a:tc>
                  <a:txBody>
                    <a:bodyPr/>
                    <a:lstStyle/>
                    <a:p>
                      <a:pPr algn="l"/>
                      <a:r>
                        <a:rPr lang="en-US" sz="700" b="1">
                          <a:solidFill>
                            <a:schemeClr val="tx1"/>
                          </a:solidFill>
                        </a:rPr>
                        <a:t>Enumeration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319.1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321.1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>
                          <a:solidFill>
                            <a:srgbClr val="00B050"/>
                          </a:solidFill>
                        </a:rPr>
                        <a:t>-1%</a:t>
                      </a:r>
                      <a:endParaRPr lang="en-US" sz="10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877290"/>
                  </a:ext>
                </a:extLst>
              </a:tr>
              <a:tr h="325986">
                <a:tc>
                  <a:txBody>
                    <a:bodyPr/>
                    <a:lstStyle/>
                    <a:p>
                      <a:pPr algn="l"/>
                      <a:r>
                        <a:rPr lang="en-US" sz="700" b="1">
                          <a:solidFill>
                            <a:schemeClr val="tx1"/>
                          </a:solidFill>
                        </a:rPr>
                        <a:t>Data transmission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0.0092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0.00921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en-US" sz="10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50688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8084655-006A-5183-AA19-0C3E9533D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304364"/>
              </p:ext>
            </p:extLst>
          </p:nvPr>
        </p:nvGraphicFramePr>
        <p:xfrm>
          <a:off x="6224218" y="4103286"/>
          <a:ext cx="5684977" cy="100584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956497">
                  <a:extLst>
                    <a:ext uri="{9D8B030D-6E8A-4147-A177-3AD203B41FA5}">
                      <a16:colId xmlns:a16="http://schemas.microsoft.com/office/drawing/2014/main" val="1473133747"/>
                    </a:ext>
                  </a:extLst>
                </a:gridCol>
                <a:gridCol w="1112893">
                  <a:extLst>
                    <a:ext uri="{9D8B030D-6E8A-4147-A177-3AD203B41FA5}">
                      <a16:colId xmlns:a16="http://schemas.microsoft.com/office/drawing/2014/main" val="41625988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1196173778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713348666"/>
                    </a:ext>
                  </a:extLst>
                </a:gridCol>
                <a:gridCol w="1805075">
                  <a:extLst>
                    <a:ext uri="{9D8B030D-6E8A-4147-A177-3AD203B41FA5}">
                      <a16:colId xmlns:a16="http://schemas.microsoft.com/office/drawing/2014/main" val="4253733116"/>
                    </a:ext>
                  </a:extLst>
                </a:gridCol>
              </a:tblGrid>
              <a:tr h="169331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STM32U575xx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MCX-N94X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ST vs NXP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373398"/>
                  </a:ext>
                </a:extLst>
              </a:tr>
              <a:tr h="169331">
                <a:tc>
                  <a:txBody>
                    <a:bodyPr/>
                    <a:lstStyle/>
                    <a:p>
                      <a:pPr algn="l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16377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13728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+19.30%</a:t>
                      </a:r>
                    </a:p>
                  </a:txBody>
                  <a:tcPr marL="0" marR="0" marT="0" marB="0"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* STM32 RCC Clock config 4560 bytes</a:t>
                      </a:r>
                    </a:p>
                    <a:p>
                      <a:pPr algn="l"/>
                      <a:r>
                        <a:rPr lang="en-US" sz="1000" dirty="0"/>
                        <a:t>* FSL clock config 1558 bytes</a:t>
                      </a:r>
                    </a:p>
                    <a:p>
                      <a:pPr algn="ctr"/>
                      <a:endParaRPr lang="en-US" sz="7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877290"/>
                  </a:ext>
                </a:extLst>
              </a:tr>
              <a:tr h="169331">
                <a:tc>
                  <a:txBody>
                    <a:bodyPr/>
                    <a:lstStyle/>
                    <a:p>
                      <a:pPr algn="l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RAM</a:t>
                      </a:r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2422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1702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+42.30%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506885"/>
                  </a:ext>
                </a:extLst>
              </a:tr>
              <a:tr h="169331">
                <a:tc>
                  <a:txBody>
                    <a:bodyPr/>
                    <a:lstStyle/>
                    <a:p>
                      <a:pPr algn="l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/>
                        <a:t>18 799</a:t>
                      </a:r>
                      <a:endParaRPr lang="en-US" sz="1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15430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+21%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59488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4BC287F-1A32-1B8B-F57A-6E59F58ABBA3}"/>
              </a:ext>
            </a:extLst>
          </p:cNvPr>
          <p:cNvSpPr txBox="1"/>
          <p:nvPr/>
        </p:nvSpPr>
        <p:spPr>
          <a:xfrm>
            <a:off x="6165243" y="3857065"/>
            <a:ext cx="349060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solidFill>
                  <a:srgbClr val="002060"/>
                </a:solidFill>
              </a:rPr>
              <a:t>STM32U575xx (CM33) vs MCX-N9 XX (CM33): : USB FS</a:t>
            </a:r>
            <a:r>
              <a:rPr lang="en-US" sz="800" b="1" dirty="0">
                <a:solidFill>
                  <a:srgbClr val="002060"/>
                </a:solidFill>
              </a:rPr>
              <a:t>/ </a:t>
            </a:r>
            <a:r>
              <a:rPr lang="en-US" sz="800" b="1" dirty="0">
                <a:solidFill>
                  <a:srgbClr val="FF0000"/>
                </a:solidFill>
              </a:rPr>
              <a:t>With RCC </a:t>
            </a:r>
            <a:endParaRPr lang="en-US" sz="800" b="1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346897-4903-2D4D-2684-B5A6B936E46C}"/>
              </a:ext>
            </a:extLst>
          </p:cNvPr>
          <p:cNvSpPr txBox="1"/>
          <p:nvPr/>
        </p:nvSpPr>
        <p:spPr>
          <a:xfrm>
            <a:off x="6206539" y="1872173"/>
            <a:ext cx="30724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solidFill>
                  <a:srgbClr val="002060"/>
                </a:solidFill>
              </a:rPr>
              <a:t>STM32U575xx (CM33) vs MCX-N94 XX (CM33): USB FS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C43708-36D9-EAFA-E066-A0D65F8C98E4}"/>
              </a:ext>
            </a:extLst>
          </p:cNvPr>
          <p:cNvSpPr txBox="1"/>
          <p:nvPr/>
        </p:nvSpPr>
        <p:spPr>
          <a:xfrm>
            <a:off x="116734" y="1879184"/>
            <a:ext cx="30724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2060"/>
                </a:solidFill>
              </a:rPr>
              <a:t>STM32U575xx (CM33) vs GD32E507(CM33): USB FS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AE28A9-B5A5-08CB-D109-D9D1C677075B}"/>
              </a:ext>
            </a:extLst>
          </p:cNvPr>
          <p:cNvSpPr txBox="1"/>
          <p:nvPr/>
        </p:nvSpPr>
        <p:spPr>
          <a:xfrm>
            <a:off x="107590" y="3878413"/>
            <a:ext cx="34547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solidFill>
                  <a:srgbClr val="002060"/>
                </a:solidFill>
              </a:rPr>
              <a:t>STM32U575xx (CM33) vs MCX-N94X (CM33): USB FS</a:t>
            </a:r>
            <a:r>
              <a:rPr lang="en-US" sz="800" b="1" dirty="0">
                <a:solidFill>
                  <a:srgbClr val="002060"/>
                </a:solidFill>
              </a:rPr>
              <a:t>/ </a:t>
            </a:r>
            <a:r>
              <a:rPr lang="en-US" sz="800" b="1" dirty="0">
                <a:solidFill>
                  <a:srgbClr val="FF0000"/>
                </a:solidFill>
              </a:rPr>
              <a:t>With RCC 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E33215F-6718-8C49-AACC-A74B3FE44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18227"/>
              </p:ext>
            </p:extLst>
          </p:nvPr>
        </p:nvGraphicFramePr>
        <p:xfrm>
          <a:off x="145209" y="2086668"/>
          <a:ext cx="5768616" cy="134233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314348">
                  <a:extLst>
                    <a:ext uri="{9D8B030D-6E8A-4147-A177-3AD203B41FA5}">
                      <a16:colId xmlns:a16="http://schemas.microsoft.com/office/drawing/2014/main" val="1473133747"/>
                    </a:ext>
                  </a:extLst>
                </a:gridCol>
                <a:gridCol w="871546">
                  <a:extLst>
                    <a:ext uri="{9D8B030D-6E8A-4147-A177-3AD203B41FA5}">
                      <a16:colId xmlns:a16="http://schemas.microsoft.com/office/drawing/2014/main" val="4162598800"/>
                    </a:ext>
                  </a:extLst>
                </a:gridCol>
                <a:gridCol w="1148521">
                  <a:extLst>
                    <a:ext uri="{9D8B030D-6E8A-4147-A177-3AD203B41FA5}">
                      <a16:colId xmlns:a16="http://schemas.microsoft.com/office/drawing/2014/main" val="1196173778"/>
                    </a:ext>
                  </a:extLst>
                </a:gridCol>
                <a:gridCol w="810059">
                  <a:extLst>
                    <a:ext uri="{9D8B030D-6E8A-4147-A177-3AD203B41FA5}">
                      <a16:colId xmlns:a16="http://schemas.microsoft.com/office/drawing/2014/main" val="2713348666"/>
                    </a:ext>
                  </a:extLst>
                </a:gridCol>
                <a:gridCol w="1624142">
                  <a:extLst>
                    <a:ext uri="{9D8B030D-6E8A-4147-A177-3AD203B41FA5}">
                      <a16:colId xmlns:a16="http://schemas.microsoft.com/office/drawing/2014/main" val="4253733116"/>
                    </a:ext>
                  </a:extLst>
                </a:gridCol>
              </a:tblGrid>
              <a:tr h="270209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/>
                        <a:t>STM32U575xx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MCX-N94X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ST vs NXP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373398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l"/>
                      <a:r>
                        <a:rPr lang="en-US" sz="700" b="1">
                          <a:solidFill>
                            <a:schemeClr val="tx1"/>
                          </a:solidFill>
                        </a:rPr>
                        <a:t>Initialize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9,993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8,159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0000"/>
                          </a:solidFill>
                        </a:rPr>
                        <a:t>+22%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852517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/>
                      <a:r>
                        <a:rPr lang="en-US" sz="700" b="1">
                          <a:solidFill>
                            <a:schemeClr val="tx1"/>
                          </a:solidFill>
                        </a:rPr>
                        <a:t>Enumeration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70.4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0000"/>
                          </a:solidFill>
                        </a:rPr>
                        <a:t>+2%</a:t>
                      </a:r>
                      <a:endParaRPr 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877290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l"/>
                      <a:r>
                        <a:rPr lang="en-US" sz="700" b="1">
                          <a:solidFill>
                            <a:schemeClr val="tx1"/>
                          </a:solidFill>
                        </a:rPr>
                        <a:t>Transmit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0.00945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0.0095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-1%</a:t>
                      </a:r>
                      <a:endParaRPr lang="en-US" sz="10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506885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l"/>
                      <a:r>
                        <a:rPr lang="en-US" sz="700" b="1">
                          <a:solidFill>
                            <a:schemeClr val="tx1"/>
                          </a:solidFill>
                        </a:rPr>
                        <a:t>Receive data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0.0094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0.0094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en-US" sz="10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489537"/>
                  </a:ext>
                </a:extLst>
              </a:tr>
            </a:tbl>
          </a:graphicData>
        </a:graphic>
      </p:graphicFrame>
      <p:sp>
        <p:nvSpPr>
          <p:cNvPr id="23" name="Title 2">
            <a:extLst>
              <a:ext uri="{FF2B5EF4-FFF2-40B4-BE49-F238E27FC236}">
                <a16:creationId xmlns:a16="http://schemas.microsoft.com/office/drawing/2014/main" id="{CFE828F1-4202-D8C3-F671-FA664EF4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155447"/>
            <a:ext cx="11609159" cy="1027597"/>
          </a:xfrm>
        </p:spPr>
        <p:txBody>
          <a:bodyPr/>
          <a:lstStyle/>
          <a:p>
            <a:r>
              <a:rPr lang="en-US" dirty="0"/>
              <a:t>ST Competitors MW Benchmark: USB</a:t>
            </a:r>
            <a:br>
              <a:rPr lang="en-US" b="1" dirty="0"/>
            </a:br>
            <a:r>
              <a:rPr lang="en-US" sz="2400" b="1" dirty="0">
                <a:solidFill>
                  <a:schemeClr val="accent2"/>
                </a:solidFill>
              </a:rPr>
              <a:t>ST vs GD32 Flowcharts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7510074D-5CCA-9AC3-B575-9F6CE012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/>
          <a:lstStyle/>
          <a:p>
            <a:fld id="{40A7B169-58CE-4E65-B1F9-ACF9E46440C2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B659F16-1F7F-A9EB-6709-E62EF7914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263964"/>
              </p:ext>
            </p:extLst>
          </p:nvPr>
        </p:nvGraphicFramePr>
        <p:xfrm>
          <a:off x="107590" y="5401065"/>
          <a:ext cx="5875131" cy="89916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988491">
                  <a:extLst>
                    <a:ext uri="{9D8B030D-6E8A-4147-A177-3AD203B41FA5}">
                      <a16:colId xmlns:a16="http://schemas.microsoft.com/office/drawing/2014/main" val="1473133747"/>
                    </a:ext>
                  </a:extLst>
                </a:gridCol>
                <a:gridCol w="1361562">
                  <a:extLst>
                    <a:ext uri="{9D8B030D-6E8A-4147-A177-3AD203B41FA5}">
                      <a16:colId xmlns:a16="http://schemas.microsoft.com/office/drawing/2014/main" val="4162598800"/>
                    </a:ext>
                  </a:extLst>
                </a:gridCol>
                <a:gridCol w="1049859">
                  <a:extLst>
                    <a:ext uri="{9D8B030D-6E8A-4147-A177-3AD203B41FA5}">
                      <a16:colId xmlns:a16="http://schemas.microsoft.com/office/drawing/2014/main" val="11961737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13348666"/>
                    </a:ext>
                  </a:extLst>
                </a:gridCol>
                <a:gridCol w="1713219">
                  <a:extLst>
                    <a:ext uri="{9D8B030D-6E8A-4147-A177-3AD203B41FA5}">
                      <a16:colId xmlns:a16="http://schemas.microsoft.com/office/drawing/2014/main" val="4253733116"/>
                    </a:ext>
                  </a:extLst>
                </a:gridCol>
              </a:tblGrid>
              <a:tr h="196954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STM32U575xx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MCX-N94X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ST vs NXP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373398"/>
                  </a:ext>
                </a:extLst>
              </a:tr>
              <a:tr h="196954">
                <a:tc>
                  <a:txBody>
                    <a:bodyPr/>
                    <a:lstStyle/>
                    <a:p>
                      <a:pPr algn="l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12453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12087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+3%</a:t>
                      </a:r>
                    </a:p>
                  </a:txBody>
                  <a:tcPr marL="0" marR="0" marT="0" marB="0"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By removing clock configuration footprint, ST is higher by </a:t>
                      </a: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only 15% than NXP instead of 34%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625977"/>
                  </a:ext>
                </a:extLst>
              </a:tr>
              <a:tr h="196954">
                <a:tc>
                  <a:txBody>
                    <a:bodyPr/>
                    <a:lstStyle/>
                    <a:p>
                      <a:pPr algn="l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RAM</a:t>
                      </a:r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3065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1352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+126%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506885"/>
                  </a:ext>
                </a:extLst>
              </a:tr>
              <a:tr h="196954">
                <a:tc>
                  <a:txBody>
                    <a:bodyPr/>
                    <a:lstStyle/>
                    <a:p>
                      <a:pPr algn="l"/>
                      <a:r>
                        <a:rPr lang="en-US" sz="700" b="1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7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/>
                        <a:t>15518</a:t>
                      </a:r>
                      <a:endParaRPr lang="en-US" sz="1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13439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+15%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59488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1E2BFDA-E140-DB4C-849D-478E0C7E91EF}"/>
              </a:ext>
            </a:extLst>
          </p:cNvPr>
          <p:cNvSpPr txBox="1"/>
          <p:nvPr/>
        </p:nvSpPr>
        <p:spPr>
          <a:xfrm>
            <a:off x="117510" y="5191261"/>
            <a:ext cx="36008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2060"/>
                </a:solidFill>
              </a:rPr>
              <a:t>STM32U575xx (CM33) vs MCX-N94X (CM33): USB FS/ </a:t>
            </a:r>
            <a:r>
              <a:rPr lang="en-US" sz="800" b="1" dirty="0">
                <a:solidFill>
                  <a:srgbClr val="FF0000"/>
                </a:solidFill>
              </a:rPr>
              <a:t>Without RCC 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A619D33-B4DE-00AE-8793-995FC1DD9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54113"/>
              </p:ext>
            </p:extLst>
          </p:nvPr>
        </p:nvGraphicFramePr>
        <p:xfrm>
          <a:off x="6182137" y="5401065"/>
          <a:ext cx="5743952" cy="89916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966420">
                  <a:extLst>
                    <a:ext uri="{9D8B030D-6E8A-4147-A177-3AD203B41FA5}">
                      <a16:colId xmlns:a16="http://schemas.microsoft.com/office/drawing/2014/main" val="1473133747"/>
                    </a:ext>
                  </a:extLst>
                </a:gridCol>
                <a:gridCol w="1062755">
                  <a:extLst>
                    <a:ext uri="{9D8B030D-6E8A-4147-A177-3AD203B41FA5}">
                      <a16:colId xmlns:a16="http://schemas.microsoft.com/office/drawing/2014/main" val="41625988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1196173778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713348666"/>
                    </a:ext>
                  </a:extLst>
                </a:gridCol>
                <a:gridCol w="1831113">
                  <a:extLst>
                    <a:ext uri="{9D8B030D-6E8A-4147-A177-3AD203B41FA5}">
                      <a16:colId xmlns:a16="http://schemas.microsoft.com/office/drawing/2014/main" val="4253733116"/>
                    </a:ext>
                  </a:extLst>
                </a:gridCol>
              </a:tblGrid>
              <a:tr h="184353">
                <a:tc>
                  <a:txBody>
                    <a:bodyPr/>
                    <a:lstStyle/>
                    <a:p>
                      <a:pPr algn="ctr"/>
                      <a:endParaRPr 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STM32U575xx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MCX-N94X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ST vs NXP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373398"/>
                  </a:ext>
                </a:extLst>
              </a:tr>
              <a:tr h="169331">
                <a:tc>
                  <a:txBody>
                    <a:bodyPr/>
                    <a:lstStyle/>
                    <a:p>
                      <a:pPr algn="l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11817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12282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-3.79%</a:t>
                      </a:r>
                    </a:p>
                  </a:txBody>
                  <a:tcPr marL="0" marR="0" marT="0" marB="0" anchor="ctr"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By removing clock configuration footprint, ST is higher by </a:t>
                      </a: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only 2.6% than NXP instead of 21%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877290"/>
                  </a:ext>
                </a:extLst>
              </a:tr>
              <a:tr h="169331">
                <a:tc>
                  <a:txBody>
                    <a:bodyPr/>
                    <a:lstStyle/>
                    <a:p>
                      <a:pPr algn="l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RAM</a:t>
                      </a:r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2422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1590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+52%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506885"/>
                  </a:ext>
                </a:extLst>
              </a:tr>
              <a:tr h="169331">
                <a:tc>
                  <a:txBody>
                    <a:bodyPr/>
                    <a:lstStyle/>
                    <a:p>
                      <a:pPr algn="l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/>
                        <a:t>14239</a:t>
                      </a:r>
                      <a:endParaRPr lang="en-US" sz="1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13872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0000"/>
                          </a:solidFill>
                        </a:rPr>
                        <a:t>+2.6%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59488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4CB89D8-87F1-2D09-D226-FFFC95732F9A}"/>
              </a:ext>
            </a:extLst>
          </p:cNvPr>
          <p:cNvSpPr txBox="1"/>
          <p:nvPr/>
        </p:nvSpPr>
        <p:spPr>
          <a:xfrm>
            <a:off x="6123162" y="5154844"/>
            <a:ext cx="37418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2060"/>
                </a:solidFill>
              </a:rPr>
              <a:t>STM32U575xx (CM33) vs MCX-N9 XX (CM33): : USB FS/ </a:t>
            </a:r>
            <a:r>
              <a:rPr lang="en-US" sz="800" b="1" dirty="0">
                <a:solidFill>
                  <a:srgbClr val="FF0000"/>
                </a:solidFill>
              </a:rPr>
              <a:t>Without RCC </a:t>
            </a:r>
            <a:endParaRPr lang="en-US" sz="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15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6F1A30-1F85-0487-1A9C-F26878D0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8D742-083C-94FB-0E34-4A85F2E988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41F4A-479C-F594-4F6F-6A13DC8C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579F3F2-4793-F184-2D70-0CFB1978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dirty="0"/>
              <a:t>ST Competitors MW Benchmark: RTOS</a:t>
            </a:r>
            <a:br>
              <a:rPr lang="en-US" dirty="0"/>
            </a:br>
            <a:r>
              <a:rPr lang="en-US" sz="2400" b="1" dirty="0">
                <a:solidFill>
                  <a:schemeClr val="accent2"/>
                </a:solidFill>
              </a:rPr>
              <a:t>Flowcharts</a:t>
            </a:r>
            <a:endParaRPr lang="en-US" sz="2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F57287-0F4D-7575-C886-F260E924622A}"/>
              </a:ext>
            </a:extLst>
          </p:cNvPr>
          <p:cNvCxnSpPr>
            <a:cxnSpLocks/>
          </p:cNvCxnSpPr>
          <p:nvPr/>
        </p:nvCxnSpPr>
        <p:spPr>
          <a:xfrm>
            <a:off x="3970350" y="1710200"/>
            <a:ext cx="0" cy="4058902"/>
          </a:xfrm>
          <a:prstGeom prst="line">
            <a:avLst/>
          </a:prstGeom>
          <a:ln w="28575">
            <a:solidFill>
              <a:schemeClr val="accent1">
                <a:lumMod val="50000"/>
                <a:lumOff val="5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363186-FFFC-C7A4-EC87-1A115285D34D}"/>
              </a:ext>
            </a:extLst>
          </p:cNvPr>
          <p:cNvCxnSpPr>
            <a:cxnSpLocks/>
          </p:cNvCxnSpPr>
          <p:nvPr/>
        </p:nvCxnSpPr>
        <p:spPr>
          <a:xfrm>
            <a:off x="7972374" y="1710200"/>
            <a:ext cx="0" cy="4058902"/>
          </a:xfrm>
          <a:prstGeom prst="line">
            <a:avLst/>
          </a:prstGeom>
          <a:ln w="28575">
            <a:solidFill>
              <a:schemeClr val="accent1">
                <a:lumMod val="50000"/>
                <a:lumOff val="5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CA5AA-CB1F-DFEA-1F4B-4437010F1FE3}"/>
              </a:ext>
            </a:extLst>
          </p:cNvPr>
          <p:cNvGrpSpPr/>
          <p:nvPr/>
        </p:nvGrpSpPr>
        <p:grpSpPr>
          <a:xfrm>
            <a:off x="182880" y="2001219"/>
            <a:ext cx="3913435" cy="2669500"/>
            <a:chOff x="154589" y="3110008"/>
            <a:chExt cx="3913435" cy="2669500"/>
          </a:xfrm>
        </p:grpSpPr>
        <p:sp>
          <p:nvSpPr>
            <p:cNvPr id="14" name="TextBox 25">
              <a:extLst>
                <a:ext uri="{FF2B5EF4-FFF2-40B4-BE49-F238E27FC236}">
                  <a16:creationId xmlns:a16="http://schemas.microsoft.com/office/drawing/2014/main" id="{1517BBC7-3116-E7F4-8FB2-63B54BA9CF82}"/>
                </a:ext>
              </a:extLst>
            </p:cNvPr>
            <p:cNvSpPr txBox="1"/>
            <p:nvPr/>
          </p:nvSpPr>
          <p:spPr>
            <a:xfrm>
              <a:off x="1975253" y="3350454"/>
              <a:ext cx="1615604" cy="18466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/>
                <a:t>Clock frequency: 160 MHz</a:t>
              </a:r>
              <a:endParaRPr lang="fr-FR" sz="60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C5051FE-02AD-6B41-561A-955A0E8F474B}"/>
                </a:ext>
              </a:extLst>
            </p:cNvPr>
            <p:cNvGrpSpPr/>
            <p:nvPr/>
          </p:nvGrpSpPr>
          <p:grpSpPr>
            <a:xfrm>
              <a:off x="154589" y="3110008"/>
              <a:ext cx="3913435" cy="2669500"/>
              <a:chOff x="154589" y="3110008"/>
              <a:chExt cx="3913435" cy="26695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DBD920B-40E7-FE11-246F-3E7561E009B3}"/>
                  </a:ext>
                </a:extLst>
              </p:cNvPr>
              <p:cNvGrpSpPr/>
              <p:nvPr/>
            </p:nvGrpSpPr>
            <p:grpSpPr>
              <a:xfrm>
                <a:off x="154589" y="3110008"/>
                <a:ext cx="2847013" cy="2669500"/>
                <a:chOff x="2767175" y="1195569"/>
                <a:chExt cx="2847013" cy="2669500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BE6E6D8E-B0CA-02BA-7817-84622D6AB093}"/>
                    </a:ext>
                  </a:extLst>
                </p:cNvPr>
                <p:cNvSpPr/>
                <p:nvPr/>
              </p:nvSpPr>
              <p:spPr>
                <a:xfrm>
                  <a:off x="3689111" y="1195569"/>
                  <a:ext cx="507257" cy="183850"/>
                </a:xfrm>
                <a:prstGeom prst="ellipse">
                  <a:avLst/>
                </a:prstGeom>
                <a:ln/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chemeClr val="bg1"/>
                    </a:buClr>
                  </a:pPr>
                  <a:r>
                    <a:rPr lang="fr-FR" sz="600">
                      <a:solidFill>
                        <a:schemeClr val="tx1"/>
                      </a:solidFill>
                    </a:rPr>
                    <a:t>Start</a:t>
                  </a:r>
                  <a:endParaRPr lang="en-US" sz="600"/>
                </a:p>
              </p:txBody>
            </p: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F2F97755-DBB7-DE8C-B097-6813C3504AB0}"/>
                    </a:ext>
                  </a:extLst>
                </p:cNvPr>
                <p:cNvGrpSpPr/>
                <p:nvPr/>
              </p:nvGrpSpPr>
              <p:grpSpPr>
                <a:xfrm>
                  <a:off x="2767175" y="1379419"/>
                  <a:ext cx="2847013" cy="2485650"/>
                  <a:chOff x="2767175" y="1379419"/>
                  <a:chExt cx="2847013" cy="2485650"/>
                </a:xfrm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CB1C5E67-DB28-DFFA-6F40-1F8F0BEEABF6}"/>
                      </a:ext>
                    </a:extLst>
                  </p:cNvPr>
                  <p:cNvGrpSpPr/>
                  <p:nvPr/>
                </p:nvGrpSpPr>
                <p:grpSpPr>
                  <a:xfrm>
                    <a:off x="2767175" y="1379419"/>
                    <a:ext cx="2847013" cy="2485650"/>
                    <a:chOff x="3296902" y="1020405"/>
                    <a:chExt cx="5720281" cy="3553976"/>
                  </a:xfrm>
                </p:grpSpPr>
                <p:cxnSp>
                  <p:nvCxnSpPr>
                    <p:cNvPr id="23" name="Straight Arrow Connector 22">
                      <a:extLst>
                        <a:ext uri="{FF2B5EF4-FFF2-40B4-BE49-F238E27FC236}">
                          <a16:creationId xmlns:a16="http://schemas.microsoft.com/office/drawing/2014/main" id="{4032E071-F410-0CDA-FB47-AEF7A41519B9}"/>
                        </a:ext>
                      </a:extLst>
                    </p:cNvPr>
                    <p:cNvCxnSpPr>
                      <a:cxnSpLocks/>
                      <a:stCxn id="18" idx="4"/>
                      <a:endCxn id="24" idx="0"/>
                    </p:cNvCxnSpPr>
                    <p:nvPr/>
                  </p:nvCxnSpPr>
                  <p:spPr>
                    <a:xfrm>
                      <a:off x="5658873" y="1020405"/>
                      <a:ext cx="6516" cy="175349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9D9687AE-69D5-FCE9-F62B-D5B002D227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41430" y="1195753"/>
                      <a:ext cx="1847917" cy="205116"/>
                    </a:xfrm>
                    <a:prstGeom prst="rect">
                      <a:avLst/>
                    </a:prstGeom>
                    <a:ln/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91440" tIns="45720" rIns="91440" bIns="45720"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Clr>
                          <a:schemeClr val="bg1"/>
                        </a:buClr>
                      </a:pPr>
                      <a:endParaRPr lang="fr-FR" sz="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600" err="1">
                          <a:solidFill>
                            <a:schemeClr val="tx1"/>
                          </a:solidFill>
                        </a:rPr>
                        <a:t>Clock</a:t>
                      </a:r>
                      <a:r>
                        <a:rPr lang="fr-FR" sz="600">
                          <a:solidFill>
                            <a:schemeClr val="tx1"/>
                          </a:solidFill>
                        </a:rPr>
                        <a:t> configuration</a:t>
                      </a:r>
                    </a:p>
                    <a:p>
                      <a:pPr algn="ctr">
                        <a:buClr>
                          <a:schemeClr val="bg1"/>
                        </a:buClr>
                      </a:pPr>
                      <a:endParaRPr lang="fr-FR" sz="600">
                        <a:solidFill>
                          <a:schemeClr val="tx1"/>
                        </a:solidFill>
                        <a:cs typeface="Arial"/>
                      </a:endParaRPr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0F04D04F-1451-017D-F2D9-786415934C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11265" y="1966168"/>
                      <a:ext cx="1454775" cy="26403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lvl="0">
                        <a:defRPr/>
                      </a:pPr>
                      <a:r>
                        <a:rPr kumimoji="0" lang="fr-FR" sz="60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3234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LOW </a:t>
                      </a:r>
                      <a:r>
                        <a:rPr kumimoji="0" lang="fr-FR" sz="60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3234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Priority</a:t>
                      </a:r>
                      <a:endParaRPr kumimoji="0" lang="en-US" sz="60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3234B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C1925AEB-7129-EDB5-F953-9B67342E8C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21463" y="1997986"/>
                      <a:ext cx="2502215" cy="959564"/>
                      <a:chOff x="4598364" y="1814808"/>
                      <a:chExt cx="2502215" cy="959564"/>
                    </a:xfrm>
                  </p:grpSpPr>
                  <p:sp>
                    <p:nvSpPr>
                      <p:cNvPr id="54" name="Rectangle 53">
                        <a:extLst>
                          <a:ext uri="{FF2B5EF4-FFF2-40B4-BE49-F238E27FC236}">
                            <a16:creationId xmlns:a16="http://schemas.microsoft.com/office/drawing/2014/main" id="{B530FB57-904B-1257-1ACD-2F7D8D69A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834" y="1814808"/>
                        <a:ext cx="2087851" cy="211430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buClr>
                            <a:schemeClr val="bg1"/>
                          </a:buClr>
                        </a:pPr>
                        <a:r>
                          <a:rPr lang="fr-FR" sz="600" dirty="0" err="1">
                            <a:solidFill>
                              <a:schemeClr val="tx1"/>
                            </a:solidFill>
                          </a:rPr>
                          <a:t>Create</a:t>
                        </a:r>
                        <a:r>
                          <a:rPr lang="fr-FR" sz="600" dirty="0">
                            <a:solidFill>
                              <a:schemeClr val="tx1"/>
                            </a:solidFill>
                          </a:rPr>
                          <a:t> </a:t>
                        </a:r>
                        <a:r>
                          <a:rPr lang="fr-FR" sz="600" dirty="0" err="1">
                            <a:solidFill>
                              <a:schemeClr val="tx1"/>
                            </a:solidFill>
                          </a:rPr>
                          <a:t>Counting</a:t>
                        </a:r>
                        <a:r>
                          <a:rPr lang="fr-FR" sz="600" dirty="0">
                            <a:solidFill>
                              <a:schemeClr val="tx1"/>
                            </a:solidFill>
                          </a:rPr>
                          <a:t> Thread</a:t>
                        </a:r>
                        <a:endParaRPr lang="en-US" sz="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cxnSp>
                    <p:nvCxnSpPr>
                      <p:cNvPr id="55" name="Straight Arrow Connector 54">
                        <a:extLst>
                          <a:ext uri="{FF2B5EF4-FFF2-40B4-BE49-F238E27FC236}">
                            <a16:creationId xmlns:a16="http://schemas.microsoft.com/office/drawing/2014/main" id="{C1A8A9E7-09E1-7964-F792-918B4BE043CD}"/>
                          </a:ext>
                        </a:extLst>
                      </p:cNvPr>
                      <p:cNvCxnSpPr>
                        <a:cxnSpLocks/>
                        <a:stCxn id="54" idx="2"/>
                        <a:endCxn id="71" idx="0"/>
                      </p:cNvCxnSpPr>
                      <p:nvPr/>
                    </p:nvCxnSpPr>
                    <p:spPr>
                      <a:xfrm flipH="1">
                        <a:off x="5642290" y="2026238"/>
                        <a:ext cx="7470" cy="185754"/>
                      </a:xfrm>
                      <a:prstGeom prst="straightConnector1">
                        <a:avLst/>
                      </a:prstGeom>
                      <a:ln>
                        <a:headEnd type="none" w="lg" len="lg"/>
                        <a:tailEnd type="triangle"/>
                      </a:ln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70" name="Straight Arrow Connector 69">
                        <a:extLst>
                          <a:ext uri="{FF2B5EF4-FFF2-40B4-BE49-F238E27FC236}">
                            <a16:creationId xmlns:a16="http://schemas.microsoft.com/office/drawing/2014/main" id="{F67F5CDD-0AFD-AC52-B93D-F6B95586E990}"/>
                          </a:ext>
                        </a:extLst>
                      </p:cNvPr>
                      <p:cNvCxnSpPr>
                        <a:cxnSpLocks/>
                        <a:stCxn id="54" idx="3"/>
                        <a:endCxn id="25" idx="1"/>
                      </p:cNvCxnSpPr>
                      <p:nvPr/>
                    </p:nvCxnSpPr>
                    <p:spPr>
                      <a:xfrm flipV="1">
                        <a:off x="6693686" y="1915007"/>
                        <a:ext cx="394481" cy="5516"/>
                      </a:xfrm>
                      <a:prstGeom prst="straightConnector1">
                        <a:avLst/>
                      </a:prstGeom>
                      <a:ln>
                        <a:headEnd type="none" w="lg" len="lg"/>
                        <a:tailEnd type="triangle"/>
                      </a:ln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</p:cxnSp>
                  <p:sp>
                    <p:nvSpPr>
                      <p:cNvPr id="71" name="Rectangle 70">
                        <a:extLst>
                          <a:ext uri="{FF2B5EF4-FFF2-40B4-BE49-F238E27FC236}">
                            <a16:creationId xmlns:a16="http://schemas.microsoft.com/office/drawing/2014/main" id="{1FDCA218-A75C-44DC-5652-D0A5B51FDB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98364" y="2211991"/>
                        <a:ext cx="2087851" cy="201070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lIns="91440" tIns="45720" rIns="91440" bIns="45720"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buClr>
                            <a:schemeClr val="bg1"/>
                          </a:buClr>
                        </a:pPr>
                        <a:r>
                          <a:rPr lang="fr-FR" sz="600" err="1">
                            <a:solidFill>
                              <a:schemeClr val="tx1"/>
                            </a:solidFill>
                            <a:cs typeface="Arial"/>
                          </a:rPr>
                          <a:t>Create</a:t>
                        </a:r>
                        <a:r>
                          <a:rPr lang="fr-FR" sz="600">
                            <a:solidFill>
                              <a:schemeClr val="tx1"/>
                            </a:solidFill>
                            <a:cs typeface="Arial"/>
                          </a:rPr>
                          <a:t> </a:t>
                        </a:r>
                        <a:r>
                          <a:rPr lang="fr-FR" sz="600" err="1">
                            <a:solidFill>
                              <a:schemeClr val="tx1"/>
                            </a:solidFill>
                            <a:cs typeface="Arial"/>
                          </a:rPr>
                          <a:t>Reporting</a:t>
                        </a:r>
                        <a:r>
                          <a:rPr lang="fr-FR" sz="600">
                            <a:solidFill>
                              <a:schemeClr val="tx1"/>
                            </a:solidFill>
                            <a:cs typeface="Arial"/>
                          </a:rPr>
                          <a:t> Thread</a:t>
                        </a:r>
                      </a:p>
                    </p:txBody>
                  </p:sp>
                  <p:cxnSp>
                    <p:nvCxnSpPr>
                      <p:cNvPr id="72" name="Straight Arrow Connector 71">
                        <a:extLst>
                          <a:ext uri="{FF2B5EF4-FFF2-40B4-BE49-F238E27FC236}">
                            <a16:creationId xmlns:a16="http://schemas.microsoft.com/office/drawing/2014/main" id="{1ED6BED1-12F6-9B88-FFCE-666C3A0AC7FD}"/>
                          </a:ext>
                        </a:extLst>
                      </p:cNvPr>
                      <p:cNvCxnSpPr>
                        <a:cxnSpLocks/>
                        <a:stCxn id="71" idx="3"/>
                        <a:endCxn id="38" idx="1"/>
                      </p:cNvCxnSpPr>
                      <p:nvPr/>
                    </p:nvCxnSpPr>
                    <p:spPr>
                      <a:xfrm flipV="1">
                        <a:off x="6686215" y="2311059"/>
                        <a:ext cx="401951" cy="1467"/>
                      </a:xfrm>
                      <a:prstGeom prst="straightConnector1">
                        <a:avLst/>
                      </a:prstGeom>
                      <a:ln>
                        <a:headEnd type="none" w="lg" len="lg"/>
                        <a:tailEnd type="triangle"/>
                      </a:ln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</p:cxnSp>
                  <p:sp>
                    <p:nvSpPr>
                      <p:cNvPr id="73" name="Rectangle 72">
                        <a:extLst>
                          <a:ext uri="{FF2B5EF4-FFF2-40B4-BE49-F238E27FC236}">
                            <a16:creationId xmlns:a16="http://schemas.microsoft.com/office/drawing/2014/main" id="{67934808-866B-3156-2D77-6D5F562CBD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81563" y="2592405"/>
                        <a:ext cx="1736392" cy="181967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lIns="91440" tIns="45720" rIns="91440" bIns="45720"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buClr>
                            <a:schemeClr val="bg1"/>
                          </a:buClr>
                        </a:pPr>
                        <a:r>
                          <a:rPr lang="fr-FR" sz="600">
                            <a:solidFill>
                              <a:schemeClr val="tx1"/>
                            </a:solidFill>
                            <a:cs typeface="Arial"/>
                          </a:rPr>
                          <a:t>Start the </a:t>
                        </a:r>
                        <a:r>
                          <a:rPr lang="fr-FR" sz="600" err="1">
                            <a:solidFill>
                              <a:schemeClr val="tx1"/>
                            </a:solidFill>
                            <a:cs typeface="Arial"/>
                          </a:rPr>
                          <a:t>scheduler</a:t>
                        </a:r>
                        <a:endParaRPr lang="fr-FR" sz="600">
                          <a:solidFill>
                            <a:schemeClr val="tx1"/>
                          </a:solidFill>
                          <a:cs typeface="Arial"/>
                        </a:endParaRPr>
                      </a:p>
                    </p:txBody>
                  </p:sp>
                  <p:cxnSp>
                    <p:nvCxnSpPr>
                      <p:cNvPr id="74" name="Straight Arrow Connector 73">
                        <a:extLst>
                          <a:ext uri="{FF2B5EF4-FFF2-40B4-BE49-F238E27FC236}">
                            <a16:creationId xmlns:a16="http://schemas.microsoft.com/office/drawing/2014/main" id="{FE9148F8-823C-B8D6-1A32-95B542F2CB8F}"/>
                          </a:ext>
                        </a:extLst>
                      </p:cNvPr>
                      <p:cNvCxnSpPr>
                        <a:cxnSpLocks/>
                        <a:stCxn id="71" idx="2"/>
                        <a:endCxn id="73" idx="0"/>
                      </p:cNvCxnSpPr>
                      <p:nvPr/>
                    </p:nvCxnSpPr>
                    <p:spPr>
                      <a:xfrm>
                        <a:off x="5642290" y="2413061"/>
                        <a:ext cx="7470" cy="179344"/>
                      </a:xfrm>
                      <a:prstGeom prst="straightConnector1">
                        <a:avLst/>
                      </a:prstGeom>
                      <a:ln>
                        <a:headEnd type="none" w="lg" len="lg"/>
                        <a:tailEnd type="triangle"/>
                      </a:ln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75" name="Straight Arrow Connector 74">
                        <a:extLst>
                          <a:ext uri="{FF2B5EF4-FFF2-40B4-BE49-F238E27FC236}">
                            <a16:creationId xmlns:a16="http://schemas.microsoft.com/office/drawing/2014/main" id="{3880FEAB-F3F1-A001-D5CC-78CF412198FE}"/>
                          </a:ext>
                        </a:extLst>
                      </p:cNvPr>
                      <p:cNvCxnSpPr>
                        <a:cxnSpLocks/>
                        <a:stCxn id="73" idx="3"/>
                        <a:endCxn id="31" idx="1"/>
                      </p:cNvCxnSpPr>
                      <p:nvPr/>
                    </p:nvCxnSpPr>
                    <p:spPr>
                      <a:xfrm flipV="1">
                        <a:off x="6517955" y="2676149"/>
                        <a:ext cx="582624" cy="7239"/>
                      </a:xfrm>
                      <a:prstGeom prst="straightConnector1">
                        <a:avLst/>
                      </a:prstGeom>
                      <a:ln>
                        <a:headEnd type="none" w="lg" len="lg"/>
                        <a:tailEnd type="triangle"/>
                      </a:ln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</p:cxnSp>
                </p:grpSp>
                <p:sp>
                  <p:nvSpPr>
                    <p:cNvPr id="27" name="Rectangle 26">
                      <a:extLst>
                        <a:ext uri="{FF2B5EF4-FFF2-40B4-BE49-F238E27FC236}">
                          <a16:creationId xmlns:a16="http://schemas.microsoft.com/office/drawing/2014/main" id="{B3A35C70-CA61-9571-AE81-DEBB325F39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58542" y="1591802"/>
                      <a:ext cx="2400662" cy="205116"/>
                    </a:xfrm>
                    <a:prstGeom prst="rect">
                      <a:avLst/>
                    </a:prstGeom>
                    <a:ln/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91440" tIns="45720" rIns="91440" bIns="45720"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Clr>
                          <a:schemeClr val="bg1"/>
                        </a:buClr>
                      </a:pPr>
                      <a:r>
                        <a:rPr lang="fr-FR" sz="600" err="1">
                          <a:solidFill>
                            <a:schemeClr val="tx1"/>
                          </a:solidFill>
                          <a:cs typeface="Arial"/>
                        </a:rPr>
                        <a:t>Initialize</a:t>
                      </a:r>
                      <a:r>
                        <a:rPr lang="fr-FR" sz="600">
                          <a:solidFill>
                            <a:schemeClr val="tx1"/>
                          </a:solidFill>
                          <a:cs typeface="Arial"/>
                        </a:rPr>
                        <a:t> a global </a:t>
                      </a:r>
                      <a:r>
                        <a:rPr lang="fr-FR" sz="600" err="1">
                          <a:solidFill>
                            <a:schemeClr val="tx1"/>
                          </a:solidFill>
                          <a:cs typeface="Arial"/>
                        </a:rPr>
                        <a:t>counter</a:t>
                      </a:r>
                      <a:r>
                        <a:rPr lang="fr-FR" sz="600">
                          <a:solidFill>
                            <a:schemeClr val="tx1"/>
                          </a:solidFill>
                          <a:cs typeface="Arial"/>
                        </a:rPr>
                        <a:t> to 0</a:t>
                      </a:r>
                    </a:p>
                  </p:txBody>
                </p:sp>
                <p:cxnSp>
                  <p:nvCxnSpPr>
                    <p:cNvPr id="28" name="Straight Arrow Connector 27">
                      <a:extLst>
                        <a:ext uri="{FF2B5EF4-FFF2-40B4-BE49-F238E27FC236}">
                          <a16:creationId xmlns:a16="http://schemas.microsoft.com/office/drawing/2014/main" id="{DE9B04D6-5291-BECA-0DA6-AD82759F6D0F}"/>
                        </a:ext>
                      </a:extLst>
                    </p:cNvPr>
                    <p:cNvCxnSpPr>
                      <a:cxnSpLocks/>
                      <a:stCxn id="24" idx="2"/>
                      <a:endCxn id="27" idx="0"/>
                    </p:cNvCxnSpPr>
                    <p:nvPr/>
                  </p:nvCxnSpPr>
                  <p:spPr>
                    <a:xfrm flipH="1">
                      <a:off x="5658873" y="1400869"/>
                      <a:ext cx="6516" cy="190932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29" name="Straight Arrow Connector 28">
                      <a:extLst>
                        <a:ext uri="{FF2B5EF4-FFF2-40B4-BE49-F238E27FC236}">
                          <a16:creationId xmlns:a16="http://schemas.microsoft.com/office/drawing/2014/main" id="{C52F3B06-2020-9F90-781A-A82F2DC20A8B}"/>
                        </a:ext>
                      </a:extLst>
                    </p:cNvPr>
                    <p:cNvCxnSpPr>
                      <a:cxnSpLocks/>
                      <a:stCxn id="27" idx="2"/>
                      <a:endCxn id="54" idx="0"/>
                    </p:cNvCxnSpPr>
                    <p:nvPr/>
                  </p:nvCxnSpPr>
                  <p:spPr>
                    <a:xfrm>
                      <a:off x="5658873" y="1796918"/>
                      <a:ext cx="13986" cy="201068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30" name="Straight Arrow Connector 29">
                      <a:extLst>
                        <a:ext uri="{FF2B5EF4-FFF2-40B4-BE49-F238E27FC236}">
                          <a16:creationId xmlns:a16="http://schemas.microsoft.com/office/drawing/2014/main" id="{6DF16103-E1D5-87EB-8A2D-E0C2C0098E42}"/>
                        </a:ext>
                      </a:extLst>
                    </p:cNvPr>
                    <p:cNvCxnSpPr>
                      <a:cxnSpLocks/>
                      <a:stCxn id="24" idx="3"/>
                      <a:endCxn id="14" idx="1"/>
                    </p:cNvCxnSpPr>
                    <p:nvPr/>
                  </p:nvCxnSpPr>
                  <p:spPr>
                    <a:xfrm flipV="1">
                      <a:off x="6589348" y="1233343"/>
                      <a:ext cx="365672" cy="64967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B2031BE3-42D3-A929-D71B-2B5C43086F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23678" y="2727310"/>
                      <a:ext cx="1893505" cy="26403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lvl="0">
                        <a:defRPr/>
                      </a:pPr>
                      <a:r>
                        <a:rPr kumimoji="0" lang="fr-FR" sz="60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3234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 ms time slice/</a:t>
                      </a:r>
                      <a:r>
                        <a:rPr kumimoji="0" lang="fr-FR" sz="60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3234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task</a:t>
                      </a:r>
                      <a:endParaRPr kumimoji="0" lang="en-US" sz="60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3234B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grpSp>
                  <p:nvGrpSpPr>
                    <p:cNvPr id="32" name="Group 31">
                      <a:extLst>
                        <a:ext uri="{FF2B5EF4-FFF2-40B4-BE49-F238E27FC236}">
                          <a16:creationId xmlns:a16="http://schemas.microsoft.com/office/drawing/2014/main" id="{896E6E64-C5EE-4820-9FC2-F7043861D8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96902" y="3291965"/>
                      <a:ext cx="1971153" cy="1282416"/>
                      <a:chOff x="3296902" y="3291965"/>
                      <a:chExt cx="1971153" cy="1282416"/>
                    </a:xfrm>
                  </p:grpSpPr>
                  <p:grpSp>
                    <p:nvGrpSpPr>
                      <p:cNvPr id="47" name="Group 46">
                        <a:extLst>
                          <a:ext uri="{FF2B5EF4-FFF2-40B4-BE49-F238E27FC236}">
                            <a16:creationId xmlns:a16="http://schemas.microsoft.com/office/drawing/2014/main" id="{39969D48-F275-766D-A237-BDAB6B3B3DE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331826" y="3291965"/>
                        <a:ext cx="1901307" cy="678701"/>
                        <a:chOff x="5434707" y="1543050"/>
                        <a:chExt cx="1901307" cy="678701"/>
                      </a:xfrm>
                    </p:grpSpPr>
                    <p:sp>
                      <p:nvSpPr>
                        <p:cNvPr id="50" name="Rectangle 49">
                          <a:extLst>
                            <a:ext uri="{FF2B5EF4-FFF2-40B4-BE49-F238E27FC236}">
                              <a16:creationId xmlns:a16="http://schemas.microsoft.com/office/drawing/2014/main" id="{9CDE0EDF-D418-C2C9-0C43-9586AED11C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45237" y="1543050"/>
                          <a:ext cx="1880246" cy="165229"/>
                        </a:xfrm>
                        <a:prstGeom prst="rect">
                          <a:avLst/>
                        </a:prstGeom>
                        <a:ln/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buClr>
                              <a:schemeClr val="bg1"/>
                            </a:buClr>
                          </a:pPr>
                          <a:r>
                            <a:rPr lang="fr-FR" sz="600">
                              <a:solidFill>
                                <a:schemeClr val="tx1"/>
                              </a:solidFill>
                            </a:rPr>
                            <a:t>Start </a:t>
                          </a:r>
                          <a:r>
                            <a:rPr lang="fr-FR" sz="600" err="1">
                              <a:solidFill>
                                <a:schemeClr val="tx1"/>
                              </a:solidFill>
                            </a:rPr>
                            <a:t>Counting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</a:rPr>
                            <a:t> Thread</a:t>
                          </a:r>
                          <a:endParaRPr lang="en-US" sz="6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cxnSp>
                      <p:nvCxnSpPr>
                        <p:cNvPr id="51" name="Straight Arrow Connector 50">
                          <a:extLst>
                            <a:ext uri="{FF2B5EF4-FFF2-40B4-BE49-F238E27FC236}">
                              <a16:creationId xmlns:a16="http://schemas.microsoft.com/office/drawing/2014/main" id="{DCC9357B-FDF0-3692-6D18-B5CED03C2D14}"/>
                            </a:ext>
                          </a:extLst>
                        </p:cNvPr>
                        <p:cNvCxnSpPr>
                          <a:cxnSpLocks/>
                          <a:stCxn id="50" idx="2"/>
                          <a:endCxn id="52" idx="0"/>
                        </p:cNvCxnSpPr>
                        <p:nvPr/>
                      </p:nvCxnSpPr>
                      <p:spPr>
                        <a:xfrm>
                          <a:off x="6385361" y="1708279"/>
                          <a:ext cx="0" cy="174034"/>
                        </a:xfrm>
                        <a:prstGeom prst="straightConnector1">
                          <a:avLst/>
                        </a:prstGeom>
                        <a:ln>
                          <a:headEnd type="none" w="lg" len="lg"/>
                          <a:tailEnd type="triangle"/>
                        </a:ln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</p:cxnSp>
                    <p:sp>
                      <p:nvSpPr>
                        <p:cNvPr id="52" name="Rectangle 51">
                          <a:extLst>
                            <a:ext uri="{FF2B5EF4-FFF2-40B4-BE49-F238E27FC236}">
                              <a16:creationId xmlns:a16="http://schemas.microsoft.com/office/drawing/2014/main" id="{0BAFFDEF-85A1-6075-D8AB-9ADCFF7FE94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34707" y="1882312"/>
                          <a:ext cx="1901307" cy="161301"/>
                        </a:xfrm>
                        <a:prstGeom prst="rect">
                          <a:avLst/>
                        </a:prstGeom>
                        <a:ln/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91440" tIns="45720" rIns="91440" bIns="45720"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buClr>
                              <a:schemeClr val="bg1"/>
                            </a:buClr>
                          </a:pPr>
                          <a:r>
                            <a:rPr lang="fr-FR" sz="600" err="1">
                              <a:solidFill>
                                <a:schemeClr val="tx1"/>
                              </a:solidFill>
                              <a:cs typeface="Arial"/>
                            </a:rPr>
                            <a:t>Initialize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  <a:cs typeface="Arial"/>
                            </a:rPr>
                            <a:t> an </a:t>
                          </a:r>
                          <a:r>
                            <a:rPr lang="fr-FR" sz="600" err="1">
                              <a:solidFill>
                                <a:schemeClr val="tx1"/>
                              </a:solidFill>
                              <a:cs typeface="Arial"/>
                            </a:rPr>
                            <a:t>array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  <a:cs typeface="Arial"/>
                            </a:rPr>
                            <a:t> to 0</a:t>
                          </a:r>
                        </a:p>
                      </p:txBody>
                    </p:sp>
                    <p:cxnSp>
                      <p:nvCxnSpPr>
                        <p:cNvPr id="53" name="Straight Arrow Connector 52">
                          <a:extLst>
                            <a:ext uri="{FF2B5EF4-FFF2-40B4-BE49-F238E27FC236}">
                              <a16:creationId xmlns:a16="http://schemas.microsoft.com/office/drawing/2014/main" id="{27CAB04C-7D2D-020D-664F-872765EE8CBA}"/>
                            </a:ext>
                          </a:extLst>
                        </p:cNvPr>
                        <p:cNvCxnSpPr>
                          <a:cxnSpLocks/>
                          <a:stCxn id="52" idx="2"/>
                          <a:endCxn id="48" idx="0"/>
                        </p:cNvCxnSpPr>
                        <p:nvPr/>
                      </p:nvCxnSpPr>
                      <p:spPr>
                        <a:xfrm>
                          <a:off x="6385361" y="2043614"/>
                          <a:ext cx="0" cy="178137"/>
                        </a:xfrm>
                        <a:prstGeom prst="straightConnector1">
                          <a:avLst/>
                        </a:prstGeom>
                        <a:ln>
                          <a:headEnd type="none" w="lg" len="lg"/>
                          <a:tailEnd type="triangle"/>
                        </a:ln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</p:cxnSp>
                  </p:grpSp>
                  <p:sp>
                    <p:nvSpPr>
                      <p:cNvPr id="48" name="Rectangle 47">
                        <a:extLst>
                          <a:ext uri="{FF2B5EF4-FFF2-40B4-BE49-F238E27FC236}">
                            <a16:creationId xmlns:a16="http://schemas.microsoft.com/office/drawing/2014/main" id="{8435B828-491B-585D-A637-086371E9F6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96902" y="3970666"/>
                        <a:ext cx="1971153" cy="143314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lIns="91440" tIns="45720" rIns="91440" bIns="45720"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buClr>
                            <a:schemeClr val="bg1"/>
                          </a:buClr>
                        </a:pPr>
                        <a:endParaRPr lang="fr-FR" sz="600">
                          <a:solidFill>
                            <a:schemeClr val="tx1"/>
                          </a:solidFill>
                        </a:endParaRPr>
                      </a:p>
                      <a:p>
                        <a:pPr algn="ctr">
                          <a:buClr>
                            <a:schemeClr val="bg1"/>
                          </a:buClr>
                        </a:pPr>
                        <a:r>
                          <a:rPr lang="fr-FR" sz="600">
                            <a:solidFill>
                              <a:schemeClr val="tx1"/>
                            </a:solidFill>
                          </a:rPr>
                          <a:t>Update </a:t>
                        </a:r>
                        <a:r>
                          <a:rPr lang="fr-FR" sz="600" err="1">
                            <a:solidFill>
                              <a:schemeClr val="tx1"/>
                            </a:solidFill>
                          </a:rPr>
                          <a:t>array</a:t>
                        </a:r>
                        <a:r>
                          <a:rPr lang="fr-FR" sz="600">
                            <a:solidFill>
                              <a:schemeClr val="tx1"/>
                            </a:solidFill>
                          </a:rPr>
                          <a:t> </a:t>
                        </a:r>
                        <a:r>
                          <a:rPr lang="fr-FR" sz="600" err="1">
                            <a:solidFill>
                              <a:schemeClr val="tx1"/>
                            </a:solidFill>
                          </a:rPr>
                          <a:t>elements</a:t>
                        </a:r>
                        <a:endParaRPr lang="fr-FR" sz="600">
                          <a:solidFill>
                            <a:schemeClr val="tx1"/>
                          </a:solidFill>
                        </a:endParaRPr>
                      </a:p>
                      <a:p>
                        <a:pPr algn="ctr">
                          <a:buClr>
                            <a:schemeClr val="bg1"/>
                          </a:buClr>
                        </a:pPr>
                        <a:endParaRPr lang="fr-FR" sz="600">
                          <a:solidFill>
                            <a:schemeClr val="tx1"/>
                          </a:solidFill>
                          <a:cs typeface="Arial"/>
                        </a:endParaRPr>
                      </a:p>
                    </p:txBody>
                  </p:sp>
                  <p:sp>
                    <p:nvSpPr>
                      <p:cNvPr id="49" name="Rectangle 48">
                        <a:extLst>
                          <a:ext uri="{FF2B5EF4-FFF2-40B4-BE49-F238E27FC236}">
                            <a16:creationId xmlns:a16="http://schemas.microsoft.com/office/drawing/2014/main" id="{F4E3959C-B51D-A592-243C-C75796C188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322258" y="4287755"/>
                        <a:ext cx="1936231" cy="286626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lIns="91440" tIns="45720" rIns="91440" bIns="45720"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buClr>
                            <a:schemeClr val="bg1"/>
                          </a:buClr>
                        </a:pPr>
                        <a:endParaRPr lang="fr-FR" sz="600">
                          <a:solidFill>
                            <a:schemeClr val="tx1"/>
                          </a:solidFill>
                        </a:endParaRPr>
                      </a:p>
                      <a:p>
                        <a:pPr algn="ctr">
                          <a:buClr>
                            <a:schemeClr val="bg1"/>
                          </a:buClr>
                        </a:pPr>
                        <a:r>
                          <a:rPr lang="fr-FR" sz="600" err="1">
                            <a:solidFill>
                              <a:schemeClr val="tx1"/>
                            </a:solidFill>
                          </a:rPr>
                          <a:t>Increment</a:t>
                        </a:r>
                        <a:r>
                          <a:rPr lang="fr-FR" sz="600">
                            <a:solidFill>
                              <a:schemeClr val="tx1"/>
                            </a:solidFill>
                          </a:rPr>
                          <a:t> the global </a:t>
                        </a:r>
                        <a:r>
                          <a:rPr lang="fr-FR" sz="600" err="1">
                            <a:solidFill>
                              <a:schemeClr val="tx1"/>
                            </a:solidFill>
                          </a:rPr>
                          <a:t>counter</a:t>
                        </a:r>
                        <a:endParaRPr lang="fr-FR" sz="600">
                          <a:solidFill>
                            <a:schemeClr val="tx1"/>
                          </a:solidFill>
                        </a:endParaRPr>
                      </a:p>
                      <a:p>
                        <a:pPr algn="ctr">
                          <a:buClr>
                            <a:schemeClr val="bg1"/>
                          </a:buClr>
                        </a:pPr>
                        <a:endParaRPr lang="fr-FR" sz="600">
                          <a:solidFill>
                            <a:schemeClr val="tx1"/>
                          </a:solidFill>
                          <a:cs typeface="Arial"/>
                        </a:endParaRPr>
                      </a:p>
                    </p:txBody>
                  </p:sp>
                </p:grpSp>
                <p:cxnSp>
                  <p:nvCxnSpPr>
                    <p:cNvPr id="33" name="Straight Arrow Connector 32">
                      <a:extLst>
                        <a:ext uri="{FF2B5EF4-FFF2-40B4-BE49-F238E27FC236}">
                          <a16:creationId xmlns:a16="http://schemas.microsoft.com/office/drawing/2014/main" id="{E59040F0-DA1E-0DC2-C9B7-84A203591DCD}"/>
                        </a:ext>
                      </a:extLst>
                    </p:cNvPr>
                    <p:cNvCxnSpPr>
                      <a:cxnSpLocks/>
                      <a:stCxn id="48" idx="2"/>
                      <a:endCxn id="49" idx="0"/>
                    </p:cNvCxnSpPr>
                    <p:nvPr/>
                  </p:nvCxnSpPr>
                  <p:spPr>
                    <a:xfrm>
                      <a:off x="4282480" y="4113979"/>
                      <a:ext cx="7894" cy="173775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34" name="Connector: Elbow 33">
                      <a:extLst>
                        <a:ext uri="{FF2B5EF4-FFF2-40B4-BE49-F238E27FC236}">
                          <a16:creationId xmlns:a16="http://schemas.microsoft.com/office/drawing/2014/main" id="{5CE80467-05F2-38BC-E7E9-EA3D3850BE3E}"/>
                        </a:ext>
                      </a:extLst>
                    </p:cNvPr>
                    <p:cNvCxnSpPr>
                      <a:cxnSpLocks/>
                      <a:stCxn id="49" idx="2"/>
                      <a:endCxn id="48" idx="3"/>
                    </p:cNvCxnSpPr>
                    <p:nvPr/>
                  </p:nvCxnSpPr>
                  <p:spPr>
                    <a:xfrm rot="5400000" flipH="1" flipV="1">
                      <a:off x="4513184" y="3819510"/>
                      <a:ext cx="532058" cy="977681"/>
                    </a:xfrm>
                    <a:prstGeom prst="bentConnector4">
                      <a:avLst>
                        <a:gd name="adj1" fmla="val -19838"/>
                        <a:gd name="adj2" fmla="val 146979"/>
                      </a:avLst>
                    </a:prstGeom>
                    <a:ln w="22225">
                      <a:headEnd type="none" w="lg" len="lg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5" name="Group 34">
                      <a:extLst>
                        <a:ext uri="{FF2B5EF4-FFF2-40B4-BE49-F238E27FC236}">
                          <a16:creationId xmlns:a16="http://schemas.microsoft.com/office/drawing/2014/main" id="{4FA5E636-D167-7119-37C9-6542525382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89347" y="3277972"/>
                      <a:ext cx="2148747" cy="1296407"/>
                      <a:chOff x="2159373" y="3277972"/>
                      <a:chExt cx="2148747" cy="1296407"/>
                    </a:xfrm>
                  </p:grpSpPr>
                  <p:grpSp>
                    <p:nvGrpSpPr>
                      <p:cNvPr id="40" name="Group 39">
                        <a:extLst>
                          <a:ext uri="{FF2B5EF4-FFF2-40B4-BE49-F238E27FC236}">
                            <a16:creationId xmlns:a16="http://schemas.microsoft.com/office/drawing/2014/main" id="{72079E3F-A498-4667-5685-B50798C9B46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59373" y="3277972"/>
                        <a:ext cx="2133391" cy="673450"/>
                        <a:chOff x="4262254" y="1529057"/>
                        <a:chExt cx="2133391" cy="673450"/>
                      </a:xfrm>
                    </p:grpSpPr>
                    <p:sp>
                      <p:nvSpPr>
                        <p:cNvPr id="43" name="Rectangle 42">
                          <a:extLst>
                            <a:ext uri="{FF2B5EF4-FFF2-40B4-BE49-F238E27FC236}">
                              <a16:creationId xmlns:a16="http://schemas.microsoft.com/office/drawing/2014/main" id="{DD521EEE-3A69-B478-0327-89ED8D8EF4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331331" y="1529057"/>
                          <a:ext cx="1982798" cy="165227"/>
                        </a:xfrm>
                        <a:prstGeom prst="rect">
                          <a:avLst/>
                        </a:prstGeom>
                        <a:ln/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buClr>
                              <a:schemeClr val="bg1"/>
                            </a:buClr>
                          </a:pPr>
                          <a:r>
                            <a:rPr lang="fr-FR" sz="600">
                              <a:solidFill>
                                <a:schemeClr val="tx1"/>
                              </a:solidFill>
                            </a:rPr>
                            <a:t>Start </a:t>
                          </a:r>
                          <a:r>
                            <a:rPr lang="fr-FR" sz="600" err="1">
                              <a:solidFill>
                                <a:schemeClr val="tx1"/>
                              </a:solidFill>
                            </a:rPr>
                            <a:t>Reporting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</a:rPr>
                            <a:t> Thread</a:t>
                          </a:r>
                          <a:endParaRPr lang="en-US" sz="6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cxnSp>
                      <p:nvCxnSpPr>
                        <p:cNvPr id="44" name="Straight Arrow Connector 43">
                          <a:extLst>
                            <a:ext uri="{FF2B5EF4-FFF2-40B4-BE49-F238E27FC236}">
                              <a16:creationId xmlns:a16="http://schemas.microsoft.com/office/drawing/2014/main" id="{D3BBFC6A-DACE-0B69-D5ED-1A146FB8AEF8}"/>
                            </a:ext>
                          </a:extLst>
                        </p:cNvPr>
                        <p:cNvCxnSpPr>
                          <a:cxnSpLocks/>
                          <a:stCxn id="43" idx="2"/>
                          <a:endCxn id="45" idx="0"/>
                        </p:cNvCxnSpPr>
                        <p:nvPr/>
                      </p:nvCxnSpPr>
                      <p:spPr>
                        <a:xfrm>
                          <a:off x="5322731" y="1694284"/>
                          <a:ext cx="6219" cy="169222"/>
                        </a:xfrm>
                        <a:prstGeom prst="straightConnector1">
                          <a:avLst/>
                        </a:prstGeom>
                        <a:ln>
                          <a:headEnd type="none" w="lg" len="lg"/>
                          <a:tailEnd type="triangle"/>
                        </a:ln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</p:cxnSp>
                    <p:sp>
                      <p:nvSpPr>
                        <p:cNvPr id="45" name="Rectangle 44">
                          <a:extLst>
                            <a:ext uri="{FF2B5EF4-FFF2-40B4-BE49-F238E27FC236}">
                              <a16:creationId xmlns:a16="http://schemas.microsoft.com/office/drawing/2014/main" id="{2255CEC7-2F59-6BE1-0291-957CFEBD22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62254" y="1863507"/>
                          <a:ext cx="2133391" cy="165227"/>
                        </a:xfrm>
                        <a:prstGeom prst="rect">
                          <a:avLst/>
                        </a:prstGeom>
                        <a:ln/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91440" tIns="45720" rIns="91440" bIns="45720"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buClr>
                              <a:schemeClr val="bg1"/>
                            </a:buClr>
                          </a:pPr>
                          <a:r>
                            <a:rPr lang="fr-FR" sz="600" err="1">
                              <a:solidFill>
                                <a:schemeClr val="tx1"/>
                              </a:solidFill>
                              <a:cs typeface="Arial"/>
                            </a:rPr>
                            <a:t>Initialize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  <a:cs typeface="Arial"/>
                            </a:rPr>
                            <a:t> </a:t>
                          </a:r>
                          <a:r>
                            <a:rPr lang="fr-FR" sz="600" err="1">
                              <a:solidFill>
                                <a:schemeClr val="tx1"/>
                              </a:solidFill>
                              <a:cs typeface="Arial"/>
                            </a:rPr>
                            <a:t>last_counter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  <a:cs typeface="Arial"/>
                            </a:rPr>
                            <a:t> to 0</a:t>
                          </a:r>
                        </a:p>
                      </p:txBody>
                    </p:sp>
                    <p:cxnSp>
                      <p:nvCxnSpPr>
                        <p:cNvPr id="46" name="Straight Arrow Connector 45">
                          <a:extLst>
                            <a:ext uri="{FF2B5EF4-FFF2-40B4-BE49-F238E27FC236}">
                              <a16:creationId xmlns:a16="http://schemas.microsoft.com/office/drawing/2014/main" id="{C043D957-5F68-02EA-0F8F-474EB336E720}"/>
                            </a:ext>
                          </a:extLst>
                        </p:cNvPr>
                        <p:cNvCxnSpPr>
                          <a:cxnSpLocks/>
                          <a:stCxn id="45" idx="2"/>
                          <a:endCxn id="41" idx="0"/>
                        </p:cNvCxnSpPr>
                        <p:nvPr/>
                      </p:nvCxnSpPr>
                      <p:spPr>
                        <a:xfrm>
                          <a:off x="5328951" y="2028734"/>
                          <a:ext cx="14223" cy="173773"/>
                        </a:xfrm>
                        <a:prstGeom prst="straightConnector1">
                          <a:avLst/>
                        </a:prstGeom>
                        <a:ln>
                          <a:headEnd type="none" w="lg" len="lg"/>
                          <a:tailEnd type="triangle"/>
                        </a:ln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</p:cxnSp>
                  </p:grpSp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D443BCE4-6F86-CDEC-26E8-A701726FBF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73596" y="3951422"/>
                        <a:ext cx="2133392" cy="162557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lIns="91440" tIns="45720" rIns="91440" bIns="45720"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buClr>
                            <a:schemeClr val="bg1"/>
                          </a:buClr>
                        </a:pPr>
                        <a:endParaRPr lang="fr-FR" sz="600">
                          <a:solidFill>
                            <a:schemeClr val="tx1"/>
                          </a:solidFill>
                        </a:endParaRPr>
                      </a:p>
                      <a:p>
                        <a:pPr algn="ctr">
                          <a:buClr>
                            <a:schemeClr val="bg1"/>
                          </a:buClr>
                        </a:pPr>
                        <a:r>
                          <a:rPr lang="fr-FR" sz="600" err="1">
                            <a:solidFill>
                              <a:schemeClr val="tx1"/>
                            </a:solidFill>
                          </a:rPr>
                          <a:t>Sleep</a:t>
                        </a:r>
                        <a:r>
                          <a:rPr lang="fr-FR" sz="600">
                            <a:solidFill>
                              <a:schemeClr val="tx1"/>
                            </a:solidFill>
                          </a:rPr>
                          <a:t> for 30 s</a:t>
                        </a:r>
                      </a:p>
                      <a:p>
                        <a:pPr algn="ctr">
                          <a:buClr>
                            <a:schemeClr val="bg1"/>
                          </a:buClr>
                        </a:pPr>
                        <a:endParaRPr lang="fr-FR" sz="600">
                          <a:solidFill>
                            <a:schemeClr val="tx1"/>
                          </a:solidFill>
                          <a:cs typeface="Arial"/>
                        </a:endParaRPr>
                      </a:p>
                    </p:txBody>
                  </p:sp>
                  <p:sp>
                    <p:nvSpPr>
                      <p:cNvPr id="42" name="Rectangle 41">
                        <a:extLst>
                          <a:ext uri="{FF2B5EF4-FFF2-40B4-BE49-F238E27FC236}">
                            <a16:creationId xmlns:a16="http://schemas.microsoft.com/office/drawing/2014/main" id="{7E1C3F61-FBCB-293A-0D11-C7623BC42F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73596" y="4287752"/>
                        <a:ext cx="2134524" cy="286627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lIns="91440" tIns="45720" rIns="91440" bIns="45720"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buClr>
                            <a:schemeClr val="bg1"/>
                          </a:buClr>
                        </a:pPr>
                        <a:endParaRPr lang="fr-FR" sz="600">
                          <a:solidFill>
                            <a:schemeClr val="tx1"/>
                          </a:solidFill>
                        </a:endParaRPr>
                      </a:p>
                      <a:p>
                        <a:pPr algn="ctr">
                          <a:buClr>
                            <a:schemeClr val="bg1"/>
                          </a:buClr>
                        </a:pPr>
                        <a:r>
                          <a:rPr lang="fr-FR" sz="600" err="1">
                            <a:solidFill>
                              <a:schemeClr val="tx1"/>
                            </a:solidFill>
                          </a:rPr>
                          <a:t>Print</a:t>
                        </a:r>
                        <a:r>
                          <a:rPr lang="fr-FR" sz="600">
                            <a:solidFill>
                              <a:schemeClr val="tx1"/>
                            </a:solidFill>
                          </a:rPr>
                          <a:t> :global </a:t>
                        </a:r>
                        <a:r>
                          <a:rPr lang="fr-FR" sz="600" err="1">
                            <a:solidFill>
                              <a:schemeClr val="tx1"/>
                            </a:solidFill>
                          </a:rPr>
                          <a:t>counter</a:t>
                        </a:r>
                        <a:r>
                          <a:rPr lang="fr-FR" sz="600">
                            <a:solidFill>
                              <a:schemeClr val="tx1"/>
                            </a:solidFill>
                          </a:rPr>
                          <a:t> – last </a:t>
                        </a:r>
                        <a:r>
                          <a:rPr lang="fr-FR" sz="600" err="1">
                            <a:solidFill>
                              <a:schemeClr val="tx1"/>
                            </a:solidFill>
                          </a:rPr>
                          <a:t>counter</a:t>
                        </a:r>
                        <a:endParaRPr lang="fr-FR" sz="600">
                          <a:solidFill>
                            <a:schemeClr val="tx1"/>
                          </a:solidFill>
                        </a:endParaRPr>
                      </a:p>
                      <a:p>
                        <a:pPr algn="ctr">
                          <a:buClr>
                            <a:schemeClr val="bg1"/>
                          </a:buClr>
                        </a:pPr>
                        <a:endParaRPr lang="fr-FR" sz="600">
                          <a:solidFill>
                            <a:schemeClr val="tx1"/>
                          </a:solidFill>
                          <a:cs typeface="Arial"/>
                        </a:endParaRPr>
                      </a:p>
                    </p:txBody>
                  </p:sp>
                </p:grpSp>
                <p:cxnSp>
                  <p:nvCxnSpPr>
                    <p:cNvPr id="36" name="Connector: Elbow 35">
                      <a:extLst>
                        <a:ext uri="{FF2B5EF4-FFF2-40B4-BE49-F238E27FC236}">
                          <a16:creationId xmlns:a16="http://schemas.microsoft.com/office/drawing/2014/main" id="{BC1A236B-3AD2-ACB6-7027-5738D65CCF15}"/>
                        </a:ext>
                      </a:extLst>
                    </p:cNvPr>
                    <p:cNvCxnSpPr>
                      <a:cxnSpLocks/>
                      <a:stCxn id="42" idx="2"/>
                      <a:endCxn id="41" idx="1"/>
                    </p:cNvCxnSpPr>
                    <p:nvPr/>
                  </p:nvCxnSpPr>
                  <p:spPr>
                    <a:xfrm rot="5400000" flipH="1">
                      <a:off x="6866363" y="3769909"/>
                      <a:ext cx="541679" cy="1067262"/>
                    </a:xfrm>
                    <a:prstGeom prst="bentConnector4">
                      <a:avLst>
                        <a:gd name="adj1" fmla="val -18228"/>
                        <a:gd name="adj2" fmla="val 143036"/>
                      </a:avLst>
                    </a:prstGeom>
                    <a:ln w="22225">
                      <a:headEnd type="none" w="lg" len="lg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Arrow Connector 36">
                      <a:extLst>
                        <a:ext uri="{FF2B5EF4-FFF2-40B4-BE49-F238E27FC236}">
                          <a16:creationId xmlns:a16="http://schemas.microsoft.com/office/drawing/2014/main" id="{1A146953-26D1-0193-71C6-85785B1F6DE1}"/>
                        </a:ext>
                      </a:extLst>
                    </p:cNvPr>
                    <p:cNvCxnSpPr>
                      <a:cxnSpLocks/>
                      <a:stCxn id="45" idx="3"/>
                      <a:endCxn id="17" idx="1"/>
                    </p:cNvCxnSpPr>
                    <p:nvPr/>
                  </p:nvCxnSpPr>
                  <p:spPr>
                    <a:xfrm>
                      <a:off x="8722737" y="3695036"/>
                      <a:ext cx="294443" cy="0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4761EC58-2E61-9485-D796-DFD94B2294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11265" y="2362220"/>
                      <a:ext cx="1325833" cy="26403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lvl="0">
                        <a:defRPr/>
                      </a:pPr>
                      <a:r>
                        <a:rPr kumimoji="0" lang="fr-FR" sz="60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3234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HIGH </a:t>
                      </a:r>
                      <a:r>
                        <a:rPr kumimoji="0" lang="fr-FR" sz="60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3234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Priority</a:t>
                      </a:r>
                      <a:endParaRPr kumimoji="0" lang="en-US" sz="60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3234B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39" name="Straight Arrow Connector 38">
                      <a:extLst>
                        <a:ext uri="{FF2B5EF4-FFF2-40B4-BE49-F238E27FC236}">
                          <a16:creationId xmlns:a16="http://schemas.microsoft.com/office/drawing/2014/main" id="{209A2BB1-5E21-C715-46DD-F03E51BD7647}"/>
                        </a:ext>
                      </a:extLst>
                    </p:cNvPr>
                    <p:cNvCxnSpPr>
                      <a:cxnSpLocks/>
                      <a:stCxn id="41" idx="2"/>
                      <a:endCxn id="42" idx="0"/>
                    </p:cNvCxnSpPr>
                    <p:nvPr/>
                  </p:nvCxnSpPr>
                  <p:spPr>
                    <a:xfrm>
                      <a:off x="7670267" y="4113979"/>
                      <a:ext cx="567" cy="173773"/>
                    </a:xfrm>
                    <a:prstGeom prst="straightConnector1">
                      <a:avLst/>
                    </a:prstGeom>
                    <a:ln>
                      <a:headEnd type="none" w="lg" len="lg"/>
                      <a:tailEnd type="triangle"/>
                    </a:ln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</p:cxnSp>
              </p:grpSp>
              <p:cxnSp>
                <p:nvCxnSpPr>
                  <p:cNvPr id="21" name="Connector: Elbow 20">
                    <a:extLst>
                      <a:ext uri="{FF2B5EF4-FFF2-40B4-BE49-F238E27FC236}">
                        <a16:creationId xmlns:a16="http://schemas.microsoft.com/office/drawing/2014/main" id="{AC2C497F-3B9B-C797-E1C5-3314580304AE}"/>
                      </a:ext>
                    </a:extLst>
                  </p:cNvPr>
                  <p:cNvCxnSpPr>
                    <a:cxnSpLocks/>
                    <a:stCxn id="73" idx="2"/>
                    <a:endCxn id="43" idx="0"/>
                  </p:cNvCxnSpPr>
                  <p:nvPr/>
                </p:nvCxnSpPr>
                <p:spPr>
                  <a:xfrm rot="16200000" flipH="1">
                    <a:off x="4329623" y="2354336"/>
                    <a:ext cx="224103" cy="983946"/>
                  </a:xfrm>
                  <a:prstGeom prst="bentConnector3">
                    <a:avLst/>
                  </a:prstGeom>
                  <a:ln w="22225">
                    <a:headEnd type="none" w="lg" len="lg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Connector: Elbow 21">
                    <a:extLst>
                      <a:ext uri="{FF2B5EF4-FFF2-40B4-BE49-F238E27FC236}">
                        <a16:creationId xmlns:a16="http://schemas.microsoft.com/office/drawing/2014/main" id="{E7E3DC93-C676-6A2B-6FA1-BB0C5AB0962E}"/>
                      </a:ext>
                    </a:extLst>
                  </p:cNvPr>
                  <p:cNvCxnSpPr>
                    <a:cxnSpLocks/>
                    <a:stCxn id="73" idx="2"/>
                    <a:endCxn id="50" idx="0"/>
                  </p:cNvCxnSpPr>
                  <p:nvPr/>
                </p:nvCxnSpPr>
                <p:spPr>
                  <a:xfrm rot="5400000">
                    <a:off x="3486757" y="2505204"/>
                    <a:ext cx="233890" cy="691999"/>
                  </a:xfrm>
                  <a:prstGeom prst="bentConnector3">
                    <a:avLst>
                      <a:gd name="adj1" fmla="val 50000"/>
                    </a:avLst>
                  </a:prstGeom>
                  <a:ln w="22225">
                    <a:headEnd type="none" w="lg" len="lg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EC3112-14AB-9864-F0BD-B5655ACEF0FD}"/>
                  </a:ext>
                </a:extLst>
              </p:cNvPr>
              <p:cNvSpPr txBox="1"/>
              <p:nvPr/>
            </p:nvSpPr>
            <p:spPr>
              <a:xfrm>
                <a:off x="3001601" y="5025994"/>
                <a:ext cx="106642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fr-FR" sz="600" err="1">
                    <a:solidFill>
                      <a:srgbClr val="03234B"/>
                    </a:solidFill>
                  </a:rPr>
                  <a:t>counter</a:t>
                </a:r>
                <a:r>
                  <a:rPr lang="fr-FR" sz="600">
                    <a:solidFill>
                      <a:srgbClr val="03234B"/>
                    </a:solidFill>
                  </a:rPr>
                  <a:t> holding </a:t>
                </a:r>
                <a:r>
                  <a:rPr lang="fr-FR" sz="600" err="1">
                    <a:solidFill>
                      <a:srgbClr val="03234B"/>
                    </a:solidFill>
                  </a:rPr>
                  <a:t>previous</a:t>
                </a:r>
                <a:r>
                  <a:rPr lang="fr-FR" sz="600">
                    <a:solidFill>
                      <a:srgbClr val="03234B"/>
                    </a:solidFill>
                  </a:rPr>
                  <a:t> </a:t>
                </a:r>
              </a:p>
              <a:p>
                <a:pPr>
                  <a:defRPr/>
                </a:pPr>
                <a:r>
                  <a:rPr lang="fr-FR" sz="600">
                    <a:solidFill>
                      <a:srgbClr val="03234B"/>
                    </a:solidFill>
                  </a:rPr>
                  <a:t>Counter value</a:t>
                </a:r>
              </a:p>
            </p:txBody>
          </p:sp>
        </p:grpSp>
      </p:grpSp>
      <p:sp>
        <p:nvSpPr>
          <p:cNvPr id="76" name="Rectangle: Folded Corner 75">
            <a:extLst>
              <a:ext uri="{FF2B5EF4-FFF2-40B4-BE49-F238E27FC236}">
                <a16:creationId xmlns:a16="http://schemas.microsoft.com/office/drawing/2014/main" id="{2DF33570-80E1-9B61-E95D-F0FCA8C43B05}"/>
              </a:ext>
            </a:extLst>
          </p:cNvPr>
          <p:cNvSpPr/>
          <p:nvPr/>
        </p:nvSpPr>
        <p:spPr>
          <a:xfrm>
            <a:off x="2340431" y="5054608"/>
            <a:ext cx="1629919" cy="785172"/>
          </a:xfrm>
          <a:prstGeom prst="foldedCorner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sz="700">
                <a:solidFill>
                  <a:srgbClr val="03234B"/>
                </a:solidFill>
              </a:rPr>
              <a:t>Thread </a:t>
            </a:r>
            <a:r>
              <a:rPr lang="fr-FR" sz="700" err="1">
                <a:solidFill>
                  <a:srgbClr val="03234B"/>
                </a:solidFill>
              </a:rPr>
              <a:t>blocked</a:t>
            </a:r>
            <a:r>
              <a:rPr lang="fr-FR" sz="700">
                <a:solidFill>
                  <a:srgbClr val="03234B"/>
                </a:solidFill>
              </a:rPr>
              <a:t> for 30s  and </a:t>
            </a:r>
            <a:r>
              <a:rPr lang="fr-FR" sz="700" err="1">
                <a:solidFill>
                  <a:srgbClr val="03234B"/>
                </a:solidFill>
              </a:rPr>
              <a:t>only</a:t>
            </a:r>
            <a:endParaRPr lang="fr-FR" sz="700">
              <a:solidFill>
                <a:srgbClr val="03234B"/>
              </a:solidFill>
            </a:endParaRPr>
          </a:p>
          <a:p>
            <a:pPr lvl="0">
              <a:defRPr/>
            </a:pPr>
            <a:r>
              <a:rPr lang="fr-FR" sz="700">
                <a:solidFill>
                  <a:srgbClr val="03234B"/>
                </a:solidFill>
              </a:rPr>
              <a:t>Thread0 runs and </a:t>
            </a:r>
            <a:r>
              <a:rPr lang="fr-FR" sz="700" err="1">
                <a:solidFill>
                  <a:srgbClr val="03234B"/>
                </a:solidFill>
              </a:rPr>
              <a:t>loop</a:t>
            </a:r>
            <a:r>
              <a:rPr lang="fr-FR" sz="700">
                <a:solidFill>
                  <a:srgbClr val="03234B"/>
                </a:solidFill>
              </a:rPr>
              <a:t> back </a:t>
            </a:r>
            <a:r>
              <a:rPr lang="fr-FR" sz="700" err="1">
                <a:solidFill>
                  <a:srgbClr val="03234B"/>
                </a:solidFill>
              </a:rPr>
              <a:t>again</a:t>
            </a:r>
            <a:r>
              <a:rPr lang="fr-FR" sz="700">
                <a:solidFill>
                  <a:srgbClr val="03234B"/>
                </a:solidFill>
              </a:rPr>
              <a:t> </a:t>
            </a:r>
          </a:p>
          <a:p>
            <a:pPr lvl="0">
              <a:defRPr/>
            </a:pPr>
            <a:r>
              <a:rPr lang="fr-FR" sz="700">
                <a:solidFill>
                  <a:srgbClr val="03234B"/>
                </a:solidFill>
              </a:rPr>
              <a:t>To </a:t>
            </a:r>
            <a:r>
              <a:rPr lang="fr-FR" sz="700" err="1">
                <a:solidFill>
                  <a:srgbClr val="03234B"/>
                </a:solidFill>
              </a:rPr>
              <a:t>sleep</a:t>
            </a:r>
            <a:r>
              <a:rPr lang="fr-FR" sz="700">
                <a:solidFill>
                  <a:srgbClr val="03234B"/>
                </a:solidFill>
              </a:rPr>
              <a:t> for 30s</a:t>
            </a:r>
            <a:endParaRPr lang="en-US" sz="700">
              <a:solidFill>
                <a:srgbClr val="03234B"/>
              </a:solidFill>
            </a:endParaRPr>
          </a:p>
        </p:txBody>
      </p: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D167F96E-4E86-7F7A-DD18-DE2E9187D372}"/>
              </a:ext>
            </a:extLst>
          </p:cNvPr>
          <p:cNvCxnSpPr>
            <a:cxnSpLocks/>
            <a:stCxn id="42" idx="3"/>
            <a:endCxn id="76" idx="1"/>
          </p:cNvCxnSpPr>
          <p:nvPr/>
        </p:nvCxnSpPr>
        <p:spPr>
          <a:xfrm flipH="1">
            <a:off x="2340431" y="4570485"/>
            <a:ext cx="550558" cy="876709"/>
          </a:xfrm>
          <a:prstGeom prst="curvedConnector5">
            <a:avLst>
              <a:gd name="adj1" fmla="val -41522"/>
              <a:gd name="adj2" fmla="val 33327"/>
              <a:gd name="adj3" fmla="val 141522"/>
            </a:avLst>
          </a:prstGeom>
          <a:ln w="12700">
            <a:headEnd type="none" w="lg" len="lg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111F0D6-52BE-D971-0432-4B9802C02620}"/>
              </a:ext>
            </a:extLst>
          </p:cNvPr>
          <p:cNvSpPr txBox="1"/>
          <p:nvPr/>
        </p:nvSpPr>
        <p:spPr>
          <a:xfrm>
            <a:off x="577589" y="1656263"/>
            <a:ext cx="20689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1">
                <a:solidFill>
                  <a:schemeClr val="accent2"/>
                </a:solidFill>
              </a:rPr>
              <a:t>Basic </a:t>
            </a:r>
            <a:r>
              <a:rPr lang="fr-FR" sz="1000" b="1" err="1">
                <a:solidFill>
                  <a:schemeClr val="accent2"/>
                </a:solidFill>
              </a:rPr>
              <a:t>Processing</a:t>
            </a:r>
            <a:r>
              <a:rPr lang="fr-FR" sz="1000" b="1">
                <a:solidFill>
                  <a:schemeClr val="accent2"/>
                </a:solidFill>
              </a:rPr>
              <a:t> </a:t>
            </a:r>
            <a:r>
              <a:rPr lang="fr-FR" sz="1000" b="1" err="1">
                <a:solidFill>
                  <a:schemeClr val="accent2"/>
                </a:solidFill>
              </a:rPr>
              <a:t>Flowchart</a:t>
            </a:r>
            <a:endParaRPr lang="en-US" sz="1000">
              <a:solidFill>
                <a:schemeClr val="accent2"/>
              </a:solidFill>
            </a:endParaRP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2ECCCAD6-F386-9B9E-4227-C8E855D1C8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73730" y="3653028"/>
            <a:ext cx="348729" cy="327840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C620975-D797-BA81-8EF4-71EF8B2A4D85}"/>
              </a:ext>
            </a:extLst>
          </p:cNvPr>
          <p:cNvGrpSpPr/>
          <p:nvPr/>
        </p:nvGrpSpPr>
        <p:grpSpPr>
          <a:xfrm>
            <a:off x="4296593" y="2006862"/>
            <a:ext cx="3480240" cy="2600562"/>
            <a:chOff x="4296593" y="2940312"/>
            <a:chExt cx="3480240" cy="2600562"/>
          </a:xfrm>
        </p:grpSpPr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FC608558-B26C-FC25-8A11-0FAB4F61C303}"/>
                </a:ext>
              </a:extLst>
            </p:cNvPr>
            <p:cNvCxnSpPr>
              <a:cxnSpLocks/>
              <a:stCxn id="138" idx="2"/>
              <a:endCxn id="200" idx="0"/>
            </p:cNvCxnSpPr>
            <p:nvPr/>
          </p:nvCxnSpPr>
          <p:spPr>
            <a:xfrm rot="16200000" flipH="1">
              <a:off x="6159347" y="3700857"/>
              <a:ext cx="321849" cy="2072195"/>
            </a:xfrm>
            <a:prstGeom prst="bentConnector3">
              <a:avLst>
                <a:gd name="adj1" fmla="val 50000"/>
              </a:avLst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306031C3-2225-93FF-52A0-92106A2F2104}"/>
                </a:ext>
              </a:extLst>
            </p:cNvPr>
            <p:cNvCxnSpPr>
              <a:cxnSpLocks/>
              <a:stCxn id="138" idx="2"/>
              <a:endCxn id="130" idx="0"/>
            </p:cNvCxnSpPr>
            <p:nvPr/>
          </p:nvCxnSpPr>
          <p:spPr>
            <a:xfrm rot="5400000">
              <a:off x="4785130" y="4431234"/>
              <a:ext cx="354245" cy="643845"/>
            </a:xfrm>
            <a:prstGeom prst="bentConnector3">
              <a:avLst>
                <a:gd name="adj1" fmla="val 50000"/>
              </a:avLst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2B541061-A7C9-CBA2-2754-E6C69108DEFD}"/>
                </a:ext>
              </a:extLst>
            </p:cNvPr>
            <p:cNvGrpSpPr/>
            <p:nvPr/>
          </p:nvGrpSpPr>
          <p:grpSpPr>
            <a:xfrm>
              <a:off x="4296593" y="2940312"/>
              <a:ext cx="3480240" cy="2600562"/>
              <a:chOff x="4259060" y="3172019"/>
              <a:chExt cx="3480240" cy="2600562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6A088EEC-EC1B-91C6-8675-1914BE8AC878}"/>
                  </a:ext>
                </a:extLst>
              </p:cNvPr>
              <p:cNvGrpSpPr/>
              <p:nvPr/>
            </p:nvGrpSpPr>
            <p:grpSpPr>
              <a:xfrm>
                <a:off x="4259060" y="3172019"/>
                <a:ext cx="3059774" cy="2600562"/>
                <a:chOff x="4266539" y="2788208"/>
                <a:chExt cx="3059774" cy="260056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EB22928D-9960-A0A9-C43C-1C4C6695FA35}"/>
                    </a:ext>
                  </a:extLst>
                </p:cNvPr>
                <p:cNvGrpSpPr/>
                <p:nvPr/>
              </p:nvGrpSpPr>
              <p:grpSpPr>
                <a:xfrm>
                  <a:off x="4266539" y="2788208"/>
                  <a:ext cx="3059774" cy="2600562"/>
                  <a:chOff x="4266539" y="2788208"/>
                  <a:chExt cx="3059774" cy="2600562"/>
                </a:xfrm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EE28A1E8-ED39-F1B8-176B-CDC8BC907A72}"/>
                      </a:ext>
                    </a:extLst>
                  </p:cNvPr>
                  <p:cNvGrpSpPr/>
                  <p:nvPr/>
                </p:nvGrpSpPr>
                <p:grpSpPr>
                  <a:xfrm>
                    <a:off x="4266539" y="2788208"/>
                    <a:ext cx="3059774" cy="2600562"/>
                    <a:chOff x="5534053" y="2048821"/>
                    <a:chExt cx="3059774" cy="2600562"/>
                  </a:xfrm>
                </p:grpSpPr>
                <p:grpSp>
                  <p:nvGrpSpPr>
                    <p:cNvPr id="102" name="Group 101">
                      <a:extLst>
                        <a:ext uri="{FF2B5EF4-FFF2-40B4-BE49-F238E27FC236}">
                          <a16:creationId xmlns:a16="http://schemas.microsoft.com/office/drawing/2014/main" id="{C7D6BD22-5C9E-FD80-FBBD-B5624B6DE2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34053" y="2232670"/>
                      <a:ext cx="3059774" cy="2416713"/>
                      <a:chOff x="5769681" y="1125499"/>
                      <a:chExt cx="3059774" cy="2416713"/>
                    </a:xfrm>
                  </p:grpSpPr>
                  <p:grpSp>
                    <p:nvGrpSpPr>
                      <p:cNvPr id="105" name="Group 104">
                        <a:extLst>
                          <a:ext uri="{FF2B5EF4-FFF2-40B4-BE49-F238E27FC236}">
                            <a16:creationId xmlns:a16="http://schemas.microsoft.com/office/drawing/2014/main" id="{1BA90155-3D6B-A8EF-B7ED-B79932D7FBD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69681" y="1125499"/>
                        <a:ext cx="2539863" cy="2416713"/>
                        <a:chOff x="4405088" y="825825"/>
                        <a:chExt cx="3618787" cy="4280228"/>
                      </a:xfrm>
                    </p:grpSpPr>
                    <p:sp>
                      <p:nvSpPr>
                        <p:cNvPr id="108" name="TextBox 107">
                          <a:extLst>
                            <a:ext uri="{FF2B5EF4-FFF2-40B4-BE49-F238E27FC236}">
                              <a16:creationId xmlns:a16="http://schemas.microsoft.com/office/drawing/2014/main" id="{EDA4EF08-A981-D437-0A25-E6F998218A0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109619" y="2630315"/>
                          <a:ext cx="914256" cy="32706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 lvl="0">
                            <a:defRPr/>
                          </a:pPr>
                          <a:r>
                            <a:rPr kumimoji="0" lang="fr-FR" sz="60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3234B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HIGH </a:t>
                          </a:r>
                          <a:r>
                            <a:rPr kumimoji="0" lang="fr-FR" sz="600" i="0" u="none" strike="noStrike" kern="1200" cap="none" spc="0" normalizeH="0" baseline="0" noProof="0" err="1">
                              <a:ln>
                                <a:noFill/>
                              </a:ln>
                              <a:solidFill>
                                <a:srgbClr val="03234B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Priority</a:t>
                          </a:r>
                          <a:endParaRPr kumimoji="0" lang="en-US" sz="60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3234B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p:txBody>
                    </p:sp>
                    <p:grpSp>
                      <p:nvGrpSpPr>
                        <p:cNvPr id="109" name="Group 108">
                          <a:extLst>
                            <a:ext uri="{FF2B5EF4-FFF2-40B4-BE49-F238E27FC236}">
                              <a16:creationId xmlns:a16="http://schemas.microsoft.com/office/drawing/2014/main" id="{77E2CF5F-6BFC-1E2D-8A2D-FED26A43EC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405088" y="825825"/>
                          <a:ext cx="2704531" cy="4280228"/>
                          <a:chOff x="4405088" y="825825"/>
                          <a:chExt cx="2704531" cy="4280228"/>
                        </a:xfrm>
                      </p:grpSpPr>
                      <p:cxnSp>
                        <p:nvCxnSpPr>
                          <p:cNvPr id="110" name="Straight Arrow Connector 109">
                            <a:extLst>
                              <a:ext uri="{FF2B5EF4-FFF2-40B4-BE49-F238E27FC236}">
                                <a16:creationId xmlns:a16="http://schemas.microsoft.com/office/drawing/2014/main" id="{934E62D0-0E78-98B3-30E9-24579AF84DD7}"/>
                              </a:ext>
                            </a:extLst>
                          </p:cNvPr>
                          <p:cNvCxnSpPr>
                            <a:cxnSpLocks/>
                            <a:stCxn id="103" idx="4"/>
                            <a:endCxn id="111" idx="0"/>
                          </p:cNvCxnSpPr>
                          <p:nvPr/>
                        </p:nvCxnSpPr>
                        <p:spPr>
                          <a:xfrm>
                            <a:off x="5807083" y="825825"/>
                            <a:ext cx="5112" cy="312635"/>
                          </a:xfrm>
                          <a:prstGeom prst="straightConnector1">
                            <a:avLst/>
                          </a:prstGeom>
                          <a:ln>
                            <a:headEnd type="none" w="lg" len="lg"/>
                            <a:tailEnd type="triangle"/>
                          </a:ln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</p:cxnSp>
                      <p:sp>
                        <p:nvSpPr>
                          <p:cNvPr id="111" name="Rectangle 110">
                            <a:extLst>
                              <a:ext uri="{FF2B5EF4-FFF2-40B4-BE49-F238E27FC236}">
                                <a16:creationId xmlns:a16="http://schemas.microsoft.com/office/drawing/2014/main" id="{439D4034-642A-197B-C3E3-F530E097D62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68983" y="1138460"/>
                            <a:ext cx="1286424" cy="265278"/>
                          </a:xfrm>
                          <a:prstGeom prst="rect">
                            <a:avLst/>
                          </a:prstGeom>
                          <a:ln/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lIns="91440" tIns="45720" rIns="91440" bIns="45720" rtlCol="0" anchor="ctr"/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buClr>
                                <a:schemeClr val="bg1"/>
                              </a:buClr>
                            </a:pPr>
                            <a:endParaRPr lang="fr-FR" sz="600">
                              <a:solidFill>
                                <a:schemeClr val="tx1"/>
                              </a:solidFill>
                            </a:endParaRPr>
                          </a:p>
                          <a:p>
                            <a:pPr algn="ctr"/>
                            <a:r>
                              <a:rPr lang="fr-FR" sz="600" err="1">
                                <a:solidFill>
                                  <a:schemeClr val="tx1"/>
                                </a:solidFill>
                              </a:rPr>
                              <a:t>Clock</a:t>
                            </a:r>
                            <a:r>
                              <a:rPr lang="fr-FR" sz="600">
                                <a:solidFill>
                                  <a:schemeClr val="tx1"/>
                                </a:solidFill>
                              </a:rPr>
                              <a:t> configuration</a:t>
                            </a:r>
                          </a:p>
                          <a:p>
                            <a:pPr algn="ctr">
                              <a:buClr>
                                <a:schemeClr val="bg1"/>
                              </a:buClr>
                            </a:pPr>
                            <a:endParaRPr lang="fr-FR" sz="600">
                              <a:solidFill>
                                <a:schemeClr val="tx1"/>
                              </a:solidFill>
                              <a:cs typeface="Arial"/>
                            </a:endParaRPr>
                          </a:p>
                        </p:txBody>
                      </p:sp>
                      <p:grpSp>
                        <p:nvGrpSpPr>
                          <p:cNvPr id="112" name="Group 111">
                            <a:extLst>
                              <a:ext uri="{FF2B5EF4-FFF2-40B4-BE49-F238E27FC236}">
                                <a16:creationId xmlns:a16="http://schemas.microsoft.com/office/drawing/2014/main" id="{06CE022D-D9FB-12DB-E9A3-878155AFE92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862207" y="2130469"/>
                            <a:ext cx="2247412" cy="1266757"/>
                            <a:chOff x="4839108" y="1947291"/>
                            <a:chExt cx="2247412" cy="1266757"/>
                          </a:xfrm>
                        </p:grpSpPr>
                        <p:sp>
                          <p:nvSpPr>
                            <p:cNvPr id="133" name="Rectangle 132">
                              <a:extLst>
                                <a:ext uri="{FF2B5EF4-FFF2-40B4-BE49-F238E27FC236}">
                                  <a16:creationId xmlns:a16="http://schemas.microsoft.com/office/drawing/2014/main" id="{433E094F-4058-F61E-4E68-76E1C4EB98F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39113" y="1947291"/>
                              <a:ext cx="1899965" cy="280019"/>
                            </a:xfrm>
                            <a:prstGeom prst="rect">
                              <a:avLst/>
                            </a:prstGeom>
                            <a:ln/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buClr>
                                  <a:schemeClr val="bg1"/>
                                </a:buClr>
                              </a:pPr>
                              <a:r>
                                <a:rPr lang="fr-FR" sz="600" err="1">
                                  <a:solidFill>
                                    <a:schemeClr val="tx1"/>
                                  </a:solidFill>
                                </a:rPr>
                                <a:t>Create</a:t>
                              </a:r>
                              <a:r>
                                <a:rPr lang="fr-FR" sz="600">
                                  <a:solidFill>
                                    <a:schemeClr val="tx1"/>
                                  </a:solidFill>
                                </a:rPr>
                                <a:t> 5 threads</a:t>
                              </a:r>
                              <a:endParaRPr lang="en-US" sz="600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  <p:cxnSp>
                          <p:nvCxnSpPr>
                            <p:cNvPr id="134" name="Straight Arrow Connector 133">
                              <a:extLst>
                                <a:ext uri="{FF2B5EF4-FFF2-40B4-BE49-F238E27FC236}">
                                  <a16:creationId xmlns:a16="http://schemas.microsoft.com/office/drawing/2014/main" id="{4A1C8730-9774-073F-2A01-F3719F393761}"/>
                                </a:ext>
                              </a:extLst>
                            </p:cNvPr>
                            <p:cNvCxnSpPr>
                              <a:cxnSpLocks/>
                              <a:stCxn id="133" idx="2"/>
                              <a:endCxn id="136" idx="0"/>
                            </p:cNvCxnSpPr>
                            <p:nvPr/>
                          </p:nvCxnSpPr>
                          <p:spPr>
                            <a:xfrm flipH="1">
                              <a:off x="5789094" y="2227310"/>
                              <a:ext cx="1" cy="227309"/>
                            </a:xfrm>
                            <a:prstGeom prst="straightConnector1">
                              <a:avLst/>
                            </a:prstGeom>
                            <a:ln>
                              <a:headEnd type="none" w="lg" len="lg"/>
                              <a:tailEnd type="triangle"/>
                            </a:ln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</p:cxnSp>
                        <p:cxnSp>
                          <p:nvCxnSpPr>
                            <p:cNvPr id="135" name="Straight Arrow Connector 134">
                              <a:extLst>
                                <a:ext uri="{FF2B5EF4-FFF2-40B4-BE49-F238E27FC236}">
                                  <a16:creationId xmlns:a16="http://schemas.microsoft.com/office/drawing/2014/main" id="{2129D5E4-1CE3-0080-C1DD-7AB7CCBD958D}"/>
                                </a:ext>
                              </a:extLst>
                            </p:cNvPr>
                            <p:cNvCxnSpPr>
                              <a:cxnSpLocks/>
                              <a:stCxn id="133" idx="3"/>
                              <a:endCxn id="87" idx="1"/>
                            </p:cNvCxnSpPr>
                            <p:nvPr/>
                          </p:nvCxnSpPr>
                          <p:spPr>
                            <a:xfrm>
                              <a:off x="6739079" y="2087301"/>
                              <a:ext cx="342928" cy="1098"/>
                            </a:xfrm>
                            <a:prstGeom prst="straightConnector1">
                              <a:avLst/>
                            </a:prstGeom>
                            <a:ln>
                              <a:headEnd type="none" w="lg" len="lg"/>
                              <a:tailEnd type="triangle"/>
                            </a:ln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</p:cxnSp>
                        <p:sp>
                          <p:nvSpPr>
                            <p:cNvPr id="136" name="Rectangle 135">
                              <a:extLst>
                                <a:ext uri="{FF2B5EF4-FFF2-40B4-BE49-F238E27FC236}">
                                  <a16:creationId xmlns:a16="http://schemas.microsoft.com/office/drawing/2014/main" id="{F4F0B104-2503-59E6-DA08-EBF43C0A48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39110" y="2454619"/>
                              <a:ext cx="1899966" cy="281205"/>
                            </a:xfrm>
                            <a:prstGeom prst="rect">
                              <a:avLst/>
                            </a:prstGeom>
                            <a:ln/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91440" tIns="45720" rIns="91440" bIns="45720"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buClr>
                                  <a:schemeClr val="bg1"/>
                                </a:buClr>
                              </a:pPr>
                              <a:r>
                                <a:rPr lang="fr-FR" sz="600" err="1">
                                  <a:solidFill>
                                    <a:schemeClr val="tx1"/>
                                  </a:solidFill>
                                  <a:cs typeface="Arial"/>
                                </a:rPr>
                                <a:t>Create</a:t>
                              </a:r>
                              <a:r>
                                <a:rPr lang="fr-FR" sz="600">
                                  <a:solidFill>
                                    <a:schemeClr val="tx1"/>
                                  </a:solidFill>
                                  <a:cs typeface="Arial"/>
                                </a:rPr>
                                <a:t> </a:t>
                              </a:r>
                              <a:r>
                                <a:rPr lang="fr-FR" sz="600" err="1">
                                  <a:solidFill>
                                    <a:schemeClr val="tx1"/>
                                  </a:solidFill>
                                  <a:cs typeface="Arial"/>
                                </a:rPr>
                                <a:t>Reporting</a:t>
                              </a:r>
                              <a:r>
                                <a:rPr lang="fr-FR" sz="600">
                                  <a:solidFill>
                                    <a:schemeClr val="tx1"/>
                                  </a:solidFill>
                                  <a:cs typeface="Arial"/>
                                </a:rPr>
                                <a:t> Thread</a:t>
                              </a:r>
                            </a:p>
                          </p:txBody>
                        </p:sp>
                        <p:cxnSp>
                          <p:nvCxnSpPr>
                            <p:cNvPr id="137" name="Straight Arrow Connector 136">
                              <a:extLst>
                                <a:ext uri="{FF2B5EF4-FFF2-40B4-BE49-F238E27FC236}">
                                  <a16:creationId xmlns:a16="http://schemas.microsoft.com/office/drawing/2014/main" id="{09971FA5-53A0-E230-77D9-363A5E87B3FF}"/>
                                </a:ext>
                              </a:extLst>
                            </p:cNvPr>
                            <p:cNvCxnSpPr>
                              <a:cxnSpLocks/>
                              <a:stCxn id="136" idx="3"/>
                              <a:endCxn id="108" idx="1"/>
                            </p:cNvCxnSpPr>
                            <p:nvPr/>
                          </p:nvCxnSpPr>
                          <p:spPr>
                            <a:xfrm>
                              <a:off x="6739076" y="2595223"/>
                              <a:ext cx="347444" cy="15446"/>
                            </a:xfrm>
                            <a:prstGeom prst="straightConnector1">
                              <a:avLst/>
                            </a:prstGeom>
                            <a:ln>
                              <a:headEnd type="none" w="lg" len="lg"/>
                              <a:tailEnd type="triangle"/>
                            </a:ln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</p:cxnSp>
                        <p:sp>
                          <p:nvSpPr>
                            <p:cNvPr id="138" name="Rectangle 137">
                              <a:extLst>
                                <a:ext uri="{FF2B5EF4-FFF2-40B4-BE49-F238E27FC236}">
                                  <a16:creationId xmlns:a16="http://schemas.microsoft.com/office/drawing/2014/main" id="{1CC603EB-8FB9-4431-2F86-7601BC0A1B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39108" y="2934029"/>
                              <a:ext cx="1899966" cy="280019"/>
                            </a:xfrm>
                            <a:prstGeom prst="rect">
                              <a:avLst/>
                            </a:prstGeom>
                            <a:ln/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91440" tIns="45720" rIns="91440" bIns="45720"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buClr>
                                  <a:schemeClr val="bg1"/>
                                </a:buClr>
                              </a:pPr>
                              <a:r>
                                <a:rPr lang="fr-FR" sz="600">
                                  <a:solidFill>
                                    <a:schemeClr val="tx1"/>
                                  </a:solidFill>
                                  <a:cs typeface="Arial"/>
                                </a:rPr>
                                <a:t>Start the </a:t>
                              </a:r>
                              <a:r>
                                <a:rPr lang="fr-FR" sz="600" err="1">
                                  <a:solidFill>
                                    <a:schemeClr val="tx1"/>
                                  </a:solidFill>
                                  <a:cs typeface="Arial"/>
                                </a:rPr>
                                <a:t>scheduler</a:t>
                              </a:r>
                              <a:endParaRPr lang="fr-FR" sz="600">
                                <a:solidFill>
                                  <a:schemeClr val="tx1"/>
                                </a:solidFill>
                                <a:cs typeface="Arial"/>
                              </a:endParaRPr>
                            </a:p>
                          </p:txBody>
                        </p:sp>
                        <p:cxnSp>
                          <p:nvCxnSpPr>
                            <p:cNvPr id="139" name="Straight Arrow Connector 138">
                              <a:extLst>
                                <a:ext uri="{FF2B5EF4-FFF2-40B4-BE49-F238E27FC236}">
                                  <a16:creationId xmlns:a16="http://schemas.microsoft.com/office/drawing/2014/main" id="{77BE6900-EEDC-2D12-5873-C3CDE177DC2E}"/>
                                </a:ext>
                              </a:extLst>
                            </p:cNvPr>
                            <p:cNvCxnSpPr>
                              <a:cxnSpLocks/>
                              <a:stCxn id="136" idx="2"/>
                              <a:endCxn id="138" idx="0"/>
                            </p:cNvCxnSpPr>
                            <p:nvPr/>
                          </p:nvCxnSpPr>
                          <p:spPr>
                            <a:xfrm flipH="1">
                              <a:off x="5789092" y="2735824"/>
                              <a:ext cx="1" cy="198205"/>
                            </a:xfrm>
                            <a:prstGeom prst="straightConnector1">
                              <a:avLst/>
                            </a:prstGeom>
                            <a:ln>
                              <a:headEnd type="none" w="lg" len="lg"/>
                              <a:tailEnd type="triangle"/>
                            </a:ln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</p:cxnSp>
                        <p:cxnSp>
                          <p:nvCxnSpPr>
                            <p:cNvPr id="140" name="Straight Arrow Connector 139">
                              <a:extLst>
                                <a:ext uri="{FF2B5EF4-FFF2-40B4-BE49-F238E27FC236}">
                                  <a16:creationId xmlns:a16="http://schemas.microsoft.com/office/drawing/2014/main" id="{DFC63197-5407-70F9-E948-8BE5C579250C}"/>
                                </a:ext>
                              </a:extLst>
                            </p:cNvPr>
                            <p:cNvCxnSpPr>
                              <a:cxnSpLocks/>
                              <a:stCxn id="138" idx="3"/>
                              <a:endCxn id="88" idx="1"/>
                            </p:cNvCxnSpPr>
                            <p:nvPr/>
                          </p:nvCxnSpPr>
                          <p:spPr>
                            <a:xfrm>
                              <a:off x="6739074" y="3074040"/>
                              <a:ext cx="287568" cy="9505"/>
                            </a:xfrm>
                            <a:prstGeom prst="straightConnector1">
                              <a:avLst/>
                            </a:prstGeom>
                            <a:ln>
                              <a:headEnd type="none" w="lg" len="lg"/>
                              <a:tailEnd type="triangle"/>
                            </a:ln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</p:cxnSp>
                      </p:grpSp>
                      <p:sp>
                        <p:nvSpPr>
                          <p:cNvPr id="122" name="Rectangle 121">
                            <a:extLst>
                              <a:ext uri="{FF2B5EF4-FFF2-40B4-BE49-F238E27FC236}">
                                <a16:creationId xmlns:a16="http://schemas.microsoft.com/office/drawing/2014/main" id="{8067E4B2-D32E-2F15-C04A-C67377C561E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62212" y="1639060"/>
                            <a:ext cx="1899965" cy="286627"/>
                          </a:xfrm>
                          <a:prstGeom prst="rect">
                            <a:avLst/>
                          </a:prstGeom>
                          <a:ln/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lIns="91440" tIns="45720" rIns="91440" bIns="45720" rtlCol="0" anchor="ctr"/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buClr>
                                <a:schemeClr val="bg1"/>
                              </a:buClr>
                            </a:pPr>
                            <a:r>
                              <a:rPr lang="fr-FR" sz="600" err="1">
                                <a:solidFill>
                                  <a:schemeClr val="tx1"/>
                                </a:solidFill>
                                <a:cs typeface="Arial"/>
                              </a:rPr>
                              <a:t>Initialize</a:t>
                            </a:r>
                            <a:r>
                              <a:rPr lang="fr-FR" sz="600">
                                <a:solidFill>
                                  <a:schemeClr val="tx1"/>
                                </a:solidFill>
                                <a:cs typeface="Arial"/>
                              </a:rPr>
                              <a:t> 5 global </a:t>
                            </a:r>
                            <a:r>
                              <a:rPr lang="fr-FR" sz="600" err="1">
                                <a:solidFill>
                                  <a:schemeClr val="tx1"/>
                                </a:solidFill>
                                <a:cs typeface="Arial"/>
                              </a:rPr>
                              <a:t>counters</a:t>
                            </a:r>
                            <a:r>
                              <a:rPr lang="fr-FR" sz="600">
                                <a:solidFill>
                                  <a:schemeClr val="tx1"/>
                                </a:solidFill>
                                <a:cs typeface="Arial"/>
                              </a:rPr>
                              <a:t> to 0</a:t>
                            </a:r>
                          </a:p>
                        </p:txBody>
                      </p:sp>
                      <p:cxnSp>
                        <p:nvCxnSpPr>
                          <p:cNvPr id="123" name="Straight Arrow Connector 122">
                            <a:extLst>
                              <a:ext uri="{FF2B5EF4-FFF2-40B4-BE49-F238E27FC236}">
                                <a16:creationId xmlns:a16="http://schemas.microsoft.com/office/drawing/2014/main" id="{1E9506D4-AEC2-D779-8205-1919839596C5}"/>
                              </a:ext>
                            </a:extLst>
                          </p:cNvPr>
                          <p:cNvCxnSpPr>
                            <a:cxnSpLocks/>
                            <a:stCxn id="111" idx="2"/>
                            <a:endCxn id="122" idx="0"/>
                          </p:cNvCxnSpPr>
                          <p:nvPr/>
                        </p:nvCxnSpPr>
                        <p:spPr>
                          <a:xfrm flipH="1">
                            <a:off x="5812194" y="1403738"/>
                            <a:ext cx="1" cy="235322"/>
                          </a:xfrm>
                          <a:prstGeom prst="straightConnector1">
                            <a:avLst/>
                          </a:prstGeom>
                          <a:ln>
                            <a:headEnd type="none" w="lg" len="lg"/>
                            <a:tailEnd type="triangle"/>
                          </a:ln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</p:cxnSp>
                      <p:cxnSp>
                        <p:nvCxnSpPr>
                          <p:cNvPr id="124" name="Straight Arrow Connector 123">
                            <a:extLst>
                              <a:ext uri="{FF2B5EF4-FFF2-40B4-BE49-F238E27FC236}">
                                <a16:creationId xmlns:a16="http://schemas.microsoft.com/office/drawing/2014/main" id="{43489708-63E0-510B-3CA6-413CFB83EC04}"/>
                              </a:ext>
                            </a:extLst>
                          </p:cNvPr>
                          <p:cNvCxnSpPr>
                            <a:cxnSpLocks/>
                            <a:stCxn id="122" idx="2"/>
                            <a:endCxn id="133" idx="0"/>
                          </p:cNvCxnSpPr>
                          <p:nvPr/>
                        </p:nvCxnSpPr>
                        <p:spPr>
                          <a:xfrm>
                            <a:off x="5812194" y="1925686"/>
                            <a:ext cx="0" cy="204783"/>
                          </a:xfrm>
                          <a:prstGeom prst="straightConnector1">
                            <a:avLst/>
                          </a:prstGeom>
                          <a:ln>
                            <a:headEnd type="none" w="lg" len="lg"/>
                            <a:tailEnd type="triangle"/>
                          </a:ln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</p:cxnSp>
                      <p:cxnSp>
                        <p:nvCxnSpPr>
                          <p:cNvPr id="125" name="Straight Arrow Connector 124">
                            <a:extLst>
                              <a:ext uri="{FF2B5EF4-FFF2-40B4-BE49-F238E27FC236}">
                                <a16:creationId xmlns:a16="http://schemas.microsoft.com/office/drawing/2014/main" id="{D1AB7381-A297-0392-ECE9-8ECC5260315A}"/>
                              </a:ext>
                            </a:extLst>
                          </p:cNvPr>
                          <p:cNvCxnSpPr>
                            <a:cxnSpLocks/>
                            <a:stCxn id="111" idx="3"/>
                            <a:endCxn id="85" idx="1"/>
                          </p:cNvCxnSpPr>
                          <p:nvPr/>
                        </p:nvCxnSpPr>
                        <p:spPr>
                          <a:xfrm flipV="1">
                            <a:off x="6455407" y="1183282"/>
                            <a:ext cx="606407" cy="87818"/>
                          </a:xfrm>
                          <a:prstGeom prst="straightConnector1">
                            <a:avLst/>
                          </a:prstGeom>
                          <a:ln>
                            <a:headEnd type="none" w="lg" len="lg"/>
                            <a:tailEnd type="triangle"/>
                          </a:ln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</p:cxnSp>
                      <p:cxnSp>
                        <p:nvCxnSpPr>
                          <p:cNvPr id="126" name="Straight Arrow Connector 125">
                            <a:extLst>
                              <a:ext uri="{FF2B5EF4-FFF2-40B4-BE49-F238E27FC236}">
                                <a16:creationId xmlns:a16="http://schemas.microsoft.com/office/drawing/2014/main" id="{1E4EC557-BEBE-2898-E694-681FDBA8AA9D}"/>
                              </a:ext>
                            </a:extLst>
                          </p:cNvPr>
                          <p:cNvCxnSpPr>
                            <a:cxnSpLocks/>
                            <a:stCxn id="122" idx="3"/>
                            <a:endCxn id="86" idx="1"/>
                          </p:cNvCxnSpPr>
                          <p:nvPr/>
                        </p:nvCxnSpPr>
                        <p:spPr>
                          <a:xfrm flipV="1">
                            <a:off x="6762178" y="1774734"/>
                            <a:ext cx="342928" cy="7639"/>
                          </a:xfrm>
                          <a:prstGeom prst="straightConnector1">
                            <a:avLst/>
                          </a:prstGeom>
                          <a:ln>
                            <a:headEnd type="none" w="lg" len="lg"/>
                            <a:tailEnd type="triangle"/>
                          </a:ln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</p:cxnSp>
                      <p:grpSp>
                        <p:nvGrpSpPr>
                          <p:cNvPr id="127" name="Group 126">
                            <a:extLst>
                              <a:ext uri="{FF2B5EF4-FFF2-40B4-BE49-F238E27FC236}">
                                <a16:creationId xmlns:a16="http://schemas.microsoft.com/office/drawing/2014/main" id="{30B81EA3-1EDB-F15D-2751-1431479868A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405088" y="4024622"/>
                            <a:ext cx="979508" cy="1081431"/>
                            <a:chOff x="6932737" y="4003341"/>
                            <a:chExt cx="979507" cy="1081433"/>
                          </a:xfrm>
                        </p:grpSpPr>
                        <p:grpSp>
                          <p:nvGrpSpPr>
                            <p:cNvPr id="128" name="Group 127">
                              <a:extLst>
                                <a:ext uri="{FF2B5EF4-FFF2-40B4-BE49-F238E27FC236}">
                                  <a16:creationId xmlns:a16="http://schemas.microsoft.com/office/drawing/2014/main" id="{8EDADF21-2BB0-9418-131E-861A12EA8D0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6932737" y="4003341"/>
                              <a:ext cx="979507" cy="622182"/>
                              <a:chOff x="9027792" y="2262057"/>
                              <a:chExt cx="979507" cy="622182"/>
                            </a:xfrm>
                          </p:grpSpPr>
                          <p:sp>
                            <p:nvSpPr>
                              <p:cNvPr id="130" name="Rectangle 129">
                                <a:extLst>
                                  <a:ext uri="{FF2B5EF4-FFF2-40B4-BE49-F238E27FC236}">
                                    <a16:creationId xmlns:a16="http://schemas.microsoft.com/office/drawing/2014/main" id="{C49351EA-1C13-1D46-47A7-71B17CA8C3C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027792" y="2262057"/>
                                <a:ext cx="979507" cy="194691"/>
                              </a:xfrm>
                              <a:prstGeom prst="rect">
                                <a:avLst/>
                              </a:prstGeom>
                              <a:ln/>
                            </p:spPr>
                            <p:style>
                              <a:lnRef idx="2">
                                <a:schemeClr val="accent3">
                                  <a:shade val="15000"/>
                                </a:schemeClr>
                              </a:lnRef>
                              <a:fillRef idx="1">
                                <a:schemeClr val="accent3"/>
                              </a:fillRef>
                              <a:effectRef idx="0">
                                <a:schemeClr val="accent3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>
                                <a:defPPr>
                                  <a:defRPr lang="en-US"/>
                                </a:defPPr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9pPr>
                              </a:lstStyle>
                              <a:p>
                                <a:pPr algn="ctr">
                                  <a:buClr>
                                    <a:schemeClr val="bg1"/>
                                  </a:buClr>
                                </a:pPr>
                                <a:r>
                                  <a:rPr lang="fr-FR" sz="600">
                                    <a:solidFill>
                                      <a:schemeClr val="tx1"/>
                                    </a:solidFill>
                                  </a:rPr>
                                  <a:t>Start Thread i</a:t>
                                </a:r>
                                <a:endParaRPr lang="en-US" sz="600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  <p:cxnSp>
                            <p:nvCxnSpPr>
                              <p:cNvPr id="131" name="Straight Arrow Connector 130">
                                <a:extLst>
                                  <a:ext uri="{FF2B5EF4-FFF2-40B4-BE49-F238E27FC236}">
                                    <a16:creationId xmlns:a16="http://schemas.microsoft.com/office/drawing/2014/main" id="{B81E6AD8-C817-6486-1ADE-B4F707F5E24A}"/>
                                  </a:ext>
                                </a:extLst>
                              </p:cNvPr>
                              <p:cNvCxnSpPr>
                                <a:cxnSpLocks/>
                                <a:stCxn id="130" idx="2"/>
                                <a:endCxn id="132" idx="0"/>
                              </p:cNvCxnSpPr>
                              <p:nvPr/>
                            </p:nvCxnSpPr>
                            <p:spPr>
                              <a:xfrm>
                                <a:off x="9517551" y="2456748"/>
                                <a:ext cx="0" cy="232015"/>
                              </a:xfrm>
                              <a:prstGeom prst="straightConnector1">
                                <a:avLst/>
                              </a:prstGeom>
                              <a:ln>
                                <a:headEnd type="none" w="lg" len="lg"/>
                                <a:tailEnd type="triangle"/>
                              </a:ln>
                            </p:spPr>
                            <p:style>
                              <a:lnRef idx="2">
                                <a:schemeClr val="accent3">
                                  <a:shade val="15000"/>
                                </a:schemeClr>
                              </a:lnRef>
                              <a:fillRef idx="1">
                                <a:schemeClr val="accent3"/>
                              </a:fillRef>
                              <a:effectRef idx="0">
                                <a:schemeClr val="accent3"/>
                              </a:effectRef>
                              <a:fontRef idx="minor">
                                <a:schemeClr val="lt1"/>
                              </a:fontRef>
                            </p:style>
                          </p:cxnSp>
                          <p:sp>
                            <p:nvSpPr>
                              <p:cNvPr id="132" name="Rectangle 131">
                                <a:extLst>
                                  <a:ext uri="{FF2B5EF4-FFF2-40B4-BE49-F238E27FC236}">
                                    <a16:creationId xmlns:a16="http://schemas.microsoft.com/office/drawing/2014/main" id="{E0B92451-3B97-0ED1-74BA-5348D4E8E3D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027792" y="2688763"/>
                                <a:ext cx="979507" cy="195476"/>
                              </a:xfrm>
                              <a:prstGeom prst="rect">
                                <a:avLst/>
                              </a:prstGeom>
                              <a:ln/>
                            </p:spPr>
                            <p:style>
                              <a:lnRef idx="2">
                                <a:schemeClr val="accent3">
                                  <a:shade val="15000"/>
                                </a:schemeClr>
                              </a:lnRef>
                              <a:fillRef idx="1">
                                <a:schemeClr val="accent3"/>
                              </a:fillRef>
                              <a:effectRef idx="0">
                                <a:schemeClr val="accent3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lIns="91440" tIns="45720" rIns="91440" bIns="45720" rtlCol="0" anchor="ctr"/>
                              <a:lstStyle>
                                <a:defPPr>
                                  <a:defRPr lang="en-US"/>
                                </a:defPPr>
                                <a:lvl1pPr marL="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1pPr>
                                <a:lvl2pPr marL="4572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2pPr>
                                <a:lvl3pPr marL="9144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3pPr>
                                <a:lvl4pPr marL="13716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4pPr>
                                <a:lvl5pPr marL="18288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5pPr>
                                <a:lvl6pPr marL="22860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6pPr>
                                <a:lvl7pPr marL="27432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7pPr>
                                <a:lvl8pPr marL="32004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8pPr>
                                <a:lvl9pPr marL="3657600" algn="l" defTabSz="914400" rtl="0" eaLnBrk="1" latinLnBrk="0" hangingPunct="1">
                                  <a:defRPr sz="1800" kern="120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defRPr>
                                </a:lvl9pPr>
                              </a:lstStyle>
                              <a:p>
                                <a:pPr algn="ctr">
                                  <a:buClr>
                                    <a:schemeClr val="bg1"/>
                                  </a:buClr>
                                </a:pPr>
                                <a:r>
                                  <a:rPr lang="fr-FR" sz="600" err="1">
                                    <a:solidFill>
                                      <a:schemeClr val="tx1"/>
                                    </a:solidFill>
                                    <a:cs typeface="Arial"/>
                                  </a:rPr>
                                  <a:t>Task</a:t>
                                </a:r>
                                <a:r>
                                  <a:rPr lang="fr-FR" sz="600">
                                    <a:solidFill>
                                      <a:schemeClr val="tx1"/>
                                    </a:solidFill>
                                    <a:cs typeface="Arial"/>
                                  </a:rPr>
                                  <a:t> </a:t>
                                </a:r>
                                <a:r>
                                  <a:rPr lang="fr-FR" sz="600" err="1">
                                    <a:solidFill>
                                      <a:schemeClr val="tx1"/>
                                    </a:solidFill>
                                    <a:cs typeface="Arial"/>
                                  </a:rPr>
                                  <a:t>Yield</a:t>
                                </a:r>
                                <a:endParaRPr lang="fr-FR" sz="600">
                                  <a:solidFill>
                                    <a:schemeClr val="tx1"/>
                                  </a:solidFill>
                                  <a:cs typeface="Arial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29" name="Rectangle 128">
                              <a:extLst>
                                <a:ext uri="{FF2B5EF4-FFF2-40B4-BE49-F238E27FC236}">
                                  <a16:creationId xmlns:a16="http://schemas.microsoft.com/office/drawing/2014/main" id="{EF6895B8-D1EF-6D86-B35F-E88DD5191C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932737" y="4890083"/>
                              <a:ext cx="979507" cy="194691"/>
                            </a:xfrm>
                            <a:prstGeom prst="rect">
                              <a:avLst/>
                            </a:prstGeom>
                            <a:ln/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91440" tIns="45720" rIns="91440" bIns="45720"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buClr>
                                  <a:schemeClr val="bg1"/>
                                </a:buClr>
                              </a:pPr>
                              <a:endParaRPr lang="fr-FR" sz="600">
                                <a:solidFill>
                                  <a:schemeClr val="tx1"/>
                                </a:solidFill>
                              </a:endParaRPr>
                            </a:p>
                            <a:p>
                              <a:pPr algn="ctr">
                                <a:buClr>
                                  <a:schemeClr val="bg1"/>
                                </a:buClr>
                              </a:pPr>
                              <a:r>
                                <a:rPr lang="fr-FR" sz="600" err="1">
                                  <a:solidFill>
                                    <a:schemeClr val="tx1"/>
                                  </a:solidFill>
                                </a:rPr>
                                <a:t>Increment</a:t>
                              </a:r>
                              <a:r>
                                <a:rPr lang="fr-FR" sz="600">
                                  <a:solidFill>
                                    <a:schemeClr val="tx1"/>
                                  </a:solidFill>
                                </a:rPr>
                                <a:t> Ci</a:t>
                              </a:r>
                            </a:p>
                            <a:p>
                              <a:pPr algn="ctr">
                                <a:buClr>
                                  <a:schemeClr val="bg1"/>
                                </a:buClr>
                              </a:pPr>
                              <a:endParaRPr lang="fr-FR" sz="600">
                                <a:solidFill>
                                  <a:schemeClr val="tx1"/>
                                </a:solidFill>
                                <a:cs typeface="Arial"/>
                              </a:endParaRPr>
                            </a:p>
                          </p:txBody>
                        </p:sp>
                      </p:grpSp>
                    </p:grpSp>
                  </p:grpSp>
                  <p:cxnSp>
                    <p:nvCxnSpPr>
                      <p:cNvPr id="106" name="Connector: Elbow 105">
                        <a:extLst>
                          <a:ext uri="{FF2B5EF4-FFF2-40B4-BE49-F238E27FC236}">
                            <a16:creationId xmlns:a16="http://schemas.microsoft.com/office/drawing/2014/main" id="{FEC83BEE-1E8F-2632-614B-6CF2A05EDC0F}"/>
                          </a:ext>
                        </a:extLst>
                      </p:cNvPr>
                      <p:cNvCxnSpPr>
                        <a:cxnSpLocks/>
                        <a:stCxn id="202" idx="2"/>
                        <a:endCxn id="201" idx="1"/>
                      </p:cNvCxnSpPr>
                      <p:nvPr/>
                    </p:nvCxnSpPr>
                    <p:spPr>
                      <a:xfrm rot="5400000" flipH="1">
                        <a:off x="8451337" y="3098209"/>
                        <a:ext cx="261906" cy="494330"/>
                      </a:xfrm>
                      <a:prstGeom prst="bentConnector4">
                        <a:avLst>
                          <a:gd name="adj1" fmla="val -87283"/>
                          <a:gd name="adj2" fmla="val 146245"/>
                        </a:avLst>
                      </a:prstGeom>
                      <a:ln w="22225">
                        <a:headEnd type="none" w="lg" len="lg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03" name="Oval 102">
                      <a:extLst>
                        <a:ext uri="{FF2B5EF4-FFF2-40B4-BE49-F238E27FC236}">
                          <a16:creationId xmlns:a16="http://schemas.microsoft.com/office/drawing/2014/main" id="{DC5E420A-B5D4-7E8D-4B50-20463783EB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64420" y="2048821"/>
                      <a:ext cx="507257" cy="183850"/>
                    </a:xfrm>
                    <a:prstGeom prst="ellipse">
                      <a:avLst/>
                    </a:prstGeom>
                    <a:ln/>
                  </p:spPr>
                  <p:style>
                    <a:lnRef idx="2">
                      <a:schemeClr val="accent3">
                        <a:shade val="15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buClr>
                          <a:schemeClr val="bg1"/>
                        </a:buClr>
                      </a:pPr>
                      <a:r>
                        <a:rPr lang="fr-FR" sz="60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sz="600"/>
                    </a:p>
                  </p:txBody>
                </p:sp>
              </p:grpSp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D04D74C9-828D-2530-D7F4-E51E276FC742}"/>
                      </a:ext>
                    </a:extLst>
                  </p:cNvPr>
                  <p:cNvSpPr/>
                  <p:nvPr/>
                </p:nvSpPr>
                <p:spPr>
                  <a:xfrm>
                    <a:off x="5207829" y="4772659"/>
                    <a:ext cx="748261" cy="109927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buClr>
                        <a:schemeClr val="bg1"/>
                      </a:buClr>
                    </a:pPr>
                    <a:r>
                      <a:rPr lang="fr-FR" sz="600">
                        <a:solidFill>
                          <a:schemeClr val="tx1"/>
                        </a:solidFill>
                      </a:rPr>
                      <a:t>Start Thread i+1</a:t>
                    </a:r>
                    <a:endParaRPr lang="en-US" sz="6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5D1431D0-A210-13CD-ED96-0420E1C1C78D}"/>
                      </a:ext>
                    </a:extLst>
                  </p:cNvPr>
                  <p:cNvSpPr/>
                  <p:nvPr/>
                </p:nvSpPr>
                <p:spPr>
                  <a:xfrm>
                    <a:off x="5207829" y="5013587"/>
                    <a:ext cx="748261" cy="110370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buClr>
                        <a:schemeClr val="bg1"/>
                      </a:buClr>
                    </a:pPr>
                    <a:r>
                      <a:rPr lang="fr-FR" sz="600" err="1">
                        <a:solidFill>
                          <a:schemeClr val="tx1"/>
                        </a:solidFill>
                        <a:cs typeface="Arial"/>
                      </a:rPr>
                      <a:t>Task</a:t>
                    </a:r>
                    <a:r>
                      <a:rPr lang="fr-FR" sz="600">
                        <a:solidFill>
                          <a:schemeClr val="tx1"/>
                        </a:solidFill>
                        <a:cs typeface="Arial"/>
                      </a:rPr>
                      <a:t> </a:t>
                    </a:r>
                    <a:r>
                      <a:rPr lang="fr-FR" sz="600" err="1">
                        <a:solidFill>
                          <a:schemeClr val="tx1"/>
                        </a:solidFill>
                        <a:cs typeface="Arial"/>
                      </a:rPr>
                      <a:t>Yield</a:t>
                    </a:r>
                    <a:endParaRPr lang="fr-FR" sz="600">
                      <a:solidFill>
                        <a:schemeClr val="tx1"/>
                      </a:solidFill>
                      <a:cs typeface="Arial"/>
                    </a:endParaRPr>
                  </a:p>
                </p:txBody>
              </p:sp>
              <p:sp>
                <p:nvSpPr>
                  <p:cNvPr id="95" name="Rectangle 94">
                    <a:extLst>
                      <a:ext uri="{FF2B5EF4-FFF2-40B4-BE49-F238E27FC236}">
                        <a16:creationId xmlns:a16="http://schemas.microsoft.com/office/drawing/2014/main" id="{97E1A984-8E45-CCB6-A8AE-99A0CF332423}"/>
                      </a:ext>
                    </a:extLst>
                  </p:cNvPr>
                  <p:cNvSpPr/>
                  <p:nvPr/>
                </p:nvSpPr>
                <p:spPr>
                  <a:xfrm>
                    <a:off x="5207829" y="5273334"/>
                    <a:ext cx="748261" cy="109927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buClr>
                        <a:schemeClr val="bg1"/>
                      </a:buClr>
                    </a:pPr>
                    <a:endParaRPr lang="fr-FR" sz="600">
                      <a:solidFill>
                        <a:schemeClr val="tx1"/>
                      </a:solidFill>
                    </a:endParaRPr>
                  </a:p>
                  <a:p>
                    <a:pPr algn="ctr">
                      <a:buClr>
                        <a:schemeClr val="bg1"/>
                      </a:buClr>
                    </a:pPr>
                    <a:r>
                      <a:rPr lang="fr-FR" sz="600" err="1">
                        <a:solidFill>
                          <a:schemeClr val="tx1"/>
                        </a:solidFill>
                      </a:rPr>
                      <a:t>Increment</a:t>
                    </a:r>
                    <a:r>
                      <a:rPr lang="fr-FR" sz="600">
                        <a:solidFill>
                          <a:schemeClr val="tx1"/>
                        </a:solidFill>
                      </a:rPr>
                      <a:t> Ci+1</a:t>
                    </a:r>
                  </a:p>
                  <a:p>
                    <a:pPr algn="ctr">
                      <a:buClr>
                        <a:schemeClr val="bg1"/>
                      </a:buClr>
                    </a:pPr>
                    <a:endParaRPr lang="fr-FR" sz="600">
                      <a:solidFill>
                        <a:schemeClr val="tx1"/>
                      </a:solidFill>
                      <a:cs typeface="Arial"/>
                    </a:endParaRPr>
                  </a:p>
                </p:txBody>
              </p:sp>
              <p:cxnSp>
                <p:nvCxnSpPr>
                  <p:cNvPr id="96" name="Straight Arrow Connector 95">
                    <a:extLst>
                      <a:ext uri="{FF2B5EF4-FFF2-40B4-BE49-F238E27FC236}">
                        <a16:creationId xmlns:a16="http://schemas.microsoft.com/office/drawing/2014/main" id="{0337EAD2-DFD2-2CD7-DD24-B812C3AE58B5}"/>
                      </a:ext>
                    </a:extLst>
                  </p:cNvPr>
                  <p:cNvCxnSpPr>
                    <a:cxnSpLocks/>
                    <a:stCxn id="93" idx="2"/>
                    <a:endCxn id="94" idx="0"/>
                  </p:cNvCxnSpPr>
                  <p:nvPr/>
                </p:nvCxnSpPr>
                <p:spPr>
                  <a:xfrm>
                    <a:off x="5581960" y="4882586"/>
                    <a:ext cx="0" cy="131001"/>
                  </a:xfrm>
                  <a:prstGeom prst="straightConnector1">
                    <a:avLst/>
                  </a:prstGeom>
                  <a:ln>
                    <a:headEnd type="none" w="lg" len="lg"/>
                    <a:tailEnd type="triangle"/>
                  </a:ln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7" name="Connector: Elbow 96">
                    <a:extLst>
                      <a:ext uri="{FF2B5EF4-FFF2-40B4-BE49-F238E27FC236}">
                        <a16:creationId xmlns:a16="http://schemas.microsoft.com/office/drawing/2014/main" id="{81C1255E-3C7E-CC57-422A-07B9F10B0A7F}"/>
                      </a:ext>
                    </a:extLst>
                  </p:cNvPr>
                  <p:cNvCxnSpPr>
                    <a:cxnSpLocks/>
                    <a:stCxn id="94" idx="3"/>
                    <a:endCxn id="129" idx="1"/>
                  </p:cNvCxnSpPr>
                  <p:nvPr/>
                </p:nvCxnSpPr>
                <p:spPr>
                  <a:xfrm flipH="1">
                    <a:off x="4266539" y="5068772"/>
                    <a:ext cx="1689551" cy="265042"/>
                  </a:xfrm>
                  <a:prstGeom prst="bentConnector5">
                    <a:avLst>
                      <a:gd name="adj1" fmla="val -13530"/>
                      <a:gd name="adj2" fmla="val 50042"/>
                      <a:gd name="adj3" fmla="val 107329"/>
                    </a:avLst>
                  </a:prstGeom>
                  <a:ln w="22225">
                    <a:headEnd type="none" w="lg" len="lg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Connector: Elbow 98">
                    <a:extLst>
                      <a:ext uri="{FF2B5EF4-FFF2-40B4-BE49-F238E27FC236}">
                        <a16:creationId xmlns:a16="http://schemas.microsoft.com/office/drawing/2014/main" id="{C13B9AE1-2009-B78E-7EEB-7372C61842D8}"/>
                      </a:ext>
                    </a:extLst>
                  </p:cNvPr>
                  <p:cNvCxnSpPr>
                    <a:cxnSpLocks/>
                    <a:stCxn id="95" idx="3"/>
                    <a:endCxn id="132" idx="1"/>
                  </p:cNvCxnSpPr>
                  <p:nvPr/>
                </p:nvCxnSpPr>
                <p:spPr>
                  <a:xfrm flipH="1" flipV="1">
                    <a:off x="4266539" y="5074288"/>
                    <a:ext cx="1689551" cy="254010"/>
                  </a:xfrm>
                  <a:prstGeom prst="bentConnector5">
                    <a:avLst>
                      <a:gd name="adj1" fmla="val -13530"/>
                      <a:gd name="adj2" fmla="val -56915"/>
                      <a:gd name="adj3" fmla="val 113530"/>
                    </a:avLst>
                  </a:prstGeom>
                  <a:ln w="22225">
                    <a:headEnd type="none" w="lg" len="lg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F159251C-935D-5F52-CB1C-C4E62A39C4F0}"/>
                    </a:ext>
                  </a:extLst>
                </p:cNvPr>
                <p:cNvSpPr txBox="1"/>
                <p:nvPr/>
              </p:nvSpPr>
              <p:spPr>
                <a:xfrm>
                  <a:off x="5892045" y="4922294"/>
                  <a:ext cx="46131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sz="600">
                      <a:solidFill>
                        <a:schemeClr val="accent2"/>
                      </a:solidFill>
                    </a:rPr>
                    <a:t>i+1 = 4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0295167-75F2-3721-2665-E61BA9C1C403}"/>
                    </a:ext>
                  </a:extLst>
                </p:cNvPr>
                <p:cNvSpPr txBox="1"/>
                <p:nvPr/>
              </p:nvSpPr>
              <p:spPr>
                <a:xfrm>
                  <a:off x="5900519" y="5189831"/>
                  <a:ext cx="46131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sz="600">
                      <a:solidFill>
                        <a:schemeClr val="accent2"/>
                      </a:solidFill>
                    </a:rPr>
                    <a:t>i+1 = 4</a:t>
                  </a:r>
                </a:p>
              </p:txBody>
            </p:sp>
          </p:grpSp>
          <p:sp>
            <p:nvSpPr>
              <p:cNvPr id="85" name="TextBox 25">
                <a:extLst>
                  <a:ext uri="{FF2B5EF4-FFF2-40B4-BE49-F238E27FC236}">
                    <a16:creationId xmlns:a16="http://schemas.microsoft.com/office/drawing/2014/main" id="{211AB8DD-AEDB-85E8-CA66-72BC0A1D4E9E}"/>
                  </a:ext>
                </a:extLst>
              </p:cNvPr>
              <p:cNvSpPr txBox="1"/>
              <p:nvPr/>
            </p:nvSpPr>
            <p:spPr>
              <a:xfrm>
                <a:off x="6123696" y="3465363"/>
                <a:ext cx="1615604" cy="184666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/>
                  <a:t>Clock frequency: 160 MHz</a:t>
                </a:r>
                <a:endParaRPr lang="fr-FR" sz="600" dirty="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0DD692B-F892-D86A-E186-6CC0963D1E55}"/>
                  </a:ext>
                </a:extLst>
              </p:cNvPr>
              <p:cNvSpPr txBox="1"/>
              <p:nvPr/>
            </p:nvSpPr>
            <p:spPr>
              <a:xfrm>
                <a:off x="6154081" y="3799312"/>
                <a:ext cx="554655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03234B"/>
                    </a:solidFill>
                  </a:rPr>
                  <a:t>c0 to c4</a:t>
                </a:r>
                <a:endParaRPr lang="en-US" sz="600">
                  <a:solidFill>
                    <a:srgbClr val="03234B"/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8F320A3-0690-87BE-CDFB-0A2963D7A2CB}"/>
                  </a:ext>
                </a:extLst>
              </p:cNvPr>
              <p:cNvSpPr txBox="1"/>
              <p:nvPr/>
            </p:nvSpPr>
            <p:spPr>
              <a:xfrm>
                <a:off x="6154081" y="4079841"/>
                <a:ext cx="807802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kumimoji="0" lang="fr-FR" sz="600" i="0" u="none" strike="noStrike" kern="1200" cap="none" spc="0" normalizeH="0" baseline="0" noProof="0" err="1">
                    <a:ln>
                      <a:noFill/>
                    </a:ln>
                    <a:solidFill>
                      <a:srgbClr val="03234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same</a:t>
                </a:r>
                <a:r>
                  <a:rPr kumimoji="0" lang="fr-FR" sz="600" i="0" u="none" strike="noStrike" kern="1200" cap="none" spc="0" normalizeH="0" baseline="0" noProof="0">
                    <a:ln>
                      <a:noFill/>
                    </a:ln>
                    <a:solidFill>
                      <a:srgbClr val="03234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</a:t>
                </a:r>
                <a:r>
                  <a:rPr kumimoji="0" lang="fr-FR" sz="600" i="0" u="none" strike="noStrike" kern="1200" cap="none" spc="0" normalizeH="0" baseline="0" noProof="0" err="1">
                    <a:ln>
                      <a:noFill/>
                    </a:ln>
                    <a:solidFill>
                      <a:srgbClr val="03234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low</a:t>
                </a:r>
                <a:r>
                  <a:rPr kumimoji="0" lang="fr-FR" sz="600" i="0" u="none" strike="noStrike" kern="1200" cap="none" spc="0" normalizeH="0" baseline="0" noProof="0">
                    <a:ln>
                      <a:noFill/>
                    </a:ln>
                    <a:solidFill>
                      <a:srgbClr val="03234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</a:t>
                </a:r>
                <a:r>
                  <a:rPr kumimoji="0" lang="fr-FR" sz="600" i="0" u="none" strike="noStrike" kern="1200" cap="none" spc="0" normalizeH="0" baseline="0" noProof="0" err="1">
                    <a:ln>
                      <a:noFill/>
                    </a:ln>
                    <a:solidFill>
                      <a:srgbClr val="03234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priority</a:t>
                </a:r>
                <a:endParaRPr kumimoji="0" lang="en-US" sz="600" i="0" u="none" strike="noStrike" kern="1200" cap="none" spc="0" normalizeH="0" baseline="0" noProof="0">
                  <a:ln>
                    <a:noFill/>
                  </a:ln>
                  <a:solidFill>
                    <a:srgbClr val="03234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86EF256-5BE2-4590-7716-5349E5EAB841}"/>
                  </a:ext>
                </a:extLst>
              </p:cNvPr>
              <p:cNvSpPr txBox="1"/>
              <p:nvPr/>
            </p:nvSpPr>
            <p:spPr>
              <a:xfrm>
                <a:off x="6115222" y="4641723"/>
                <a:ext cx="942407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kumimoji="0" lang="fr-FR" sz="600" i="0" u="none" strike="noStrike" kern="1200" cap="none" spc="0" normalizeH="0" baseline="0" noProof="0">
                    <a:ln>
                      <a:noFill/>
                    </a:ln>
                    <a:solidFill>
                      <a:srgbClr val="03234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 ms time slice/</a:t>
                </a:r>
                <a:r>
                  <a:rPr kumimoji="0" lang="fr-FR" sz="600" i="0" u="none" strike="noStrike" kern="1200" cap="none" spc="0" normalizeH="0" baseline="0" noProof="0" err="1">
                    <a:ln>
                      <a:noFill/>
                    </a:ln>
                    <a:solidFill>
                      <a:srgbClr val="03234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task</a:t>
                </a:r>
                <a:endParaRPr kumimoji="0" lang="en-US" sz="600" i="0" u="none" strike="noStrike" kern="1200" cap="none" spc="0" normalizeH="0" baseline="0" noProof="0">
                  <a:ln>
                    <a:noFill/>
                  </a:ln>
                  <a:solidFill>
                    <a:srgbClr val="03234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CAF207A4-A265-471C-E7F4-2CEF249D7A64}"/>
              </a:ext>
            </a:extLst>
          </p:cNvPr>
          <p:cNvSpPr txBox="1"/>
          <p:nvPr/>
        </p:nvSpPr>
        <p:spPr>
          <a:xfrm>
            <a:off x="4617428" y="1659612"/>
            <a:ext cx="241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1" err="1">
                <a:solidFill>
                  <a:schemeClr val="accent2"/>
                </a:solidFill>
              </a:rPr>
              <a:t>Cooperative</a:t>
            </a:r>
            <a:r>
              <a:rPr lang="fr-FR" sz="1000" b="1">
                <a:solidFill>
                  <a:schemeClr val="accent2"/>
                </a:solidFill>
              </a:rPr>
              <a:t> </a:t>
            </a:r>
            <a:r>
              <a:rPr lang="fr-FR" sz="1000" b="1" err="1">
                <a:solidFill>
                  <a:schemeClr val="accent2"/>
                </a:solidFill>
              </a:rPr>
              <a:t>Processing</a:t>
            </a:r>
            <a:r>
              <a:rPr lang="fr-FR" sz="1000" b="1">
                <a:solidFill>
                  <a:schemeClr val="accent2"/>
                </a:solidFill>
              </a:rPr>
              <a:t> </a:t>
            </a:r>
            <a:r>
              <a:rPr lang="fr-FR" sz="1000" b="1" err="1">
                <a:solidFill>
                  <a:schemeClr val="accent2"/>
                </a:solidFill>
              </a:rPr>
              <a:t>Flowchart</a:t>
            </a:r>
            <a:endParaRPr lang="en-US" sz="1000">
              <a:solidFill>
                <a:schemeClr val="accent2"/>
              </a:solidFill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FE8296A-0049-7CFD-A9E0-0AB7D65BA653}"/>
              </a:ext>
            </a:extLst>
          </p:cNvPr>
          <p:cNvGrpSpPr/>
          <p:nvPr/>
        </p:nvGrpSpPr>
        <p:grpSpPr>
          <a:xfrm>
            <a:off x="8265483" y="2111302"/>
            <a:ext cx="3845555" cy="2606422"/>
            <a:chOff x="4223358" y="3172019"/>
            <a:chExt cx="3789987" cy="2606422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76D3BF5C-C483-B29B-F923-659C91299DAA}"/>
                </a:ext>
              </a:extLst>
            </p:cNvPr>
            <p:cNvGrpSpPr/>
            <p:nvPr/>
          </p:nvGrpSpPr>
          <p:grpSpPr>
            <a:xfrm>
              <a:off x="4223358" y="3172019"/>
              <a:ext cx="3789987" cy="2606422"/>
              <a:chOff x="4230837" y="2788208"/>
              <a:chExt cx="3789987" cy="2606422"/>
            </a:xfrm>
          </p:grpSpPr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100C2A71-A13D-E3C0-D6EA-7AF8D50E9EEE}"/>
                  </a:ext>
                </a:extLst>
              </p:cNvPr>
              <p:cNvGrpSpPr/>
              <p:nvPr/>
            </p:nvGrpSpPr>
            <p:grpSpPr>
              <a:xfrm>
                <a:off x="4230837" y="2788208"/>
                <a:ext cx="3789987" cy="2606422"/>
                <a:chOff x="4230837" y="2788208"/>
                <a:chExt cx="3789987" cy="2606422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DDC38DEE-D99E-0F57-F00E-D19F341F63E4}"/>
                    </a:ext>
                  </a:extLst>
                </p:cNvPr>
                <p:cNvGrpSpPr/>
                <p:nvPr/>
              </p:nvGrpSpPr>
              <p:grpSpPr>
                <a:xfrm>
                  <a:off x="4230837" y="2788208"/>
                  <a:ext cx="3789987" cy="2606422"/>
                  <a:chOff x="5498351" y="2048821"/>
                  <a:chExt cx="3789987" cy="2606422"/>
                </a:xfrm>
              </p:grpSpPr>
              <p:grpSp>
                <p:nvGrpSpPr>
                  <p:cNvPr id="157" name="Group 156">
                    <a:extLst>
                      <a:ext uri="{FF2B5EF4-FFF2-40B4-BE49-F238E27FC236}">
                        <a16:creationId xmlns:a16="http://schemas.microsoft.com/office/drawing/2014/main" id="{F9A992F0-031B-6BB6-A499-49BD3437138D}"/>
                      </a:ext>
                    </a:extLst>
                  </p:cNvPr>
                  <p:cNvGrpSpPr/>
                  <p:nvPr/>
                </p:nvGrpSpPr>
                <p:grpSpPr>
                  <a:xfrm>
                    <a:off x="5498351" y="2232670"/>
                    <a:ext cx="3789987" cy="2422573"/>
                    <a:chOff x="5733979" y="1125499"/>
                    <a:chExt cx="3789987" cy="2422573"/>
                  </a:xfrm>
                </p:grpSpPr>
                <p:grpSp>
                  <p:nvGrpSpPr>
                    <p:cNvPr id="159" name="Group 158">
                      <a:extLst>
                        <a:ext uri="{FF2B5EF4-FFF2-40B4-BE49-F238E27FC236}">
                          <a16:creationId xmlns:a16="http://schemas.microsoft.com/office/drawing/2014/main" id="{61180F0C-59E2-2AFE-1004-4AB785ECA4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552373" y="2949327"/>
                      <a:ext cx="971593" cy="598744"/>
                      <a:chOff x="2897734" y="3217933"/>
                      <a:chExt cx="971593" cy="1060430"/>
                    </a:xfrm>
                  </p:grpSpPr>
                  <p:cxnSp>
                    <p:nvCxnSpPr>
                      <p:cNvPr id="185" name="Straight Arrow Connector 184">
                        <a:extLst>
                          <a:ext uri="{FF2B5EF4-FFF2-40B4-BE49-F238E27FC236}">
                            <a16:creationId xmlns:a16="http://schemas.microsoft.com/office/drawing/2014/main" id="{C92F87BB-0515-705F-4336-7219CE04A412}"/>
                          </a:ext>
                        </a:extLst>
                      </p:cNvPr>
                      <p:cNvCxnSpPr>
                        <a:cxnSpLocks/>
                        <a:stCxn id="190" idx="2"/>
                        <a:endCxn id="187" idx="0"/>
                      </p:cNvCxnSpPr>
                      <p:nvPr/>
                    </p:nvCxnSpPr>
                    <p:spPr>
                      <a:xfrm flipH="1">
                        <a:off x="3375786" y="3848712"/>
                        <a:ext cx="1" cy="231232"/>
                      </a:xfrm>
                      <a:prstGeom prst="straightConnector1">
                        <a:avLst/>
                      </a:prstGeom>
                      <a:ln>
                        <a:headEnd type="none" w="lg" len="lg"/>
                        <a:tailEnd type="triangle"/>
                      </a:ln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</p:cxnSp>
                  <p:grpSp>
                    <p:nvGrpSpPr>
                      <p:cNvPr id="186" name="Group 185">
                        <a:extLst>
                          <a:ext uri="{FF2B5EF4-FFF2-40B4-BE49-F238E27FC236}">
                            <a16:creationId xmlns:a16="http://schemas.microsoft.com/office/drawing/2014/main" id="{203D9828-A600-95A9-0205-192BF97A52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97734" y="3217933"/>
                        <a:ext cx="971593" cy="630779"/>
                        <a:chOff x="4992789" y="1476649"/>
                        <a:chExt cx="971593" cy="630779"/>
                      </a:xfrm>
                    </p:grpSpPr>
                    <p:sp>
                      <p:nvSpPr>
                        <p:cNvPr id="188" name="Rectangle 187">
                          <a:extLst>
                            <a:ext uri="{FF2B5EF4-FFF2-40B4-BE49-F238E27FC236}">
                              <a16:creationId xmlns:a16="http://schemas.microsoft.com/office/drawing/2014/main" id="{BA4F7BDF-398C-CEF8-4E73-BE166A9266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92789" y="1476649"/>
                          <a:ext cx="971593" cy="195475"/>
                        </a:xfrm>
                        <a:prstGeom prst="rect">
                          <a:avLst/>
                        </a:prstGeom>
                        <a:ln/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buClr>
                              <a:schemeClr val="bg1"/>
                            </a:buClr>
                          </a:pPr>
                          <a:r>
                            <a:rPr lang="fr-FR" sz="600">
                              <a:solidFill>
                                <a:schemeClr val="tx1"/>
                              </a:solidFill>
                            </a:rPr>
                            <a:t>Start </a:t>
                          </a:r>
                          <a:r>
                            <a:rPr lang="fr-FR" sz="600" err="1">
                              <a:solidFill>
                                <a:schemeClr val="tx1"/>
                              </a:solidFill>
                            </a:rPr>
                            <a:t>Reporting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</a:rPr>
                            <a:t> Thread</a:t>
                          </a:r>
                          <a:endParaRPr lang="en-US" sz="6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cxnSp>
                      <p:nvCxnSpPr>
                        <p:cNvPr id="189" name="Straight Arrow Connector 188">
                          <a:extLst>
                            <a:ext uri="{FF2B5EF4-FFF2-40B4-BE49-F238E27FC236}">
                              <a16:creationId xmlns:a16="http://schemas.microsoft.com/office/drawing/2014/main" id="{D0CE2E10-355C-D2C1-F993-2AD611A6D85F}"/>
                            </a:ext>
                          </a:extLst>
                        </p:cNvPr>
                        <p:cNvCxnSpPr>
                          <a:cxnSpLocks/>
                          <a:stCxn id="188" idx="2"/>
                          <a:endCxn id="190" idx="0"/>
                        </p:cNvCxnSpPr>
                        <p:nvPr/>
                      </p:nvCxnSpPr>
                      <p:spPr>
                        <a:xfrm flipH="1">
                          <a:off x="5470842" y="1672124"/>
                          <a:ext cx="7743" cy="239829"/>
                        </a:xfrm>
                        <a:prstGeom prst="straightConnector1">
                          <a:avLst/>
                        </a:prstGeom>
                        <a:ln>
                          <a:headEnd type="none" w="lg" len="lg"/>
                          <a:tailEnd type="triangle"/>
                        </a:ln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</p:cxnSp>
                    <p:sp>
                      <p:nvSpPr>
                        <p:cNvPr id="190" name="Rectangle 189">
                          <a:extLst>
                            <a:ext uri="{FF2B5EF4-FFF2-40B4-BE49-F238E27FC236}">
                              <a16:creationId xmlns:a16="http://schemas.microsoft.com/office/drawing/2014/main" id="{1DC01D8E-FCAB-8C49-E58E-6CA01821ED4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96711" y="1911953"/>
                          <a:ext cx="748260" cy="195475"/>
                        </a:xfrm>
                        <a:prstGeom prst="rect">
                          <a:avLst/>
                        </a:prstGeom>
                        <a:ln/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91440" tIns="45720" rIns="91440" bIns="45720"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buClr>
                              <a:schemeClr val="bg1"/>
                            </a:buClr>
                          </a:pPr>
                          <a:r>
                            <a:rPr lang="fr-FR" sz="600" err="1">
                              <a:solidFill>
                                <a:schemeClr val="tx1"/>
                              </a:solidFill>
                            </a:rPr>
                            <a:t>Sleep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</a:rPr>
                            <a:t> for 30 s</a:t>
                          </a:r>
                        </a:p>
                      </p:txBody>
                    </p:sp>
                  </p:grpSp>
                  <p:sp>
                    <p:nvSpPr>
                      <p:cNvPr id="187" name="Rectangle 186">
                        <a:extLst>
                          <a:ext uri="{FF2B5EF4-FFF2-40B4-BE49-F238E27FC236}">
                            <a16:creationId xmlns:a16="http://schemas.microsoft.com/office/drawing/2014/main" id="{9CA4EE2D-1544-37C4-575A-5817A6412B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56573" y="4079944"/>
                        <a:ext cx="838425" cy="198419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2">
                        <a:schemeClr val="accent3">
                          <a:shade val="15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lIns="91440" tIns="45720" rIns="91440" bIns="45720"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buClr>
                            <a:schemeClr val="bg1"/>
                          </a:buClr>
                        </a:pPr>
                        <a:endParaRPr lang="fr-FR" sz="600">
                          <a:solidFill>
                            <a:schemeClr val="tx1"/>
                          </a:solidFill>
                        </a:endParaRPr>
                      </a:p>
                      <a:p>
                        <a:pPr algn="ctr">
                          <a:buClr>
                            <a:schemeClr val="bg1"/>
                          </a:buClr>
                        </a:pPr>
                        <a:r>
                          <a:rPr lang="fr-FR" sz="600" err="1">
                            <a:solidFill>
                              <a:schemeClr val="tx1"/>
                            </a:solidFill>
                            <a:cs typeface="Arial"/>
                          </a:rPr>
                          <a:t>Print</a:t>
                        </a:r>
                        <a:r>
                          <a:rPr lang="fr-FR" sz="600">
                            <a:solidFill>
                              <a:schemeClr val="tx1"/>
                            </a:solidFill>
                            <a:cs typeface="Arial"/>
                          </a:rPr>
                          <a:t> the 5 </a:t>
                        </a:r>
                        <a:r>
                          <a:rPr lang="fr-FR" sz="600" err="1">
                            <a:solidFill>
                              <a:schemeClr val="tx1"/>
                            </a:solidFill>
                            <a:cs typeface="Arial"/>
                          </a:rPr>
                          <a:t>counters</a:t>
                        </a:r>
                        <a:endParaRPr lang="fr-FR" sz="600">
                          <a:solidFill>
                            <a:schemeClr val="tx1"/>
                          </a:solidFill>
                          <a:cs typeface="Arial"/>
                        </a:endParaRPr>
                      </a:p>
                      <a:p>
                        <a:pPr algn="ctr">
                          <a:buClr>
                            <a:schemeClr val="bg1"/>
                          </a:buClr>
                        </a:pPr>
                        <a:endParaRPr lang="fr-FR" sz="600">
                          <a:solidFill>
                            <a:schemeClr val="tx1"/>
                          </a:solidFill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160" name="Group 159">
                      <a:extLst>
                        <a:ext uri="{FF2B5EF4-FFF2-40B4-BE49-F238E27FC236}">
                          <a16:creationId xmlns:a16="http://schemas.microsoft.com/office/drawing/2014/main" id="{4ABE1720-E0FE-E5CC-F9D9-A7E9A6A867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33979" y="1125499"/>
                      <a:ext cx="2575565" cy="2352956"/>
                      <a:chOff x="4354220" y="825825"/>
                      <a:chExt cx="3669655" cy="4167308"/>
                    </a:xfrm>
                  </p:grpSpPr>
                  <p:sp>
                    <p:nvSpPr>
                      <p:cNvPr id="162" name="TextBox 161">
                        <a:extLst>
                          <a:ext uri="{FF2B5EF4-FFF2-40B4-BE49-F238E27FC236}">
                            <a16:creationId xmlns:a16="http://schemas.microsoft.com/office/drawing/2014/main" id="{9FF154DF-98AA-E91F-EE29-4BFEE42B680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109619" y="2630315"/>
                        <a:ext cx="914256" cy="32706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lvl="0">
                          <a:defRPr/>
                        </a:pPr>
                        <a:r>
                          <a:rPr kumimoji="0" lang="fr-FR" sz="60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3234B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rPr>
                          <a:t>HIGH </a:t>
                        </a:r>
                        <a:r>
                          <a:rPr kumimoji="0" lang="fr-FR" sz="60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srgbClr val="03234B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rPr>
                          <a:t>Priority</a:t>
                        </a:r>
                        <a:endParaRPr kumimoji="0" lang="en-US" sz="60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3234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endParaRPr>
                      </a:p>
                    </p:txBody>
                  </p:sp>
                  <p:grpSp>
                    <p:nvGrpSpPr>
                      <p:cNvPr id="163" name="Group 162">
                        <a:extLst>
                          <a:ext uri="{FF2B5EF4-FFF2-40B4-BE49-F238E27FC236}">
                            <a16:creationId xmlns:a16="http://schemas.microsoft.com/office/drawing/2014/main" id="{F0160389-D7E5-814B-D6AF-ECA82269FA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54220" y="825825"/>
                        <a:ext cx="2755399" cy="4167308"/>
                        <a:chOff x="4354220" y="825825"/>
                        <a:chExt cx="2755399" cy="4167308"/>
                      </a:xfrm>
                    </p:grpSpPr>
                    <p:cxnSp>
                      <p:nvCxnSpPr>
                        <p:cNvPr id="164" name="Straight Arrow Connector 163">
                          <a:extLst>
                            <a:ext uri="{FF2B5EF4-FFF2-40B4-BE49-F238E27FC236}">
                              <a16:creationId xmlns:a16="http://schemas.microsoft.com/office/drawing/2014/main" id="{41D2306E-C22A-81B1-C8D4-E1CF23C340C1}"/>
                            </a:ext>
                          </a:extLst>
                        </p:cNvPr>
                        <p:cNvCxnSpPr>
                          <a:cxnSpLocks/>
                          <a:stCxn id="158" idx="4"/>
                          <a:endCxn id="165" idx="0"/>
                        </p:cNvCxnSpPr>
                        <p:nvPr/>
                      </p:nvCxnSpPr>
                      <p:spPr>
                        <a:xfrm>
                          <a:off x="5807083" y="825825"/>
                          <a:ext cx="5112" cy="312635"/>
                        </a:xfrm>
                        <a:prstGeom prst="straightConnector1">
                          <a:avLst/>
                        </a:prstGeom>
                        <a:ln>
                          <a:headEnd type="none" w="lg" len="lg"/>
                          <a:tailEnd type="triangle"/>
                        </a:ln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</p:cxnSp>
                    <p:sp>
                      <p:nvSpPr>
                        <p:cNvPr id="165" name="Rectangle 164">
                          <a:extLst>
                            <a:ext uri="{FF2B5EF4-FFF2-40B4-BE49-F238E27FC236}">
                              <a16:creationId xmlns:a16="http://schemas.microsoft.com/office/drawing/2014/main" id="{9A9CEF8C-ADB4-847A-7E87-1CF7D42F5B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68983" y="1138460"/>
                          <a:ext cx="1286424" cy="265278"/>
                        </a:xfrm>
                        <a:prstGeom prst="rect">
                          <a:avLst/>
                        </a:prstGeom>
                        <a:ln/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91440" tIns="45720" rIns="91440" bIns="45720"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buClr>
                              <a:schemeClr val="bg1"/>
                            </a:buClr>
                          </a:pPr>
                          <a:endParaRPr lang="fr-FR" sz="6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fr-FR" sz="600" err="1">
                              <a:solidFill>
                                <a:schemeClr val="tx1"/>
                              </a:solidFill>
                            </a:rPr>
                            <a:t>Clock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</a:rPr>
                            <a:t> configuration</a:t>
                          </a:r>
                        </a:p>
                        <a:p>
                          <a:pPr algn="ctr">
                            <a:buClr>
                              <a:schemeClr val="bg1"/>
                            </a:buClr>
                          </a:pPr>
                          <a:endParaRPr lang="fr-FR" sz="600">
                            <a:solidFill>
                              <a:schemeClr val="tx1"/>
                            </a:solidFill>
                            <a:cs typeface="Arial"/>
                          </a:endParaRPr>
                        </a:p>
                      </p:txBody>
                    </p:sp>
                    <p:grpSp>
                      <p:nvGrpSpPr>
                        <p:cNvPr id="166" name="Group 165">
                          <a:extLst>
                            <a:ext uri="{FF2B5EF4-FFF2-40B4-BE49-F238E27FC236}">
                              <a16:creationId xmlns:a16="http://schemas.microsoft.com/office/drawing/2014/main" id="{BBD94AF6-91FC-3CD0-2F86-296C98CA207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862207" y="2130469"/>
                          <a:ext cx="2247412" cy="1266757"/>
                          <a:chOff x="4839108" y="1947291"/>
                          <a:chExt cx="2247412" cy="1266757"/>
                        </a:xfrm>
                      </p:grpSpPr>
                      <p:sp>
                        <p:nvSpPr>
                          <p:cNvPr id="177" name="Rectangle 176">
                            <a:extLst>
                              <a:ext uri="{FF2B5EF4-FFF2-40B4-BE49-F238E27FC236}">
                                <a16:creationId xmlns:a16="http://schemas.microsoft.com/office/drawing/2014/main" id="{FC1A70D0-B777-BD7F-DC06-0BBA372D5BB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39113" y="1947291"/>
                            <a:ext cx="1899965" cy="280019"/>
                          </a:xfrm>
                          <a:prstGeom prst="rect">
                            <a:avLst/>
                          </a:prstGeom>
                          <a:ln/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buClr>
                                <a:schemeClr val="bg1"/>
                              </a:buClr>
                            </a:pPr>
                            <a:r>
                              <a:rPr lang="fr-FR" sz="600" err="1">
                                <a:solidFill>
                                  <a:schemeClr val="tx1"/>
                                </a:solidFill>
                              </a:rPr>
                              <a:t>Create</a:t>
                            </a:r>
                            <a:r>
                              <a:rPr lang="fr-FR" sz="600">
                                <a:solidFill>
                                  <a:schemeClr val="tx1"/>
                                </a:solidFill>
                              </a:rPr>
                              <a:t> 5 threads</a:t>
                            </a:r>
                            <a:endParaRPr lang="en-US" sz="60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cxnSp>
                        <p:nvCxnSpPr>
                          <p:cNvPr id="178" name="Straight Arrow Connector 177">
                            <a:extLst>
                              <a:ext uri="{FF2B5EF4-FFF2-40B4-BE49-F238E27FC236}">
                                <a16:creationId xmlns:a16="http://schemas.microsoft.com/office/drawing/2014/main" id="{279FE888-C280-C35C-0A54-07FAB545712D}"/>
                              </a:ext>
                            </a:extLst>
                          </p:cNvPr>
                          <p:cNvCxnSpPr>
                            <a:cxnSpLocks/>
                            <a:stCxn id="177" idx="2"/>
                            <a:endCxn id="180" idx="0"/>
                          </p:cNvCxnSpPr>
                          <p:nvPr/>
                        </p:nvCxnSpPr>
                        <p:spPr>
                          <a:xfrm flipH="1">
                            <a:off x="5789094" y="2227310"/>
                            <a:ext cx="1" cy="227309"/>
                          </a:xfrm>
                          <a:prstGeom prst="straightConnector1">
                            <a:avLst/>
                          </a:prstGeom>
                          <a:ln>
                            <a:headEnd type="none" w="lg" len="lg"/>
                            <a:tailEnd type="triangle"/>
                          </a:ln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</p:cxnSp>
                      <p:cxnSp>
                        <p:nvCxnSpPr>
                          <p:cNvPr id="179" name="Straight Arrow Connector 178">
                            <a:extLst>
                              <a:ext uri="{FF2B5EF4-FFF2-40B4-BE49-F238E27FC236}">
                                <a16:creationId xmlns:a16="http://schemas.microsoft.com/office/drawing/2014/main" id="{36EE22C2-965A-4852-DB2C-79C8B4B29DC2}"/>
                              </a:ext>
                            </a:extLst>
                          </p:cNvPr>
                          <p:cNvCxnSpPr>
                            <a:cxnSpLocks/>
                            <a:stCxn id="177" idx="3"/>
                            <a:endCxn id="146" idx="1"/>
                          </p:cNvCxnSpPr>
                          <p:nvPr/>
                        </p:nvCxnSpPr>
                        <p:spPr>
                          <a:xfrm>
                            <a:off x="6739079" y="2087301"/>
                            <a:ext cx="342928" cy="9635"/>
                          </a:xfrm>
                          <a:prstGeom prst="straightConnector1">
                            <a:avLst/>
                          </a:prstGeom>
                          <a:ln>
                            <a:headEnd type="none" w="lg" len="lg"/>
                            <a:tailEnd type="triangle"/>
                          </a:ln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</p:cxnSp>
                      <p:sp>
                        <p:nvSpPr>
                          <p:cNvPr id="180" name="Rectangle 179">
                            <a:extLst>
                              <a:ext uri="{FF2B5EF4-FFF2-40B4-BE49-F238E27FC236}">
                                <a16:creationId xmlns:a16="http://schemas.microsoft.com/office/drawing/2014/main" id="{F687C943-C385-7D73-EFEC-EE222862517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39110" y="2454619"/>
                            <a:ext cx="1899966" cy="281205"/>
                          </a:xfrm>
                          <a:prstGeom prst="rect">
                            <a:avLst/>
                          </a:prstGeom>
                          <a:ln/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lIns="91440" tIns="45720" rIns="91440" bIns="45720" rtlCol="0" anchor="ctr"/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buClr>
                                <a:schemeClr val="bg1"/>
                              </a:buClr>
                            </a:pPr>
                            <a:r>
                              <a:rPr lang="fr-FR" sz="600" err="1">
                                <a:solidFill>
                                  <a:schemeClr val="tx1"/>
                                </a:solidFill>
                                <a:cs typeface="Arial"/>
                              </a:rPr>
                              <a:t>Create</a:t>
                            </a:r>
                            <a:r>
                              <a:rPr lang="fr-FR" sz="600">
                                <a:solidFill>
                                  <a:schemeClr val="tx1"/>
                                </a:solidFill>
                                <a:cs typeface="Arial"/>
                              </a:rPr>
                              <a:t> </a:t>
                            </a:r>
                            <a:r>
                              <a:rPr lang="fr-FR" sz="600" err="1">
                                <a:solidFill>
                                  <a:schemeClr val="tx1"/>
                                </a:solidFill>
                                <a:cs typeface="Arial"/>
                              </a:rPr>
                              <a:t>Reporting</a:t>
                            </a:r>
                            <a:r>
                              <a:rPr lang="fr-FR" sz="600">
                                <a:solidFill>
                                  <a:schemeClr val="tx1"/>
                                </a:solidFill>
                                <a:cs typeface="Arial"/>
                              </a:rPr>
                              <a:t> Thread</a:t>
                            </a:r>
                          </a:p>
                        </p:txBody>
                      </p:sp>
                      <p:cxnSp>
                        <p:nvCxnSpPr>
                          <p:cNvPr id="181" name="Straight Arrow Connector 180">
                            <a:extLst>
                              <a:ext uri="{FF2B5EF4-FFF2-40B4-BE49-F238E27FC236}">
                                <a16:creationId xmlns:a16="http://schemas.microsoft.com/office/drawing/2014/main" id="{1E980C22-0960-26EB-C5DF-D11F7B65B62E}"/>
                              </a:ext>
                            </a:extLst>
                          </p:cNvPr>
                          <p:cNvCxnSpPr>
                            <a:cxnSpLocks/>
                            <a:stCxn id="180" idx="3"/>
                            <a:endCxn id="162" idx="1"/>
                          </p:cNvCxnSpPr>
                          <p:nvPr/>
                        </p:nvCxnSpPr>
                        <p:spPr>
                          <a:xfrm>
                            <a:off x="6739076" y="2595223"/>
                            <a:ext cx="347444" cy="15446"/>
                          </a:xfrm>
                          <a:prstGeom prst="straightConnector1">
                            <a:avLst/>
                          </a:prstGeom>
                          <a:ln>
                            <a:headEnd type="none" w="lg" len="lg"/>
                            <a:tailEnd type="triangle"/>
                          </a:ln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</p:cxnSp>
                      <p:sp>
                        <p:nvSpPr>
                          <p:cNvPr id="182" name="Rectangle 181">
                            <a:extLst>
                              <a:ext uri="{FF2B5EF4-FFF2-40B4-BE49-F238E27FC236}">
                                <a16:creationId xmlns:a16="http://schemas.microsoft.com/office/drawing/2014/main" id="{E24EFE7C-801B-28F9-ACF1-BBB7EBA902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39108" y="2934029"/>
                            <a:ext cx="1899966" cy="280019"/>
                          </a:xfrm>
                          <a:prstGeom prst="rect">
                            <a:avLst/>
                          </a:prstGeom>
                          <a:ln/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lIns="91440" tIns="45720" rIns="91440" bIns="45720" rtlCol="0" anchor="ctr"/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buClr>
                                <a:schemeClr val="bg1"/>
                              </a:buClr>
                            </a:pPr>
                            <a:r>
                              <a:rPr lang="fr-FR" sz="600">
                                <a:solidFill>
                                  <a:schemeClr val="tx1"/>
                                </a:solidFill>
                                <a:cs typeface="Arial"/>
                              </a:rPr>
                              <a:t>Suspend thread 1,2,3,4</a:t>
                            </a:r>
                          </a:p>
                        </p:txBody>
                      </p:sp>
                      <p:cxnSp>
                        <p:nvCxnSpPr>
                          <p:cNvPr id="183" name="Straight Arrow Connector 182">
                            <a:extLst>
                              <a:ext uri="{FF2B5EF4-FFF2-40B4-BE49-F238E27FC236}">
                                <a16:creationId xmlns:a16="http://schemas.microsoft.com/office/drawing/2014/main" id="{FD08F993-4EC2-58BA-57D6-76F16ED31F9B}"/>
                              </a:ext>
                            </a:extLst>
                          </p:cNvPr>
                          <p:cNvCxnSpPr>
                            <a:cxnSpLocks/>
                            <a:stCxn id="180" idx="2"/>
                            <a:endCxn id="182" idx="0"/>
                          </p:cNvCxnSpPr>
                          <p:nvPr/>
                        </p:nvCxnSpPr>
                        <p:spPr>
                          <a:xfrm flipH="1">
                            <a:off x="5789092" y="2735824"/>
                            <a:ext cx="1" cy="198205"/>
                          </a:xfrm>
                          <a:prstGeom prst="straightConnector1">
                            <a:avLst/>
                          </a:prstGeom>
                          <a:ln>
                            <a:headEnd type="none" w="lg" len="lg"/>
                            <a:tailEnd type="triangle"/>
                          </a:ln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</p:cxnSp>
                      <p:cxnSp>
                        <p:nvCxnSpPr>
                          <p:cNvPr id="184" name="Straight Arrow Connector 183">
                            <a:extLst>
                              <a:ext uri="{FF2B5EF4-FFF2-40B4-BE49-F238E27FC236}">
                                <a16:creationId xmlns:a16="http://schemas.microsoft.com/office/drawing/2014/main" id="{A0F4E57C-34B0-3F10-C28D-BC916C37EF94}"/>
                              </a:ext>
                            </a:extLst>
                          </p:cNvPr>
                          <p:cNvCxnSpPr>
                            <a:cxnSpLocks/>
                            <a:stCxn id="182" idx="3"/>
                            <a:endCxn id="147" idx="1"/>
                          </p:cNvCxnSpPr>
                          <p:nvPr/>
                        </p:nvCxnSpPr>
                        <p:spPr>
                          <a:xfrm flipV="1">
                            <a:off x="6739074" y="3068792"/>
                            <a:ext cx="317868" cy="5248"/>
                          </a:xfrm>
                          <a:prstGeom prst="straightConnector1">
                            <a:avLst/>
                          </a:prstGeom>
                          <a:ln>
                            <a:headEnd type="none" w="lg" len="lg"/>
                            <a:tailEnd type="triangle"/>
                          </a:ln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</p:cxnSp>
                    </p:grpSp>
                    <p:sp>
                      <p:nvSpPr>
                        <p:cNvPr id="167" name="Rectangle 166">
                          <a:extLst>
                            <a:ext uri="{FF2B5EF4-FFF2-40B4-BE49-F238E27FC236}">
                              <a16:creationId xmlns:a16="http://schemas.microsoft.com/office/drawing/2014/main" id="{8C9B91EE-9A9F-F62C-52E2-FECDBCB934E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62212" y="1639060"/>
                          <a:ext cx="1899965" cy="286627"/>
                        </a:xfrm>
                        <a:prstGeom prst="rect">
                          <a:avLst/>
                        </a:prstGeom>
                        <a:ln/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91440" tIns="45720" rIns="91440" bIns="45720"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>
                            <a:buClr>
                              <a:schemeClr val="bg1"/>
                            </a:buClr>
                          </a:pPr>
                          <a:r>
                            <a:rPr lang="fr-FR" sz="600" err="1">
                              <a:solidFill>
                                <a:schemeClr val="tx1"/>
                              </a:solidFill>
                              <a:cs typeface="Arial"/>
                            </a:rPr>
                            <a:t>Initialize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  <a:cs typeface="Arial"/>
                            </a:rPr>
                            <a:t> 5 global </a:t>
                          </a:r>
                          <a:r>
                            <a:rPr lang="fr-FR" sz="600" err="1">
                              <a:solidFill>
                                <a:schemeClr val="tx1"/>
                              </a:solidFill>
                              <a:cs typeface="Arial"/>
                            </a:rPr>
                            <a:t>counters</a:t>
                          </a:r>
                          <a:r>
                            <a:rPr lang="fr-FR" sz="600">
                              <a:solidFill>
                                <a:schemeClr val="tx1"/>
                              </a:solidFill>
                              <a:cs typeface="Arial"/>
                            </a:rPr>
                            <a:t> to 0</a:t>
                          </a:r>
                        </a:p>
                      </p:txBody>
                    </p:sp>
                    <p:cxnSp>
                      <p:nvCxnSpPr>
                        <p:cNvPr id="168" name="Straight Arrow Connector 167">
                          <a:extLst>
                            <a:ext uri="{FF2B5EF4-FFF2-40B4-BE49-F238E27FC236}">
                              <a16:creationId xmlns:a16="http://schemas.microsoft.com/office/drawing/2014/main" id="{6988CCEF-C7F9-D636-F857-331BBD8DA0E7}"/>
                            </a:ext>
                          </a:extLst>
                        </p:cNvPr>
                        <p:cNvCxnSpPr>
                          <a:cxnSpLocks/>
                          <a:stCxn id="165" idx="2"/>
                          <a:endCxn id="167" idx="0"/>
                        </p:cNvCxnSpPr>
                        <p:nvPr/>
                      </p:nvCxnSpPr>
                      <p:spPr>
                        <a:xfrm flipH="1">
                          <a:off x="5812194" y="1403738"/>
                          <a:ext cx="1" cy="235322"/>
                        </a:xfrm>
                        <a:prstGeom prst="straightConnector1">
                          <a:avLst/>
                        </a:prstGeom>
                        <a:ln>
                          <a:headEnd type="none" w="lg" len="lg"/>
                          <a:tailEnd type="triangle"/>
                        </a:ln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69" name="Straight Arrow Connector 168">
                          <a:extLst>
                            <a:ext uri="{FF2B5EF4-FFF2-40B4-BE49-F238E27FC236}">
                              <a16:creationId xmlns:a16="http://schemas.microsoft.com/office/drawing/2014/main" id="{D13998F2-FC16-B545-F23F-C28666C020D6}"/>
                            </a:ext>
                          </a:extLst>
                        </p:cNvPr>
                        <p:cNvCxnSpPr>
                          <a:cxnSpLocks/>
                          <a:stCxn id="167" idx="2"/>
                          <a:endCxn id="177" idx="0"/>
                        </p:cNvCxnSpPr>
                        <p:nvPr/>
                      </p:nvCxnSpPr>
                      <p:spPr>
                        <a:xfrm>
                          <a:off x="5812194" y="1925686"/>
                          <a:ext cx="0" cy="204783"/>
                        </a:xfrm>
                        <a:prstGeom prst="straightConnector1">
                          <a:avLst/>
                        </a:prstGeom>
                        <a:ln>
                          <a:headEnd type="none" w="lg" len="lg"/>
                          <a:tailEnd type="triangle"/>
                        </a:ln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70" name="Straight Arrow Connector 169">
                          <a:extLst>
                            <a:ext uri="{FF2B5EF4-FFF2-40B4-BE49-F238E27FC236}">
                              <a16:creationId xmlns:a16="http://schemas.microsoft.com/office/drawing/2014/main" id="{8C3148F2-E5AF-D0D3-8EE0-39A1D40EB2A8}"/>
                            </a:ext>
                          </a:extLst>
                        </p:cNvPr>
                        <p:cNvCxnSpPr>
                          <a:cxnSpLocks/>
                          <a:stCxn id="165" idx="3"/>
                          <a:endCxn id="144" idx="1"/>
                        </p:cNvCxnSpPr>
                        <p:nvPr/>
                      </p:nvCxnSpPr>
                      <p:spPr>
                        <a:xfrm flipV="1">
                          <a:off x="6455408" y="1183282"/>
                          <a:ext cx="606406" cy="87818"/>
                        </a:xfrm>
                        <a:prstGeom prst="straightConnector1">
                          <a:avLst/>
                        </a:prstGeom>
                        <a:ln>
                          <a:headEnd type="none" w="lg" len="lg"/>
                          <a:tailEnd type="triangle"/>
                        </a:ln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</p:cxnSp>
                    <p:cxnSp>
                      <p:nvCxnSpPr>
                        <p:cNvPr id="171" name="Straight Arrow Connector 170">
                          <a:extLst>
                            <a:ext uri="{FF2B5EF4-FFF2-40B4-BE49-F238E27FC236}">
                              <a16:creationId xmlns:a16="http://schemas.microsoft.com/office/drawing/2014/main" id="{E5AA11F6-71B0-03D1-9D3A-5A2A7A82CE95}"/>
                            </a:ext>
                          </a:extLst>
                        </p:cNvPr>
                        <p:cNvCxnSpPr>
                          <a:cxnSpLocks/>
                          <a:stCxn id="167" idx="3"/>
                          <a:endCxn id="145" idx="1"/>
                        </p:cNvCxnSpPr>
                        <p:nvPr/>
                      </p:nvCxnSpPr>
                      <p:spPr>
                        <a:xfrm flipV="1">
                          <a:off x="6762178" y="1774734"/>
                          <a:ext cx="342928" cy="7639"/>
                        </a:xfrm>
                        <a:prstGeom prst="straightConnector1">
                          <a:avLst/>
                        </a:prstGeom>
                        <a:ln>
                          <a:headEnd type="none" w="lg" len="lg"/>
                          <a:tailEnd type="triangle"/>
                        </a:ln>
                      </p:spPr>
                      <p:style>
                        <a:lnRef idx="2">
                          <a:schemeClr val="accent3">
                            <a:shade val="15000"/>
                          </a:schemeClr>
                        </a:lnRef>
                        <a:fillRef idx="1">
                          <a:schemeClr val="accent3"/>
                        </a:fillRef>
                        <a:effectRef idx="0">
                          <a:schemeClr val="accent3"/>
                        </a:effectRef>
                        <a:fontRef idx="minor">
                          <a:schemeClr val="lt1"/>
                        </a:fontRef>
                      </p:style>
                    </p:cxnSp>
                    <p:grpSp>
                      <p:nvGrpSpPr>
                        <p:cNvPr id="172" name="Group 171">
                          <a:extLst>
                            <a:ext uri="{FF2B5EF4-FFF2-40B4-BE49-F238E27FC236}">
                              <a16:creationId xmlns:a16="http://schemas.microsoft.com/office/drawing/2014/main" id="{5A5BE9EA-AF15-6C32-36F5-660C81C8D6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354220" y="3945886"/>
                          <a:ext cx="1066114" cy="1047247"/>
                          <a:chOff x="6881870" y="3924605"/>
                          <a:chExt cx="1066113" cy="1047249"/>
                        </a:xfrm>
                      </p:grpSpPr>
                      <p:grpSp>
                        <p:nvGrpSpPr>
                          <p:cNvPr id="173" name="Group 172">
                            <a:extLst>
                              <a:ext uri="{FF2B5EF4-FFF2-40B4-BE49-F238E27FC236}">
                                <a16:creationId xmlns:a16="http://schemas.microsoft.com/office/drawing/2014/main" id="{B3171B34-8EEF-1A52-26F3-76E366BB782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881870" y="3924605"/>
                            <a:ext cx="1066113" cy="601652"/>
                            <a:chOff x="8976925" y="2183321"/>
                            <a:chExt cx="1066113" cy="601652"/>
                          </a:xfrm>
                        </p:grpSpPr>
                        <p:sp>
                          <p:nvSpPr>
                            <p:cNvPr id="175" name="Rectangle 174">
                              <a:extLst>
                                <a:ext uri="{FF2B5EF4-FFF2-40B4-BE49-F238E27FC236}">
                                  <a16:creationId xmlns:a16="http://schemas.microsoft.com/office/drawing/2014/main" id="{CEDDE45E-7B2B-18EC-6C2C-3CB6443E5D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20229" y="2183321"/>
                              <a:ext cx="979507" cy="194691"/>
                            </a:xfrm>
                            <a:prstGeom prst="rect">
                              <a:avLst/>
                            </a:prstGeom>
                            <a:ln/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buClr>
                                  <a:schemeClr val="bg1"/>
                                </a:buClr>
                              </a:pPr>
                              <a:r>
                                <a:rPr lang="fr-FR" sz="600">
                                  <a:solidFill>
                                    <a:schemeClr val="tx1"/>
                                  </a:solidFill>
                                </a:rPr>
                                <a:t>Start Thread i</a:t>
                              </a:r>
                              <a:endParaRPr lang="en-US" sz="600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  <p:sp>
                          <p:nvSpPr>
                            <p:cNvPr id="176" name="Rectangle 175">
                              <a:extLst>
                                <a:ext uri="{FF2B5EF4-FFF2-40B4-BE49-F238E27FC236}">
                                  <a16:creationId xmlns:a16="http://schemas.microsoft.com/office/drawing/2014/main" id="{ABC89DC3-F15B-B1F0-C946-4AE49B9B67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76925" y="2589498"/>
                              <a:ext cx="1066113" cy="195475"/>
                            </a:xfrm>
                            <a:prstGeom prst="rect">
                              <a:avLst/>
                            </a:prstGeom>
                            <a:ln/>
                          </p:spPr>
                          <p:style>
                            <a:lnRef idx="2">
                              <a:schemeClr val="accent3">
                                <a:shade val="15000"/>
                              </a:schemeClr>
                            </a:lnRef>
                            <a:fillRef idx="1">
                              <a:schemeClr val="accent3"/>
                            </a:fillRef>
                            <a:effectRef idx="0">
                              <a:schemeClr val="accent3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91440" tIns="45720" rIns="91440" bIns="45720"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buClr>
                                  <a:schemeClr val="bg1"/>
                                </a:buClr>
                              </a:pPr>
                              <a:r>
                                <a:rPr lang="fr-FR" sz="600" err="1">
                                  <a:solidFill>
                                    <a:schemeClr val="tx1"/>
                                  </a:solidFill>
                                  <a:cs typeface="Arial"/>
                                </a:rPr>
                                <a:t>Resume</a:t>
                              </a:r>
                              <a:r>
                                <a:rPr lang="fr-FR" sz="600">
                                  <a:solidFill>
                                    <a:schemeClr val="tx1"/>
                                  </a:solidFill>
                                  <a:cs typeface="Arial"/>
                                </a:rPr>
                                <a:t> thread i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74" name="Rectangle 173">
                            <a:extLst>
                              <a:ext uri="{FF2B5EF4-FFF2-40B4-BE49-F238E27FC236}">
                                <a16:creationId xmlns:a16="http://schemas.microsoft.com/office/drawing/2014/main" id="{EFF9AB83-1B13-267A-FAC2-ED1C74994A0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917585" y="4777163"/>
                            <a:ext cx="979507" cy="194691"/>
                          </a:xfrm>
                          <a:prstGeom prst="rect">
                            <a:avLst/>
                          </a:prstGeom>
                          <a:ln/>
                        </p:spPr>
                        <p:style>
                          <a:lnRef idx="2">
                            <a:schemeClr val="accent3">
                              <a:shade val="15000"/>
                            </a:schemeClr>
                          </a:lnRef>
                          <a:fillRef idx="1">
                            <a:schemeClr val="accent3"/>
                          </a:fillRef>
                          <a:effectRef idx="0">
                            <a:schemeClr val="accent3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lIns="91440" tIns="45720" rIns="91440" bIns="45720" rtlCol="0" anchor="ctr"/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buClr>
                                <a:schemeClr val="bg1"/>
                              </a:buClr>
                            </a:pPr>
                            <a:endParaRPr lang="fr-FR" sz="600">
                              <a:solidFill>
                                <a:schemeClr val="tx1"/>
                              </a:solidFill>
                            </a:endParaRPr>
                          </a:p>
                          <a:p>
                            <a:pPr algn="ctr">
                              <a:buClr>
                                <a:schemeClr val="bg1"/>
                              </a:buClr>
                            </a:pPr>
                            <a:r>
                              <a:rPr lang="fr-FR" sz="600" err="1">
                                <a:solidFill>
                                  <a:schemeClr val="tx1"/>
                                </a:solidFill>
                              </a:rPr>
                              <a:t>Increment</a:t>
                            </a:r>
                            <a:r>
                              <a:rPr lang="fr-FR" sz="600">
                                <a:solidFill>
                                  <a:schemeClr val="tx1"/>
                                </a:solidFill>
                              </a:rPr>
                              <a:t> Ci</a:t>
                            </a:r>
                          </a:p>
                          <a:p>
                            <a:pPr algn="ctr">
                              <a:buClr>
                                <a:schemeClr val="bg1"/>
                              </a:buClr>
                            </a:pPr>
                            <a:endParaRPr lang="fr-FR" sz="600">
                              <a:solidFill>
                                <a:schemeClr val="tx1"/>
                              </a:solidFill>
                              <a:cs typeface="Arial"/>
                            </a:endParaRPr>
                          </a:p>
                        </p:txBody>
                      </p:sp>
                    </p:grpSp>
                  </p:grpSp>
                </p:grpSp>
                <p:cxnSp>
                  <p:nvCxnSpPr>
                    <p:cNvPr id="161" name="Connector: Elbow 160">
                      <a:extLst>
                        <a:ext uri="{FF2B5EF4-FFF2-40B4-BE49-F238E27FC236}">
                          <a16:creationId xmlns:a16="http://schemas.microsoft.com/office/drawing/2014/main" id="{F23FF526-A931-2594-D423-0F35D5DB0536}"/>
                        </a:ext>
                      </a:extLst>
                    </p:cNvPr>
                    <p:cNvCxnSpPr>
                      <a:cxnSpLocks/>
                      <a:stCxn id="187" idx="2"/>
                      <a:endCxn id="190" idx="1"/>
                    </p:cNvCxnSpPr>
                    <p:nvPr/>
                  </p:nvCxnSpPr>
                  <p:spPr>
                    <a:xfrm rot="5400000" flipH="1">
                      <a:off x="8694473" y="3212119"/>
                      <a:ext cx="297776" cy="374130"/>
                    </a:xfrm>
                    <a:prstGeom prst="bentConnector4">
                      <a:avLst>
                        <a:gd name="adj1" fmla="val -76769"/>
                        <a:gd name="adj2" fmla="val 151569"/>
                      </a:avLst>
                    </a:prstGeom>
                    <a:ln w="22225">
                      <a:headEnd type="none" w="lg" len="lg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369E301B-6308-9690-118C-25D5E0F662A9}"/>
                      </a:ext>
                    </a:extLst>
                  </p:cNvPr>
                  <p:cNvSpPr/>
                  <p:nvPr/>
                </p:nvSpPr>
                <p:spPr>
                  <a:xfrm>
                    <a:off x="6264420" y="2048821"/>
                    <a:ext cx="507257" cy="183850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buClr>
                        <a:schemeClr val="bg1"/>
                      </a:buClr>
                    </a:pPr>
                    <a:r>
                      <a:rPr lang="fr-FR" sz="600">
                        <a:solidFill>
                          <a:schemeClr val="tx1"/>
                        </a:solidFill>
                      </a:rPr>
                      <a:t>Start</a:t>
                    </a:r>
                    <a:endParaRPr lang="en-US" sz="600"/>
                  </a:p>
                </p:txBody>
              </p:sp>
            </p:grp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3F78F117-4350-7EEF-F62B-77F8A2DC0239}"/>
                    </a:ext>
                  </a:extLst>
                </p:cNvPr>
                <p:cNvSpPr/>
                <p:nvPr/>
              </p:nvSpPr>
              <p:spPr>
                <a:xfrm>
                  <a:off x="5657511" y="4769997"/>
                  <a:ext cx="748261" cy="109927"/>
                </a:xfrm>
                <a:prstGeom prst="rect">
                  <a:avLst/>
                </a:prstGeom>
                <a:ln/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buClr>
                      <a:schemeClr val="bg1"/>
                    </a:buClr>
                  </a:pPr>
                  <a:r>
                    <a:rPr lang="fr-FR" sz="600">
                      <a:solidFill>
                        <a:schemeClr val="tx1"/>
                      </a:solidFill>
                    </a:rPr>
                    <a:t>Start Thread i+1</a:t>
                  </a:r>
                  <a:endParaRPr lang="en-US" sz="6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06DF667D-FEC7-282B-42EF-F83D1DB16799}"/>
                    </a:ext>
                  </a:extLst>
                </p:cNvPr>
                <p:cNvSpPr/>
                <p:nvPr/>
              </p:nvSpPr>
              <p:spPr>
                <a:xfrm>
                  <a:off x="5609192" y="5008841"/>
                  <a:ext cx="844901" cy="110370"/>
                </a:xfrm>
                <a:prstGeom prst="rect">
                  <a:avLst/>
                </a:prstGeom>
                <a:ln/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buClr>
                      <a:schemeClr val="bg1"/>
                    </a:buClr>
                  </a:pPr>
                  <a:r>
                    <a:rPr lang="fr-FR" sz="600" err="1">
                      <a:solidFill>
                        <a:schemeClr val="tx1"/>
                      </a:solidFill>
                      <a:cs typeface="Arial"/>
                    </a:rPr>
                    <a:t>Resume</a:t>
                  </a:r>
                  <a:r>
                    <a:rPr lang="fr-FR" sz="600">
                      <a:solidFill>
                        <a:schemeClr val="tx1"/>
                      </a:solidFill>
                      <a:cs typeface="Arial"/>
                    </a:rPr>
                    <a:t> thread i+1</a:t>
                  </a:r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933C4757-8E93-2B17-382A-0B0610142D69}"/>
                    </a:ext>
                  </a:extLst>
                </p:cNvPr>
                <p:cNvSpPr/>
                <p:nvPr/>
              </p:nvSpPr>
              <p:spPr>
                <a:xfrm>
                  <a:off x="5657511" y="5270672"/>
                  <a:ext cx="748261" cy="109927"/>
                </a:xfrm>
                <a:prstGeom prst="rect">
                  <a:avLst/>
                </a:prstGeom>
                <a:ln/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buClr>
                      <a:schemeClr val="bg1"/>
                    </a:buClr>
                  </a:pPr>
                  <a:endParaRPr lang="fr-FR" sz="600">
                    <a:solidFill>
                      <a:schemeClr val="tx1"/>
                    </a:solidFill>
                  </a:endParaRPr>
                </a:p>
                <a:p>
                  <a:pPr algn="ctr">
                    <a:buClr>
                      <a:schemeClr val="bg1"/>
                    </a:buClr>
                  </a:pPr>
                  <a:r>
                    <a:rPr lang="fr-FR" sz="600" err="1">
                      <a:solidFill>
                        <a:schemeClr val="tx1"/>
                      </a:solidFill>
                    </a:rPr>
                    <a:t>Increment</a:t>
                  </a:r>
                  <a:r>
                    <a:rPr lang="fr-FR" sz="600">
                      <a:solidFill>
                        <a:schemeClr val="tx1"/>
                      </a:solidFill>
                    </a:rPr>
                    <a:t> Ci+1</a:t>
                  </a:r>
                </a:p>
                <a:p>
                  <a:pPr algn="ctr">
                    <a:buClr>
                      <a:schemeClr val="bg1"/>
                    </a:buClr>
                  </a:pPr>
                  <a:endParaRPr lang="fr-FR" sz="600">
                    <a:solidFill>
                      <a:schemeClr val="tx1"/>
                    </a:solidFill>
                    <a:cs typeface="Arial"/>
                  </a:endParaRPr>
                </a:p>
              </p:txBody>
            </p:sp>
            <p:cxnSp>
              <p:nvCxnSpPr>
                <p:cNvPr id="155" name="Straight Arrow Connector 154">
                  <a:extLst>
                    <a:ext uri="{FF2B5EF4-FFF2-40B4-BE49-F238E27FC236}">
                      <a16:creationId xmlns:a16="http://schemas.microsoft.com/office/drawing/2014/main" id="{4D2A144C-6994-8884-3615-75591D4F22B7}"/>
                    </a:ext>
                  </a:extLst>
                </p:cNvPr>
                <p:cNvCxnSpPr>
                  <a:cxnSpLocks/>
                  <a:stCxn id="152" idx="2"/>
                  <a:endCxn id="153" idx="0"/>
                </p:cNvCxnSpPr>
                <p:nvPr/>
              </p:nvCxnSpPr>
              <p:spPr>
                <a:xfrm>
                  <a:off x="6031642" y="4879924"/>
                  <a:ext cx="1" cy="128917"/>
                </a:xfrm>
                <a:prstGeom prst="straightConnector1">
                  <a:avLst/>
                </a:prstGeom>
                <a:ln>
                  <a:headEnd type="none" w="lg" len="lg"/>
                  <a:tailEnd type="triangle"/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</p:cxnSp>
            <p:cxnSp>
              <p:nvCxnSpPr>
                <p:cNvPr id="156" name="Connector: Elbow 155">
                  <a:extLst>
                    <a:ext uri="{FF2B5EF4-FFF2-40B4-BE49-F238E27FC236}">
                      <a16:creationId xmlns:a16="http://schemas.microsoft.com/office/drawing/2014/main" id="{A2C8B051-A5DC-8A5D-AE67-DB8FAD09D5AD}"/>
                    </a:ext>
                  </a:extLst>
                </p:cNvPr>
                <p:cNvCxnSpPr>
                  <a:cxnSpLocks/>
                  <a:stCxn id="174" idx="2"/>
                  <a:endCxn id="176" idx="1"/>
                </p:cNvCxnSpPr>
                <p:nvPr/>
              </p:nvCxnSpPr>
              <p:spPr>
                <a:xfrm rot="5400000" flipH="1">
                  <a:off x="4261849" y="4987230"/>
                  <a:ext cx="306779" cy="368803"/>
                </a:xfrm>
                <a:prstGeom prst="bentConnector4">
                  <a:avLst>
                    <a:gd name="adj1" fmla="val -74516"/>
                    <a:gd name="adj2" fmla="val 161984"/>
                  </a:avLst>
                </a:prstGeom>
                <a:ln w="22225">
                  <a:headEnd type="none"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11ADA06-5325-2A4A-3822-59783819F4CC}"/>
                  </a:ext>
                </a:extLst>
              </p:cNvPr>
              <p:cNvSpPr txBox="1"/>
              <p:nvPr/>
            </p:nvSpPr>
            <p:spPr>
              <a:xfrm>
                <a:off x="6281405" y="4879496"/>
                <a:ext cx="748260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500">
                    <a:solidFill>
                      <a:schemeClr val="accent2"/>
                    </a:solidFill>
                  </a:rPr>
                  <a:t>To Next thread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B3D16FC-DC0F-C86D-0F22-F80EB4D16D3F}"/>
                  </a:ext>
                </a:extLst>
              </p:cNvPr>
              <p:cNvSpPr txBox="1"/>
              <p:nvPr/>
            </p:nvSpPr>
            <p:spPr>
              <a:xfrm>
                <a:off x="6252710" y="5142175"/>
                <a:ext cx="77695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>
                    <a:solidFill>
                      <a:schemeClr val="accent2"/>
                    </a:solidFill>
                  </a:rPr>
                  <a:t>From Next thread</a:t>
                </a:r>
              </a:p>
            </p:txBody>
          </p:sp>
        </p:grpSp>
        <p:sp>
          <p:nvSpPr>
            <p:cNvPr id="144" name="TextBox 25">
              <a:extLst>
                <a:ext uri="{FF2B5EF4-FFF2-40B4-BE49-F238E27FC236}">
                  <a16:creationId xmlns:a16="http://schemas.microsoft.com/office/drawing/2014/main" id="{A963A781-3D13-F6D0-8AEA-31110CB561F2}"/>
                </a:ext>
              </a:extLst>
            </p:cNvPr>
            <p:cNvSpPr txBox="1"/>
            <p:nvPr/>
          </p:nvSpPr>
          <p:spPr>
            <a:xfrm>
              <a:off x="6123696" y="3465363"/>
              <a:ext cx="1615604" cy="18466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/>
                <a:t>Clock frequency: 160 MHz</a:t>
              </a:r>
              <a:endParaRPr lang="fr-FR" sz="600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E4B0B5D3-363A-1A50-50BB-181BECC0E480}"/>
                </a:ext>
              </a:extLst>
            </p:cNvPr>
            <p:cNvSpPr txBox="1"/>
            <p:nvPr/>
          </p:nvSpPr>
          <p:spPr>
            <a:xfrm>
              <a:off x="6154081" y="3799312"/>
              <a:ext cx="554655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rgbClr val="03234B"/>
                  </a:solidFill>
                </a:rPr>
                <a:t>c0 to c4</a:t>
              </a:r>
              <a:endParaRPr lang="en-US" sz="600">
                <a:solidFill>
                  <a:srgbClr val="03234B"/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81764CD3-DFE6-0BA3-0975-D3347F49D40B}"/>
                </a:ext>
              </a:extLst>
            </p:cNvPr>
            <p:cNvSpPr txBox="1"/>
            <p:nvPr/>
          </p:nvSpPr>
          <p:spPr>
            <a:xfrm>
              <a:off x="6154081" y="4084661"/>
              <a:ext cx="1632590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fr-FR" sz="600" err="1">
                  <a:solidFill>
                    <a:srgbClr val="03234B"/>
                  </a:solidFill>
                </a:rPr>
                <a:t>ascending</a:t>
              </a:r>
              <a:r>
                <a:rPr lang="fr-FR" sz="600">
                  <a:solidFill>
                    <a:srgbClr val="03234B"/>
                  </a:solidFill>
                </a:rPr>
                <a:t> </a:t>
              </a:r>
              <a:r>
                <a:rPr lang="fr-FR" sz="600" err="1">
                  <a:solidFill>
                    <a:srgbClr val="03234B"/>
                  </a:solidFill>
                </a:rPr>
                <a:t>priorities</a:t>
              </a:r>
              <a:r>
                <a:rPr lang="fr-FR" sz="600">
                  <a:solidFill>
                    <a:srgbClr val="03234B"/>
                  </a:solidFill>
                </a:rPr>
                <a:t> ,</a:t>
              </a:r>
              <a:r>
                <a:rPr lang="fr-FR" sz="600" err="1">
                  <a:solidFill>
                    <a:srgbClr val="03234B"/>
                  </a:solidFill>
                </a:rPr>
                <a:t>from</a:t>
              </a:r>
              <a:r>
                <a:rPr lang="fr-FR" sz="600">
                  <a:solidFill>
                    <a:srgbClr val="03234B"/>
                  </a:solidFill>
                </a:rPr>
                <a:t> </a:t>
              </a:r>
              <a:r>
                <a:rPr lang="fr-FR" sz="600" err="1">
                  <a:solidFill>
                    <a:srgbClr val="03234B"/>
                  </a:solidFill>
                </a:rPr>
                <a:t>lowest</a:t>
              </a:r>
              <a:r>
                <a:rPr lang="fr-FR" sz="600">
                  <a:solidFill>
                    <a:srgbClr val="03234B"/>
                  </a:solidFill>
                </a:rPr>
                <a:t> to </a:t>
              </a:r>
              <a:r>
                <a:rPr lang="fr-FR" sz="600" err="1">
                  <a:solidFill>
                    <a:srgbClr val="03234B"/>
                  </a:solidFill>
                </a:rPr>
                <a:t>highest</a:t>
              </a:r>
              <a:endParaRPr kumimoji="0" lang="en-US" sz="600" i="0" u="none" strike="noStrike" kern="1200" cap="none" spc="0" normalizeH="0" baseline="0" noProof="0">
                <a:ln>
                  <a:noFill/>
                </a:ln>
                <a:solidFill>
                  <a:srgbClr val="03234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34F537E1-A2F0-6328-7DCB-7A3F9F23A005}"/>
                </a:ext>
              </a:extLst>
            </p:cNvPr>
            <p:cNvSpPr txBox="1"/>
            <p:nvPr/>
          </p:nvSpPr>
          <p:spPr>
            <a:xfrm>
              <a:off x="6136488" y="4587226"/>
              <a:ext cx="131426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fr-FR" sz="600">
                  <a:solidFill>
                    <a:srgbClr val="03234B"/>
                  </a:solidFill>
                </a:rPr>
                <a:t>Suspend Threads 1 </a:t>
              </a:r>
              <a:r>
                <a:rPr lang="fr-FR" sz="600" err="1">
                  <a:solidFill>
                    <a:srgbClr val="03234B"/>
                  </a:solidFill>
                </a:rPr>
                <a:t>through</a:t>
              </a:r>
              <a:r>
                <a:rPr lang="fr-FR" sz="600">
                  <a:solidFill>
                    <a:srgbClr val="03234B"/>
                  </a:solidFill>
                </a:rPr>
                <a:t> 4 ;start </a:t>
              </a:r>
              <a:r>
                <a:rPr lang="fr-FR" sz="600" err="1">
                  <a:solidFill>
                    <a:srgbClr val="03234B"/>
                  </a:solidFill>
                </a:rPr>
                <a:t>with</a:t>
              </a:r>
              <a:r>
                <a:rPr lang="fr-FR" sz="600">
                  <a:solidFill>
                    <a:srgbClr val="03234B"/>
                  </a:solidFill>
                </a:rPr>
                <a:t> Thread 0 active</a:t>
              </a:r>
              <a:endParaRPr lang="en-US" sz="600">
                <a:solidFill>
                  <a:srgbClr val="03234B"/>
                </a:solidFill>
              </a:endParaRPr>
            </a:p>
          </p:txBody>
        </p:sp>
      </p:grp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94D153EC-8772-ABDB-5F11-1AFA78A60D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63610" y="2772180"/>
            <a:ext cx="353802" cy="2303489"/>
          </a:xfrm>
          <a:prstGeom prst="bentConnector3">
            <a:avLst>
              <a:gd name="adj1" fmla="val 43269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BC29FC3A-CD5B-B04F-72E9-8A735CADDD62}"/>
              </a:ext>
            </a:extLst>
          </p:cNvPr>
          <p:cNvCxnSpPr>
            <a:cxnSpLocks/>
          </p:cNvCxnSpPr>
          <p:nvPr/>
        </p:nvCxnSpPr>
        <p:spPr>
          <a:xfrm rot="5400000">
            <a:off x="8809296" y="3577341"/>
            <a:ext cx="309789" cy="649154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: Elbow 192">
            <a:extLst>
              <a:ext uri="{FF2B5EF4-FFF2-40B4-BE49-F238E27FC236}">
                <a16:creationId xmlns:a16="http://schemas.microsoft.com/office/drawing/2014/main" id="{F674F297-42BD-46E7-1A00-C7B63EA903FD}"/>
              </a:ext>
            </a:extLst>
          </p:cNvPr>
          <p:cNvCxnSpPr>
            <a:cxnSpLocks/>
          </p:cNvCxnSpPr>
          <p:nvPr/>
        </p:nvCxnSpPr>
        <p:spPr>
          <a:xfrm flipV="1">
            <a:off x="9013741" y="4093091"/>
            <a:ext cx="1052548" cy="248244"/>
          </a:xfrm>
          <a:prstGeom prst="bentConnector4">
            <a:avLst>
              <a:gd name="adj1" fmla="val 32227"/>
              <a:gd name="adj2" fmla="val 146043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24022662-C84B-51AF-6DEC-BF7F077F54D9}"/>
              </a:ext>
            </a:extLst>
          </p:cNvPr>
          <p:cNvCxnSpPr>
            <a:cxnSpLocks/>
          </p:cNvCxnSpPr>
          <p:nvPr/>
        </p:nvCxnSpPr>
        <p:spPr>
          <a:xfrm>
            <a:off x="10488740" y="4387120"/>
            <a:ext cx="157149" cy="0"/>
          </a:xfrm>
          <a:prstGeom prst="straightConnector1">
            <a:avLst/>
          </a:prstGeom>
          <a:ln>
            <a:headEnd type="none" w="lg" len="lg"/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DBE84855-4DA1-E44E-4294-C8E8E90AB1A2}"/>
              </a:ext>
            </a:extLst>
          </p:cNvPr>
          <p:cNvCxnSpPr>
            <a:cxnSpLocks/>
          </p:cNvCxnSpPr>
          <p:nvPr/>
        </p:nvCxnSpPr>
        <p:spPr>
          <a:xfrm flipH="1">
            <a:off x="10440419" y="4645710"/>
            <a:ext cx="175085" cy="3020"/>
          </a:xfrm>
          <a:prstGeom prst="straightConnector1">
            <a:avLst/>
          </a:prstGeom>
          <a:ln>
            <a:headEnd type="none" w="lg" len="lg"/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96" name="Rectangle 195">
            <a:extLst>
              <a:ext uri="{FF2B5EF4-FFF2-40B4-BE49-F238E27FC236}">
                <a16:creationId xmlns:a16="http://schemas.microsoft.com/office/drawing/2014/main" id="{E8751CA8-8FC4-B55A-F7BB-23550CE36419}"/>
              </a:ext>
            </a:extLst>
          </p:cNvPr>
          <p:cNvSpPr/>
          <p:nvPr/>
        </p:nvSpPr>
        <p:spPr>
          <a:xfrm>
            <a:off x="9692158" y="4833038"/>
            <a:ext cx="748261" cy="109927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bg1"/>
              </a:buClr>
            </a:pPr>
            <a:endParaRPr lang="fr-FR" sz="600">
              <a:solidFill>
                <a:schemeClr val="tx1"/>
              </a:solidFill>
            </a:endParaRPr>
          </a:p>
          <a:p>
            <a:pPr algn="ctr">
              <a:buClr>
                <a:schemeClr val="bg1"/>
              </a:buClr>
            </a:pPr>
            <a:r>
              <a:rPr lang="fr-FR" sz="600">
                <a:solidFill>
                  <a:schemeClr val="tx1"/>
                </a:solidFill>
              </a:rPr>
              <a:t>Suspend Ci+1</a:t>
            </a:r>
          </a:p>
          <a:p>
            <a:pPr algn="ctr">
              <a:buClr>
                <a:schemeClr val="bg1"/>
              </a:buClr>
            </a:pPr>
            <a:endParaRPr lang="fr-FR" sz="600">
              <a:solidFill>
                <a:schemeClr val="tx1"/>
              </a:solidFill>
              <a:cs typeface="Arial"/>
            </a:endParaRP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B5CC7735-B027-910A-3172-88F6ED2A1CA9}"/>
              </a:ext>
            </a:extLst>
          </p:cNvPr>
          <p:cNvCxnSpPr>
            <a:cxnSpLocks/>
            <a:endCxn id="196" idx="0"/>
          </p:cNvCxnSpPr>
          <p:nvPr/>
        </p:nvCxnSpPr>
        <p:spPr>
          <a:xfrm>
            <a:off x="10066289" y="4703693"/>
            <a:ext cx="0" cy="129345"/>
          </a:xfrm>
          <a:prstGeom prst="straightConnector1">
            <a:avLst/>
          </a:prstGeom>
          <a:ln>
            <a:headEnd type="none" w="lg" len="lg"/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198" name="Connector: Elbow 197">
            <a:extLst>
              <a:ext uri="{FF2B5EF4-FFF2-40B4-BE49-F238E27FC236}">
                <a16:creationId xmlns:a16="http://schemas.microsoft.com/office/drawing/2014/main" id="{9C3ED12C-C5C0-2D89-9F2D-72B22AF020BE}"/>
              </a:ext>
            </a:extLst>
          </p:cNvPr>
          <p:cNvCxnSpPr>
            <a:cxnSpLocks/>
            <a:stCxn id="196" idx="1"/>
          </p:cNvCxnSpPr>
          <p:nvPr/>
        </p:nvCxnSpPr>
        <p:spPr>
          <a:xfrm rot="10800000">
            <a:off x="8978024" y="4593152"/>
            <a:ext cx="714135" cy="294851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4ADD9F4-2F6F-3741-FF75-7711D69E311F}"/>
              </a:ext>
            </a:extLst>
          </p:cNvPr>
          <p:cNvSpPr txBox="1"/>
          <p:nvPr/>
        </p:nvSpPr>
        <p:spPr>
          <a:xfrm>
            <a:off x="8468780" y="1639019"/>
            <a:ext cx="24163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1" err="1">
                <a:solidFill>
                  <a:schemeClr val="accent2"/>
                </a:solidFill>
              </a:rPr>
              <a:t>Preemptive</a:t>
            </a:r>
            <a:r>
              <a:rPr lang="fr-FR" sz="1000" b="1">
                <a:solidFill>
                  <a:schemeClr val="accent2"/>
                </a:solidFill>
              </a:rPr>
              <a:t> </a:t>
            </a:r>
            <a:r>
              <a:rPr lang="fr-FR" sz="1000" b="1" err="1">
                <a:solidFill>
                  <a:schemeClr val="accent2"/>
                </a:solidFill>
              </a:rPr>
              <a:t>Scheduling</a:t>
            </a:r>
            <a:r>
              <a:rPr lang="fr-FR" sz="1000" b="1">
                <a:solidFill>
                  <a:schemeClr val="accent2"/>
                </a:solidFill>
              </a:rPr>
              <a:t> </a:t>
            </a:r>
            <a:r>
              <a:rPr lang="fr-FR" sz="1000" b="1" err="1">
                <a:solidFill>
                  <a:schemeClr val="accent2"/>
                </a:solidFill>
              </a:rPr>
              <a:t>Flowchart</a:t>
            </a:r>
            <a:endParaRPr lang="en-US" sz="1000">
              <a:solidFill>
                <a:schemeClr val="accent2"/>
              </a:solidFill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BF7A2D76-94B5-47EA-6AC9-8372B026C607}"/>
              </a:ext>
            </a:extLst>
          </p:cNvPr>
          <p:cNvSpPr/>
          <p:nvPr/>
        </p:nvSpPr>
        <p:spPr>
          <a:xfrm>
            <a:off x="6862038" y="3964430"/>
            <a:ext cx="988662" cy="131323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bg1"/>
              </a:buClr>
            </a:pPr>
            <a:r>
              <a:rPr lang="fr-FR" sz="600">
                <a:solidFill>
                  <a:schemeClr val="tx1"/>
                </a:solidFill>
              </a:rPr>
              <a:t>Start </a:t>
            </a:r>
            <a:r>
              <a:rPr lang="fr-FR" sz="600" err="1">
                <a:solidFill>
                  <a:schemeClr val="tx1"/>
                </a:solidFill>
              </a:rPr>
              <a:t>Reporting</a:t>
            </a:r>
            <a:r>
              <a:rPr lang="fr-FR" sz="600">
                <a:solidFill>
                  <a:schemeClr val="tx1"/>
                </a:solidFill>
              </a:rPr>
              <a:t> Thread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E6980B0-B62A-899E-46F2-1CF92484D239}"/>
              </a:ext>
            </a:extLst>
          </p:cNvPr>
          <p:cNvSpPr/>
          <p:nvPr/>
        </p:nvSpPr>
        <p:spPr>
          <a:xfrm>
            <a:off x="6862037" y="4224669"/>
            <a:ext cx="990452" cy="109928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bg1"/>
              </a:buClr>
            </a:pPr>
            <a:r>
              <a:rPr lang="fr-FR" sz="600" err="1">
                <a:solidFill>
                  <a:schemeClr val="tx1"/>
                </a:solidFill>
              </a:rPr>
              <a:t>Sleep</a:t>
            </a:r>
            <a:r>
              <a:rPr lang="fr-FR" sz="600">
                <a:solidFill>
                  <a:schemeClr val="tx1"/>
                </a:solidFill>
              </a:rPr>
              <a:t> for 30 s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F505EDCE-8823-EEAC-8956-B8ECE6118B67}"/>
              </a:ext>
            </a:extLst>
          </p:cNvPr>
          <p:cNvSpPr/>
          <p:nvPr/>
        </p:nvSpPr>
        <p:spPr>
          <a:xfrm>
            <a:off x="6862036" y="4431611"/>
            <a:ext cx="988662" cy="109928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bg1"/>
              </a:buClr>
            </a:pPr>
            <a:endParaRPr lang="fr-FR" sz="1400">
              <a:solidFill>
                <a:schemeClr val="tx1"/>
              </a:solidFill>
            </a:endParaRPr>
          </a:p>
          <a:p>
            <a:pPr algn="ctr">
              <a:buClr>
                <a:schemeClr val="bg1"/>
              </a:buClr>
            </a:pPr>
            <a:r>
              <a:rPr lang="fr-FR" sz="600" err="1">
                <a:solidFill>
                  <a:schemeClr val="tx1"/>
                </a:solidFill>
              </a:rPr>
              <a:t>Print</a:t>
            </a:r>
            <a:r>
              <a:rPr lang="fr-FR" sz="600">
                <a:solidFill>
                  <a:schemeClr val="tx1"/>
                </a:solidFill>
              </a:rPr>
              <a:t> the 5 </a:t>
            </a:r>
            <a:r>
              <a:rPr lang="fr-FR" sz="600" err="1">
                <a:solidFill>
                  <a:schemeClr val="tx1"/>
                </a:solidFill>
              </a:rPr>
              <a:t>counters</a:t>
            </a:r>
            <a:endParaRPr lang="fr-FR" sz="600">
              <a:solidFill>
                <a:schemeClr val="tx1"/>
              </a:solidFill>
            </a:endParaRPr>
          </a:p>
          <a:p>
            <a:pPr algn="ctr">
              <a:buClr>
                <a:schemeClr val="bg1"/>
              </a:buClr>
            </a:pPr>
            <a:endParaRPr lang="fr-FR" sz="1400">
              <a:solidFill>
                <a:schemeClr val="tx1"/>
              </a:solidFill>
              <a:cs typeface="Arial"/>
            </a:endParaRP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8A21A8D-2F42-BF9E-465E-5A321FB0AE12}"/>
              </a:ext>
            </a:extLst>
          </p:cNvPr>
          <p:cNvCxnSpPr>
            <a:cxnSpLocks/>
            <a:stCxn id="200" idx="2"/>
            <a:endCxn id="201" idx="0"/>
          </p:cNvCxnSpPr>
          <p:nvPr/>
        </p:nvCxnSpPr>
        <p:spPr>
          <a:xfrm>
            <a:off x="7356369" y="4095753"/>
            <a:ext cx="894" cy="128916"/>
          </a:xfrm>
          <a:prstGeom prst="straightConnector1">
            <a:avLst/>
          </a:prstGeom>
          <a:ln>
            <a:headEnd type="none" w="lg" len="lg"/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79F39F67-FF16-8355-D9FF-48567A21E8C4}"/>
              </a:ext>
            </a:extLst>
          </p:cNvPr>
          <p:cNvCxnSpPr>
            <a:cxnSpLocks/>
            <a:endCxn id="202" idx="0"/>
          </p:cNvCxnSpPr>
          <p:nvPr/>
        </p:nvCxnSpPr>
        <p:spPr>
          <a:xfrm flipH="1">
            <a:off x="7356367" y="4287426"/>
            <a:ext cx="2" cy="144185"/>
          </a:xfrm>
          <a:prstGeom prst="straightConnector1">
            <a:avLst/>
          </a:prstGeom>
          <a:ln>
            <a:headEnd type="none" w="lg" len="lg"/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0B198FF7-0318-1315-6CC1-EFA9B59A8661}"/>
              </a:ext>
            </a:extLst>
          </p:cNvPr>
          <p:cNvCxnSpPr>
            <a:cxnSpLocks/>
            <a:stCxn id="175" idx="2"/>
            <a:endCxn id="176" idx="0"/>
          </p:cNvCxnSpPr>
          <p:nvPr/>
        </p:nvCxnSpPr>
        <p:spPr>
          <a:xfrm flipH="1">
            <a:off x="8645097" y="4166735"/>
            <a:ext cx="1" cy="119409"/>
          </a:xfrm>
          <a:prstGeom prst="straightConnector1">
            <a:avLst/>
          </a:prstGeom>
          <a:ln>
            <a:headEnd type="none" w="lg" len="lg"/>
            <a:tailEnd type="triangle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206" name="Slide Number Placeholder 5">
            <a:extLst>
              <a:ext uri="{FF2B5EF4-FFF2-40B4-BE49-F238E27FC236}">
                <a16:creationId xmlns:a16="http://schemas.microsoft.com/office/drawing/2014/main" id="{8CF91919-0B5F-2786-E22B-374414D9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/>
          <a:lstStyle/>
          <a:p>
            <a:fld id="{40A7B169-58CE-4E65-B1F9-ACF9E46440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07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3B5F-A08A-3D2D-6E4F-F48AEA11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63E89F-981C-91F8-0132-FE280D49C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IAR EWARM Map File Analyzer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5A7E43-254E-5E20-B54A-3E359D63A2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89" t="33055" r="189" b="42857"/>
          <a:stretch>
            <a:fillRect/>
          </a:stretch>
        </p:blipFill>
        <p:spPr>
          <a:xfrm>
            <a:off x="1431985" y="2868281"/>
            <a:ext cx="10072316" cy="34376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A6A22B-2BB9-2197-7D4D-636477D5E337}"/>
              </a:ext>
            </a:extLst>
          </p:cNvPr>
          <p:cNvSpPr txBox="1"/>
          <p:nvPr/>
        </p:nvSpPr>
        <p:spPr>
          <a:xfrm>
            <a:off x="1651958" y="2201577"/>
            <a:ext cx="6288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Open_Sans"/>
              </a:rPr>
              <a:t>From raw linker map files to benchmark-ready memory reports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953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CF27C-FE25-A1C8-3322-62241D7A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5">
            <a:extLst>
              <a:ext uri="{FF2B5EF4-FFF2-40B4-BE49-F238E27FC236}">
                <a16:creationId xmlns:a16="http://schemas.microsoft.com/office/drawing/2014/main" id="{4DBC8530-705F-3134-F2AE-C7457ADCBBFC}"/>
              </a:ext>
            </a:extLst>
          </p:cNvPr>
          <p:cNvGrpSpPr/>
          <p:nvPr/>
        </p:nvGrpSpPr>
        <p:grpSpPr>
          <a:xfrm>
            <a:off x="4055580" y="4934981"/>
            <a:ext cx="7185074" cy="1395988"/>
            <a:chOff x="0" y="-19050"/>
            <a:chExt cx="1207699" cy="704147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2B0136B-6A72-7483-EC59-D85447824AA5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A70972FE-B625-00EA-86C9-81D6A43380C9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" name="Group 5">
            <a:extLst>
              <a:ext uri="{FF2B5EF4-FFF2-40B4-BE49-F238E27FC236}">
                <a16:creationId xmlns:a16="http://schemas.microsoft.com/office/drawing/2014/main" id="{797DF7B3-5187-4A28-57B7-F5D1A04AA612}"/>
              </a:ext>
            </a:extLst>
          </p:cNvPr>
          <p:cNvGrpSpPr/>
          <p:nvPr/>
        </p:nvGrpSpPr>
        <p:grpSpPr>
          <a:xfrm>
            <a:off x="5865668" y="1398637"/>
            <a:ext cx="5157853" cy="2369799"/>
            <a:chOff x="0" y="-19050"/>
            <a:chExt cx="1207699" cy="704147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3212754-981C-4111-FBB7-23AE0A1CC239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2DB3AFEF-549B-0787-674A-CBCD12E41A29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CC8A4FD-C30A-0899-8FB5-BA2D41F774E8}"/>
              </a:ext>
            </a:extLst>
          </p:cNvPr>
          <p:cNvGrpSpPr/>
          <p:nvPr/>
        </p:nvGrpSpPr>
        <p:grpSpPr>
          <a:xfrm>
            <a:off x="-63902" y="1398637"/>
            <a:ext cx="5157853" cy="2369799"/>
            <a:chOff x="0" y="-19050"/>
            <a:chExt cx="1207699" cy="70414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D32F434-7C49-8165-CF82-A7A2E50CABF8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7A31970-31D0-B234-B5EB-CDE9653397F3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0" name="Title 2">
            <a:extLst>
              <a:ext uri="{FF2B5EF4-FFF2-40B4-BE49-F238E27FC236}">
                <a16:creationId xmlns:a16="http://schemas.microsoft.com/office/drawing/2014/main" id="{41953E17-1F74-C143-B342-A981CB93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b="1" dirty="0"/>
              <a:t>MCU workflow studio</a:t>
            </a:r>
            <a:br>
              <a:rPr lang="en-US" b="1" dirty="0"/>
            </a:br>
            <a:r>
              <a:rPr lang="en-US" sz="2400" b="1" dirty="0">
                <a:solidFill>
                  <a:schemeClr val="accent2"/>
                </a:solidFill>
              </a:rPr>
              <a:t>The problem we solve</a:t>
            </a:r>
          </a:p>
        </p:txBody>
      </p:sp>
      <p:pic>
        <p:nvPicPr>
          <p:cNvPr id="14" name="Graphic 13" descr="Puzzle pieces outline">
            <a:extLst>
              <a:ext uri="{FF2B5EF4-FFF2-40B4-BE49-F238E27FC236}">
                <a16:creationId xmlns:a16="http://schemas.microsoft.com/office/drawing/2014/main" id="{F0A3A967-F841-BB45-9945-8490C5A55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54" y="1477452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F801462-9454-6670-FD06-63E29A1DB7EC}"/>
              </a:ext>
            </a:extLst>
          </p:cNvPr>
          <p:cNvSpPr txBox="1"/>
          <p:nvPr/>
        </p:nvSpPr>
        <p:spPr>
          <a:xfrm>
            <a:off x="1091295" y="1829602"/>
            <a:ext cx="1966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_Sans"/>
              </a:rPr>
              <a:t>Current challenge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2D62E3-A26F-B6B0-A27D-CC91BD0BF108}"/>
              </a:ext>
            </a:extLst>
          </p:cNvPr>
          <p:cNvSpPr txBox="1"/>
          <p:nvPr/>
        </p:nvSpPr>
        <p:spPr>
          <a:xfrm>
            <a:off x="300037" y="2471468"/>
            <a:ext cx="49233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Open_Sans"/>
              </a:rPr>
              <a:t>IAR map files are rich in data but hard to exploit quickly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Open_Sans"/>
              </a:rPr>
              <a:t>Manual analysis is slow and error-prone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Open_Sans"/>
              </a:rPr>
              <a:t>Technical benchmark evidence is not always presentation-ready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Open_Sans"/>
              </a:rPr>
              <a:t>Comparing STM32 vs competitors takes too much engineering effort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8F7813-D4B9-5DCF-145F-FE485D07D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71" y="1762124"/>
            <a:ext cx="629728" cy="6297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F90F39D-B403-5B24-4942-0DCEA788D935}"/>
              </a:ext>
            </a:extLst>
          </p:cNvPr>
          <p:cNvSpPr txBox="1"/>
          <p:nvPr/>
        </p:nvSpPr>
        <p:spPr>
          <a:xfrm>
            <a:off x="7030582" y="1847657"/>
            <a:ext cx="884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_Sans"/>
              </a:rPr>
              <a:t>Impact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99E014-D9BC-5E57-84F6-333F3E02C274}"/>
              </a:ext>
            </a:extLst>
          </p:cNvPr>
          <p:cNvSpPr txBox="1"/>
          <p:nvPr/>
        </p:nvSpPr>
        <p:spPr>
          <a:xfrm>
            <a:off x="6213949" y="2471468"/>
            <a:ext cx="44612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Open_Sans"/>
              </a:rPr>
              <a:t>Delays benchmark creation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Open_Sans"/>
              </a:rPr>
              <a:t>Inconsistent reporting across teams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Open_Sans"/>
              </a:rPr>
              <a:t>Harder to build convincing memory-footprint narratives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44209EF-3BBC-1D84-6319-2A4EFE912C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487" y="5227607"/>
            <a:ext cx="786442" cy="786442"/>
          </a:xfrm>
          <a:prstGeom prst="rect">
            <a:avLst/>
          </a:prstGeom>
        </p:spPr>
      </p:pic>
      <p:sp>
        <p:nvSpPr>
          <p:cNvPr id="27" name="Right Brace 26">
            <a:extLst>
              <a:ext uri="{FF2B5EF4-FFF2-40B4-BE49-F238E27FC236}">
                <a16:creationId xmlns:a16="http://schemas.microsoft.com/office/drawing/2014/main" id="{22430DB8-9E24-1A38-9B06-644EAE7A0E9A}"/>
              </a:ext>
            </a:extLst>
          </p:cNvPr>
          <p:cNvSpPr/>
          <p:nvPr/>
        </p:nvSpPr>
        <p:spPr>
          <a:xfrm>
            <a:off x="5217094" y="2336094"/>
            <a:ext cx="129396" cy="1304925"/>
          </a:xfrm>
          <a:prstGeom prst="righ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B35279F5-6C3F-E150-425F-49852F56FA81}"/>
              </a:ext>
            </a:extLst>
          </p:cNvPr>
          <p:cNvSpPr/>
          <p:nvPr/>
        </p:nvSpPr>
        <p:spPr>
          <a:xfrm>
            <a:off x="5602910" y="2840800"/>
            <a:ext cx="388189" cy="19569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4D0D39-6303-0209-9D84-CC818769C08F}"/>
              </a:ext>
            </a:extLst>
          </p:cNvPr>
          <p:cNvSpPr txBox="1"/>
          <p:nvPr/>
        </p:nvSpPr>
        <p:spPr>
          <a:xfrm>
            <a:off x="5336929" y="5251496"/>
            <a:ext cx="149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_Sans"/>
              </a:rPr>
              <a:t>Key message: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7551AB-E864-8323-3781-E57971E079C3}"/>
              </a:ext>
            </a:extLst>
          </p:cNvPr>
          <p:cNvSpPr txBox="1"/>
          <p:nvPr/>
        </p:nvSpPr>
        <p:spPr>
          <a:xfrm>
            <a:off x="5398248" y="5687110"/>
            <a:ext cx="63404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  <a:latin typeface="Open_Sans"/>
              </a:rPr>
              <a:t>transforming complex linker output into clear, reusable benchmark evidence.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3865F-F286-AFFA-CF2A-78DE14301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1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ED794-5710-D78D-3501-F47D1A9C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D8D4752-713B-5DC5-50F6-89A191B419F6}"/>
              </a:ext>
            </a:extLst>
          </p:cNvPr>
          <p:cNvGrpSpPr/>
          <p:nvPr/>
        </p:nvGrpSpPr>
        <p:grpSpPr>
          <a:xfrm>
            <a:off x="2245189" y="1073155"/>
            <a:ext cx="6095247" cy="4699572"/>
            <a:chOff x="0" y="-19050"/>
            <a:chExt cx="1207699" cy="704147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B3B3DF4-3CC8-0C81-073E-015A580D42F1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B7D64D-97BD-C256-359D-A1CC20430E9E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0" name="Title 2">
            <a:extLst>
              <a:ext uri="{FF2B5EF4-FFF2-40B4-BE49-F238E27FC236}">
                <a16:creationId xmlns:a16="http://schemas.microsoft.com/office/drawing/2014/main" id="{3E98B8A6-0D16-D43B-4E2B-E8F430EF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b="1" dirty="0"/>
              <a:t>IAR EWARM Map File Analyzer</a:t>
            </a:r>
            <a:br>
              <a:rPr lang="en-US" b="1" dirty="0"/>
            </a:br>
            <a:r>
              <a:rPr lang="en-US" sz="2400" b="1" dirty="0">
                <a:solidFill>
                  <a:schemeClr val="accent2"/>
                </a:solidFill>
              </a:rPr>
              <a:t>Solution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B2A52-1ECF-4D01-7A48-149519A0EC38}"/>
              </a:ext>
            </a:extLst>
          </p:cNvPr>
          <p:cNvSpPr txBox="1"/>
          <p:nvPr/>
        </p:nvSpPr>
        <p:spPr>
          <a:xfrm>
            <a:off x="2790645" y="1302892"/>
            <a:ext cx="53345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MCU Workflow Studio solves this</a:t>
            </a:r>
          </a:p>
          <a:p>
            <a:r>
              <a:rPr lang="en-US" dirty="0"/>
              <a:t>Deterministic firmware </a:t>
            </a:r>
            <a:r>
              <a:rPr lang="en-US" dirty="0" err="1"/>
              <a:t>comparisonCross</a:t>
            </a:r>
            <a:r>
              <a:rPr lang="en-US" dirty="0"/>
              <a:t>-vendor analysis (STM32, NXP, TI, etc.)Converts raw map files → actionable insights</a:t>
            </a:r>
          </a:p>
          <a:p>
            <a:r>
              <a:rPr lang="en-US" dirty="0"/>
              <a:t>✅ </a:t>
            </a:r>
            <a:r>
              <a:rPr lang="en-US" dirty="0" err="1"/>
              <a:t>Output:MappingsMetricsRecommendations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E8342-6837-4457-369F-C18134F6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16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ED794-5710-D78D-3501-F47D1A9C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D8D4752-713B-5DC5-50F6-89A191B419F6}"/>
              </a:ext>
            </a:extLst>
          </p:cNvPr>
          <p:cNvGrpSpPr/>
          <p:nvPr/>
        </p:nvGrpSpPr>
        <p:grpSpPr>
          <a:xfrm>
            <a:off x="2245189" y="1073155"/>
            <a:ext cx="6095247" cy="4699572"/>
            <a:chOff x="0" y="-19050"/>
            <a:chExt cx="1207699" cy="704147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B3B3DF4-3CC8-0C81-073E-015A580D42F1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B7D64D-97BD-C256-359D-A1CC20430E9E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0" name="Title 2">
            <a:extLst>
              <a:ext uri="{FF2B5EF4-FFF2-40B4-BE49-F238E27FC236}">
                <a16:creationId xmlns:a16="http://schemas.microsoft.com/office/drawing/2014/main" id="{3E98B8A6-0D16-D43B-4E2B-E8F430EF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b="1" dirty="0"/>
              <a:t>IAR EWARM Map File Analyzer</a:t>
            </a:r>
            <a:br>
              <a:rPr lang="en-US" b="1" dirty="0"/>
            </a:br>
            <a:r>
              <a:rPr lang="en-US" sz="2400" b="1" dirty="0">
                <a:solidFill>
                  <a:schemeClr val="accent2"/>
                </a:solidFill>
              </a:rPr>
              <a:t>key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B2A52-1ECF-4D01-7A48-149519A0EC38}"/>
              </a:ext>
            </a:extLst>
          </p:cNvPr>
          <p:cNvSpPr txBox="1"/>
          <p:nvPr/>
        </p:nvSpPr>
        <p:spPr>
          <a:xfrm>
            <a:off x="2790645" y="1302892"/>
            <a:ext cx="6288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Deterministic scoring engine</a:t>
            </a:r>
          </a:p>
          <a:p>
            <a:r>
              <a:rPr lang="en-US" dirty="0"/>
              <a:t>Layer-based analysis</a:t>
            </a:r>
          </a:p>
          <a:p>
            <a:r>
              <a:rPr lang="en-US" dirty="0"/>
              <a:t>Cardinality detection</a:t>
            </a:r>
          </a:p>
          <a:p>
            <a:r>
              <a:rPr lang="en-US" dirty="0"/>
              <a:t>Recommendation engine</a:t>
            </a:r>
          </a:p>
          <a:p>
            <a:r>
              <a:rPr lang="en-US" dirty="0"/>
              <a:t>Optional AI enhancement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E8342-6837-4457-369F-C18134F6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1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ED794-5710-D78D-3501-F47D1A9C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D8D4752-713B-5DC5-50F6-89A191B419F6}"/>
              </a:ext>
            </a:extLst>
          </p:cNvPr>
          <p:cNvGrpSpPr/>
          <p:nvPr/>
        </p:nvGrpSpPr>
        <p:grpSpPr>
          <a:xfrm>
            <a:off x="2245189" y="1073155"/>
            <a:ext cx="6095247" cy="4699572"/>
            <a:chOff x="0" y="-19050"/>
            <a:chExt cx="1207699" cy="704147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B3B3DF4-3CC8-0C81-073E-015A580D42F1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B7D64D-97BD-C256-359D-A1CC20430E9E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0" name="Title 2">
            <a:extLst>
              <a:ext uri="{FF2B5EF4-FFF2-40B4-BE49-F238E27FC236}">
                <a16:creationId xmlns:a16="http://schemas.microsoft.com/office/drawing/2014/main" id="{3E98B8A6-0D16-D43B-4E2B-E8F430EF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b="1" dirty="0"/>
              <a:t>IAR EWARM Map File Analyzer</a:t>
            </a:r>
            <a:br>
              <a:rPr lang="en-US" b="1" dirty="0"/>
            </a:br>
            <a:r>
              <a:rPr lang="en-US" sz="2400" b="1" dirty="0">
                <a:solidFill>
                  <a:schemeClr val="accent2"/>
                </a:solidFill>
              </a:rPr>
              <a:t>System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B2A52-1ECF-4D01-7A48-149519A0EC38}"/>
              </a:ext>
            </a:extLst>
          </p:cNvPr>
          <p:cNvSpPr txBox="1"/>
          <p:nvPr/>
        </p:nvSpPr>
        <p:spPr>
          <a:xfrm>
            <a:off x="2790645" y="1302892"/>
            <a:ext cx="6288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Inputs: .map / .xlsx</a:t>
            </a:r>
          </a:p>
          <a:p>
            <a:r>
              <a:rPr lang="en-US" dirty="0"/>
              <a:t>Processing: parsing, scoring, analysis</a:t>
            </a:r>
          </a:p>
          <a:p>
            <a:r>
              <a:rPr lang="en-US" dirty="0"/>
              <a:t>Outputs: reports, mappings, recommendations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E8342-6837-4457-369F-C18134F6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63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F7945-C450-6A9F-200D-D173427E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5">
            <a:extLst>
              <a:ext uri="{FF2B5EF4-FFF2-40B4-BE49-F238E27FC236}">
                <a16:creationId xmlns:a16="http://schemas.microsoft.com/office/drawing/2014/main" id="{06B0A5F9-4B0D-F682-8E64-1E93B3612AA0}"/>
              </a:ext>
            </a:extLst>
          </p:cNvPr>
          <p:cNvGrpSpPr/>
          <p:nvPr/>
        </p:nvGrpSpPr>
        <p:grpSpPr>
          <a:xfrm>
            <a:off x="5183650" y="644490"/>
            <a:ext cx="2942433" cy="1622158"/>
            <a:chOff x="0" y="-19050"/>
            <a:chExt cx="1207699" cy="704147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8A1722B8-1C29-7BC7-2577-F05798F801E1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ECD63432-31C5-ABA3-BD84-E5BB0AB0663E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08B3F6C0-3B31-397A-34AF-CD4E589E30E3}"/>
              </a:ext>
            </a:extLst>
          </p:cNvPr>
          <p:cNvGrpSpPr/>
          <p:nvPr/>
        </p:nvGrpSpPr>
        <p:grpSpPr>
          <a:xfrm>
            <a:off x="-121764" y="180757"/>
            <a:ext cx="4277214" cy="2673558"/>
            <a:chOff x="0" y="-19050"/>
            <a:chExt cx="1207699" cy="704147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564B33CF-81D8-60C7-9F61-AAC7627C3205}"/>
                </a:ext>
              </a:extLst>
            </p:cNvPr>
            <p:cNvSpPr/>
            <p:nvPr/>
          </p:nvSpPr>
          <p:spPr>
            <a:xfrm>
              <a:off x="42646" y="-9985"/>
              <a:ext cx="1165053" cy="685097"/>
            </a:xfrm>
            <a:custGeom>
              <a:avLst/>
              <a:gdLst/>
              <a:ahLst/>
              <a:cxnLst/>
              <a:rect l="l" t="t" r="r" b="b"/>
              <a:pathLst>
                <a:path w="1165053" h="685097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E7B130D4-AC22-DB0C-4900-63814789C25E}"/>
                </a:ext>
              </a:extLst>
            </p:cNvPr>
            <p:cNvSpPr txBox="1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3A04897-B3BC-2B2A-4CB3-B97522894BA2}"/>
              </a:ext>
            </a:extLst>
          </p:cNvPr>
          <p:cNvSpPr txBox="1"/>
          <p:nvPr/>
        </p:nvSpPr>
        <p:spPr>
          <a:xfrm>
            <a:off x="300037" y="657534"/>
            <a:ext cx="4237438" cy="2094773"/>
          </a:xfrm>
          <a:prstGeom prst="rect">
            <a:avLst/>
          </a:prstGeom>
        </p:spPr>
        <p:txBody>
          <a:bodyPr vert="horz" lIns="91440" tIns="45720" rIns="9000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</a:pPr>
            <a:r>
              <a:rPr lang="en-US" sz="1000" b="1" dirty="0"/>
              <a:t>Workflow</a:t>
            </a:r>
            <a:endParaRPr lang="en-US" sz="1000" dirty="0"/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000" dirty="0"/>
              <a:t>User launches the desktop application</a:t>
            </a:r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000" dirty="0"/>
              <a:t>User selects an IAR .map file</a:t>
            </a:r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000" dirty="0"/>
              <a:t>Tool parses the file and identifies key sections</a:t>
            </a:r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000" dirty="0"/>
              <a:t>Tool computes memory KPIs</a:t>
            </a:r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000" dirty="0"/>
              <a:t>User explores results in the GUI</a:t>
            </a:r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000" dirty="0"/>
              <a:t>User exports a formatted Excel report</a:t>
            </a:r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sz="1000" dirty="0"/>
              <a:t>Teams reuse the report for benchmark communication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752E55-6AE7-286A-C6FD-1BD80ABCC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695" y="2409294"/>
            <a:ext cx="9489056" cy="4347529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AEB0ED0F-C1B8-D7CD-1DAC-6F2A8E891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831023"/>
          </a:xfrm>
        </p:spPr>
        <p:txBody>
          <a:bodyPr vert="horz" lIns="91440" tIns="45720" rIns="90000" bIns="45720" rtlCol="0" anchor="ctr">
            <a:normAutofit fontScale="90000"/>
          </a:bodyPr>
          <a:lstStyle/>
          <a:p>
            <a:r>
              <a:rPr lang="en-US" b="0" kern="1200" baseline="0" dirty="0">
                <a:latin typeface="+mj-lt"/>
                <a:ea typeface="+mj-ea"/>
                <a:cs typeface="+mj-cs"/>
              </a:rPr>
              <a:t>IAR EWARM Map File Analyzer</a:t>
            </a:r>
            <a:br>
              <a:rPr lang="en-US" b="0" kern="1200" baseline="0" dirty="0">
                <a:latin typeface="+mj-lt"/>
                <a:ea typeface="+mj-ea"/>
                <a:cs typeface="+mj-cs"/>
              </a:rPr>
            </a:br>
            <a:r>
              <a:rPr lang="en-US" sz="2400" b="1" dirty="0">
                <a:solidFill>
                  <a:schemeClr val="accent2"/>
                </a:solidFill>
              </a:rPr>
              <a:t>End-to-end workflow</a:t>
            </a:r>
            <a:endParaRPr lang="en-US" sz="2400" b="0" kern="120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CAD962-D650-510C-7237-27053EDDD321}"/>
              </a:ext>
            </a:extLst>
          </p:cNvPr>
          <p:cNvSpPr txBox="1"/>
          <p:nvPr/>
        </p:nvSpPr>
        <p:spPr>
          <a:xfrm>
            <a:off x="5456208" y="831022"/>
            <a:ext cx="2669875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b="1" dirty="0"/>
              <a:t>Technologies</a:t>
            </a:r>
            <a:endParaRPr lang="en-US" sz="1000" dirty="0"/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b="1" dirty="0"/>
              <a:t>Python</a:t>
            </a:r>
            <a:r>
              <a:rPr lang="en-US" sz="1000" dirty="0"/>
              <a:t> for orchestration and parsing</a:t>
            </a:r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b="1" dirty="0" err="1"/>
              <a:t>Tkinter</a:t>
            </a:r>
            <a:r>
              <a:rPr lang="en-US" sz="1000" b="1" dirty="0"/>
              <a:t> / </a:t>
            </a:r>
            <a:r>
              <a:rPr lang="en-US" sz="1000" b="1" dirty="0" err="1"/>
              <a:t>ttk</a:t>
            </a:r>
            <a:r>
              <a:rPr lang="en-US" sz="1000" dirty="0"/>
              <a:t> for the GUI</a:t>
            </a:r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b="1" dirty="0"/>
              <a:t>Regex</a:t>
            </a:r>
            <a:r>
              <a:rPr lang="en-US" sz="1000" dirty="0"/>
              <a:t> for section extraction</a:t>
            </a:r>
          </a:p>
          <a:p>
            <a:pPr marL="261938" indent="-261938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b="1" dirty="0" err="1"/>
              <a:t>openpyxl</a:t>
            </a:r>
            <a:r>
              <a:rPr lang="en-US" sz="1000" dirty="0"/>
              <a:t> for Excel export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E8881-BB74-42C7-E585-090E9CA5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24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27C33-DA38-A319-DB10-05526725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07ED4340-E696-4CAD-6DBF-5EA568B1A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831023"/>
          </a:xfrm>
        </p:spPr>
        <p:txBody>
          <a:bodyPr vert="horz" lIns="91440" tIns="45720" rIns="90000" bIns="45720" rtlCol="0" anchor="ctr">
            <a:normAutofit fontScale="90000"/>
          </a:bodyPr>
          <a:lstStyle/>
          <a:p>
            <a:r>
              <a:rPr lang="en-US" b="0" kern="1200" baseline="0">
                <a:latin typeface="+mj-lt"/>
                <a:ea typeface="+mj-ea"/>
                <a:cs typeface="+mj-cs"/>
              </a:rPr>
              <a:t>IAR EWARM Map File Analyzer</a:t>
            </a:r>
            <a:br>
              <a:rPr lang="en-US" b="0" kern="1200" baseline="0">
                <a:latin typeface="+mj-lt"/>
                <a:ea typeface="+mj-ea"/>
                <a:cs typeface="+mj-cs"/>
              </a:rPr>
            </a:br>
            <a:r>
              <a:rPr lang="en-US" sz="2400" b="1">
                <a:solidFill>
                  <a:schemeClr val="accent2"/>
                </a:solidFill>
              </a:rPr>
              <a:t>Technical architecture</a:t>
            </a:r>
            <a:endParaRPr lang="en-US" sz="2400" b="0" kern="1200" baseline="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4FD08-0B9C-DD89-B6B8-58A4483D4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504825"/>
            <a:ext cx="10623550" cy="623556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69D1B-86AD-1178-3CF0-88EF48B1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76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5211E-5993-E90D-41E3-4CEB6B96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1013989-ECDF-7C56-1204-225787BE2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571" y="756667"/>
            <a:ext cx="9202858" cy="5574301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6BC2B55-32D0-9B2F-BBDA-BCEAC31C7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0"/>
            <a:ext cx="11609159" cy="847726"/>
          </a:xfrm>
        </p:spPr>
        <p:txBody>
          <a:bodyPr vert="horz" lIns="91440" tIns="45720" rIns="90000" bIns="45720" rtlCol="0" anchor="ctr">
            <a:normAutofit fontScale="90000"/>
          </a:bodyPr>
          <a:lstStyle/>
          <a:p>
            <a:r>
              <a:rPr lang="en-US" sz="2800" b="0" kern="1200" baseline="0" dirty="0"/>
              <a:t>IAR EWARM Map File Analyzer</a:t>
            </a:r>
            <a:br>
              <a:rPr lang="en-US" sz="2800" b="0" kern="1200" baseline="0" dirty="0"/>
            </a:br>
            <a:r>
              <a:rPr lang="en-US" sz="2800" b="1" dirty="0"/>
              <a:t>Technical architecture</a:t>
            </a:r>
            <a:endParaRPr lang="en-US" sz="2800" b="0" kern="1200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C7070-FE0E-D919-8A6A-F51CAE29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330968"/>
            <a:ext cx="411004" cy="29255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0A7B169-58CE-4E65-B1F9-ACF9E46440C2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12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EF3D03A-A9C6-23ED-D421-D8DBD91504B1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9E9B98-996A-C191-F84C-7450EBE0923D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2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88344D3-877E-1588-F71C-5C1F9E8B0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237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 dirty="0"/>
              <a:t>you can visit the ST Brand Portal</a:t>
            </a:r>
            <a:br>
              <a:rPr lang="en-US" dirty="0"/>
            </a:br>
            <a:r>
              <a:rPr lang="en-US" dirty="0">
                <a:hlinkClick r:id="rId4"/>
              </a:rPr>
              <a:t>https://brandportal.st.com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20940-8A59-C254-1A10-01A482DD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3251</TotalTime>
  <Words>1639</Words>
  <Application>Microsoft Office PowerPoint</Application>
  <PresentationFormat>Widescreen</PresentationFormat>
  <Paragraphs>384</Paragraphs>
  <Slides>22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 Narrow</vt:lpstr>
      <vt:lpstr>Arial</vt:lpstr>
      <vt:lpstr>Calibri</vt:lpstr>
      <vt:lpstr>Cambria Math</vt:lpstr>
      <vt:lpstr>Open_Sans</vt:lpstr>
      <vt:lpstr>TT Hoves</vt:lpstr>
      <vt:lpstr>TT Hoves Bold</vt:lpstr>
      <vt:lpstr>ST PowerPoint Template 16x9</vt:lpstr>
      <vt:lpstr>STM32 vs GD32 middleware benchmark</vt:lpstr>
      <vt:lpstr>Presentation plan</vt:lpstr>
      <vt:lpstr>Introduction General Benchmark Overview</vt:lpstr>
      <vt:lpstr>Introduction Previously done benchmarks and marketing team review</vt:lpstr>
      <vt:lpstr>Introduction Benchmarks plan and done work</vt:lpstr>
      <vt:lpstr>Introduction Benchmarks plan and done work</vt:lpstr>
      <vt:lpstr>Introduction</vt:lpstr>
      <vt:lpstr>ST Competitors MW Benchmark: USB Stack ST vs GD32 </vt:lpstr>
      <vt:lpstr>ST Competitors MW Benchmark: USB ST vs GD32 Flowcharts </vt:lpstr>
      <vt:lpstr>ST Competitors MW Benchmark: USB ST vs GD32 Flowcharts</vt:lpstr>
      <vt:lpstr>Section title</vt:lpstr>
      <vt:lpstr>ST Competitors MW Benchmark: RTOS Flowcharts</vt:lpstr>
      <vt:lpstr>IAR EWARM Map File Analyzer</vt:lpstr>
      <vt:lpstr>MCU workflow studio The problem we solve</vt:lpstr>
      <vt:lpstr>IAR EWARM Map File Analyzer Solution overview</vt:lpstr>
      <vt:lpstr>IAR EWARM Map File Analyzer key features</vt:lpstr>
      <vt:lpstr>IAR EWARM Map File Analyzer System Overview</vt:lpstr>
      <vt:lpstr>IAR EWARM Map File Analyzer End-to-end workflow</vt:lpstr>
      <vt:lpstr>IAR EWARM Map File Analyzer Technical architecture</vt:lpstr>
      <vt:lpstr>IAR EWARM Map File Analyzer Technical architecture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STM32 vs GD32 middleware benchmark</dc:title>
  <dc:creator>Fares DKHILI</dc:creator>
  <cp:keywords/>
  <cp:lastModifiedBy>Fares Dkhili</cp:lastModifiedBy>
  <cp:revision>35</cp:revision>
  <dcterms:created xsi:type="dcterms:W3CDTF">2026-05-12T08:52:34Z</dcterms:created>
  <dcterms:modified xsi:type="dcterms:W3CDTF">2026-06-08T07:57:15Z</dcterms:modified>
</cp:coreProperties>
</file>